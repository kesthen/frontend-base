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2.xml"/><Relationship Id="rId13" Type="http://schemas.openxmlformats.org/officeDocument/2006/relationships/slide" Target="slide19.xml"/><Relationship Id="rId14" Type="http://schemas.openxmlformats.org/officeDocument/2006/relationships/slide" Target="slide21.xml"/><Relationship Id="rId15" Type="http://schemas.openxmlformats.org/officeDocument/2006/relationships/slide" Target="slide23.xml"/><Relationship Id="rId16" Type="http://schemas.openxmlformats.org/officeDocument/2006/relationships/slide" Target="slide27.xml"/><Relationship Id="rId17" Type="http://schemas.openxmlformats.org/officeDocument/2006/relationships/slide" Target="slide28.xml"/><Relationship Id="rId18" Type="http://schemas.openxmlformats.org/officeDocument/2006/relationships/slide" Target="slide30.xml"/><Relationship Id="rId19" Type="http://schemas.openxmlformats.org/officeDocument/2006/relationships/slide" Target="slide33.xml"/><Relationship Id="rId20" Type="http://schemas.openxmlformats.org/officeDocument/2006/relationships/slide" Target="slide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slide" Target="slide1.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2.xml"/><Relationship Id="rId11" Type="http://schemas.openxmlformats.org/officeDocument/2006/relationships/slide" Target="slide19.xml"/><Relationship Id="rId12" Type="http://schemas.openxmlformats.org/officeDocument/2006/relationships/slide" Target="slide21.xml"/><Relationship Id="rId13" Type="http://schemas.openxmlformats.org/officeDocument/2006/relationships/slide" Target="slide23.xml"/><Relationship Id="rId14" Type="http://schemas.openxmlformats.org/officeDocument/2006/relationships/slide" Target="slide27.xml"/><Relationship Id="rId15" Type="http://schemas.openxmlformats.org/officeDocument/2006/relationships/slide" Target="slide28.xml"/><Relationship Id="rId16" Type="http://schemas.openxmlformats.org/officeDocument/2006/relationships/slide" Target="slide30.xml"/><Relationship Id="rId17" Type="http://schemas.openxmlformats.org/officeDocument/2006/relationships/slide" Target="slide33.xml"/><Relationship Id="rId18" Type="http://schemas.openxmlformats.org/officeDocument/2006/relationships/slide" Target="slide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3.jpg"/><Relationship Id="rId7" Type="http://schemas.openxmlformats.org/officeDocument/2006/relationships/image" Target="../media/image9.jpg"/><Relationship Id="rId8"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15.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6.jpg"/><Relationship Id="rId4" Type="http://schemas.openxmlformats.org/officeDocument/2006/relationships/image" Target="../media/image47.jpg"/><Relationship Id="rId5" Type="http://schemas.openxmlformats.org/officeDocument/2006/relationships/image" Target="../media/image4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12192000" cy="609600"/>
          </a:xfrm>
          <a:prstGeom prst="rect">
            <a:avLst/>
          </a:prstGeom>
          <a:solidFill>
            <a:srgbClr val="FAF3E7">
              <a:alpha val="85000"/>
            </a:srgbClr>
          </a:solidFill>
          <a:ln>
            <a:noFill/>
          </a:ln>
        </p:spPr>
        <p:txBody>
          <a:bodyPr rtlCol="0" anchor="ctr"/>
          <a:lstStyle/>
          <a:p>
            <a:pPr algn="ctr"/>
          </a:p>
        </p:txBody>
      </p:sp>
      <p:cxnSp>
        <p:nvCxnSpPr>
          <p:cNvPr id="4" name="Connector 3"/>
          <p:cNvCxnSpPr/>
          <p:nvPr/>
        </p:nvCxnSpPr>
        <p:spPr>
          <a:xfrm>
            <a:off x="0" y="600364"/>
            <a:ext cx="12192000" cy="0"/>
          </a:xfrm>
          <a:prstGeom prst="line">
            <a:avLst/>
          </a:prstGeom>
          <a:ln w="18472" cap="flat">
            <a:solidFill>
              <a:srgbClr val="8B5E34"/>
            </a:solidFill>
          </a:ln>
        </p:spPr>
      </p:cxnSp>
      <p:pic>
        <p:nvPicPr>
          <p:cNvPr id="5" name="Picture 4" descr="OllaCercana"/>
          <p:cNvPicPr>
            <a:picLocks noChangeAspect="1"/>
          </p:cNvPicPr>
          <p:nvPr/>
        </p:nvPicPr>
        <p:blipFill>
          <a:blip r:embed="rId3"/>
          <a:stretch>
            <a:fillRect/>
          </a:stretch>
        </p:blipFill>
        <p:spPr>
          <a:xfrm>
            <a:off x="369455" y="175491"/>
            <a:ext cx="240145" cy="240145"/>
          </a:xfrm>
          <a:prstGeom prst="rect">
            <a:avLst/>
          </a:prstGeom>
        </p:spPr>
      </p:pic>
      <p:sp>
        <p:nvSpPr>
          <p:cNvPr id="6" name="TextBox 5"/>
          <p:cNvSpPr txBox="1"/>
          <p:nvPr/>
        </p:nvSpPr>
        <p:spPr>
          <a:xfrm>
            <a:off x="701964" y="203200"/>
            <a:ext cx="1131411" cy="184727"/>
          </a:xfrm>
          <a:prstGeom prst="rect">
            <a:avLst/>
          </a:prstGeom>
          <a:noFill/>
        </p:spPr>
        <p:txBody>
          <a:bodyPr wrap="none" lIns="0" rIns="0" tIns="0" bIns="0" anchor="t">
            <a:noAutofit/>
          </a:bodyPr>
          <a:lstStyle/>
          <a:p>
            <a:pPr algn="l">
              <a:lnSpc>
                <a:spcPts val="1454"/>
              </a:lnSpc>
              <a:spcBef>
                <a:spcPts val="0"/>
              </a:spcBef>
              <a:spcAft>
                <a:spcPts val="0"/>
              </a:spcAft>
            </a:pPr>
            <a:r>
              <a:rPr sz="1100" b="1" i="0" lang="es-CO">
                <a:solidFill>
                  <a:srgbClr val="5C3A1E"/>
                </a:solidFill>
                <a:latin typeface="Playfair Display"/>
              </a:rPr>
              <a:t>OLLACERCANA</a:t>
            </a:r>
          </a:p>
        </p:txBody>
      </p:sp>
      <p:sp>
        <p:nvSpPr>
          <p:cNvPr id="7" name="TextBox 6"/>
          <p:cNvSpPr txBox="1"/>
          <p:nvPr/>
        </p:nvSpPr>
        <p:spPr>
          <a:xfrm>
            <a:off x="1822883" y="203200"/>
            <a:ext cx="1500346" cy="184727"/>
          </a:xfrm>
          <a:prstGeom prst="rect">
            <a:avLst/>
          </a:prstGeom>
          <a:noFill/>
        </p:spPr>
        <p:txBody>
          <a:bodyPr wrap="none" lIns="0" rIns="0" tIns="0" bIns="0" anchor="t">
            <a:noAutofit/>
          </a:bodyPr>
          <a:lstStyle/>
          <a:p>
            <a:pPr algn="l">
              <a:lnSpc>
                <a:spcPts val="1454"/>
              </a:lnSpc>
              <a:spcBef>
                <a:spcPts val="0"/>
              </a:spcBef>
              <a:spcAft>
                <a:spcPts val="0"/>
              </a:spcAft>
            </a:pPr>
            <a:r>
              <a:rPr sz="1100" b="0" i="0" lang="es-CO">
                <a:solidFill>
                  <a:srgbClr val="8A7860"/>
                </a:solidFill>
                <a:latin typeface="Playfair Display"/>
              </a:rPr>
              <a:t>/ Manual de Identidad</a:t>
            </a:r>
          </a:p>
        </p:txBody>
      </p:sp>
      <p:sp>
        <p:nvSpPr>
          <p:cNvPr id="8" name="TextBox 7"/>
          <p:cNvSpPr txBox="1"/>
          <p:nvPr/>
        </p:nvSpPr>
        <p:spPr>
          <a:xfrm>
            <a:off x="3746356" y="129309"/>
            <a:ext cx="655638"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01 </a:t>
            </a:r>
            <a:r>
              <a:rPr sz="825" b="1" i="0" lang="es-CO" spc="33">
                <a:solidFill>
                  <a:srgbClr val="5B4A38"/>
                </a:solidFill>
                <a:latin typeface="Outfit"/>
              </a:rPr>
              <a:t>Portada</a:t>
            </a:r>
          </a:p>
        </p:txBody>
      </p:sp>
      <p:sp>
        <p:nvSpPr>
          <p:cNvPr id="9" name="TextBox 8"/>
          <p:cNvSpPr txBox="1"/>
          <p:nvPr/>
        </p:nvSpPr>
        <p:spPr>
          <a:xfrm>
            <a:off x="4512830" y="129309"/>
            <a:ext cx="580448"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02 </a:t>
            </a:r>
            <a:r>
              <a:rPr sz="825" b="1" i="0" lang="es-CO" spc="33">
                <a:solidFill>
                  <a:srgbClr val="5B4A38"/>
                </a:solidFill>
                <a:latin typeface="Outfit"/>
              </a:rPr>
              <a:t>Marca</a:t>
            </a:r>
          </a:p>
        </p:txBody>
      </p:sp>
      <p:sp>
        <p:nvSpPr>
          <p:cNvPr id="10" name="TextBox 9"/>
          <p:cNvSpPr txBox="1"/>
          <p:nvPr/>
        </p:nvSpPr>
        <p:spPr>
          <a:xfrm>
            <a:off x="5204114" y="129309"/>
            <a:ext cx="591705"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03 </a:t>
            </a:r>
            <a:r>
              <a:rPr sz="825" b="1" i="0" lang="es-CO" spc="33">
                <a:solidFill>
                  <a:srgbClr val="5B4A38"/>
                </a:solidFill>
                <a:latin typeface="Outfit"/>
              </a:rPr>
              <a:t>Verbal</a:t>
            </a:r>
          </a:p>
        </p:txBody>
      </p:sp>
      <p:sp>
        <p:nvSpPr>
          <p:cNvPr id="11" name="TextBox 10"/>
          <p:cNvSpPr txBox="1"/>
          <p:nvPr/>
        </p:nvSpPr>
        <p:spPr>
          <a:xfrm>
            <a:off x="5906655" y="129309"/>
            <a:ext cx="646112"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04 </a:t>
            </a:r>
            <a:r>
              <a:rPr sz="825" b="1" i="0" lang="es-CO" spc="33">
                <a:solidFill>
                  <a:srgbClr val="5B4A38"/>
                </a:solidFill>
                <a:latin typeface="Outfit"/>
              </a:rPr>
              <a:t>Valores</a:t>
            </a:r>
          </a:p>
        </p:txBody>
      </p:sp>
      <p:sp>
        <p:nvSpPr>
          <p:cNvPr id="12" name="TextBox 11"/>
          <p:cNvSpPr txBox="1"/>
          <p:nvPr/>
        </p:nvSpPr>
        <p:spPr>
          <a:xfrm>
            <a:off x="6663603" y="129309"/>
            <a:ext cx="706438"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05 </a:t>
            </a:r>
            <a:r>
              <a:rPr sz="825" b="1" i="0" lang="es-CO" spc="33">
                <a:solidFill>
                  <a:srgbClr val="5B4A38"/>
                </a:solidFill>
                <a:latin typeface="Outfit"/>
              </a:rPr>
              <a:t>Mercado</a:t>
            </a:r>
          </a:p>
        </p:txBody>
      </p:sp>
      <p:sp>
        <p:nvSpPr>
          <p:cNvPr id="13" name="TextBox 12"/>
          <p:cNvSpPr txBox="1"/>
          <p:nvPr/>
        </p:nvSpPr>
        <p:spPr>
          <a:xfrm>
            <a:off x="7480877" y="129309"/>
            <a:ext cx="569624"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06 </a:t>
            </a:r>
            <a:r>
              <a:rPr sz="825" b="1" i="0" lang="es-CO" spc="33">
                <a:solidFill>
                  <a:srgbClr val="5B4A38"/>
                </a:solidFill>
                <a:latin typeface="Outfit"/>
              </a:rPr>
              <a:t>Visual</a:t>
            </a:r>
          </a:p>
        </p:txBody>
      </p:sp>
      <p:sp>
        <p:nvSpPr>
          <p:cNvPr id="14" name="TextBox 13"/>
          <p:cNvSpPr txBox="1"/>
          <p:nvPr/>
        </p:nvSpPr>
        <p:spPr>
          <a:xfrm>
            <a:off x="8161338" y="129309"/>
            <a:ext cx="489094"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07 </a:t>
            </a:r>
            <a:r>
              <a:rPr sz="825" b="1" i="0" lang="es-CO" spc="33">
                <a:solidFill>
                  <a:srgbClr val="5B4A38"/>
                </a:solidFill>
                <a:latin typeface="Outfit"/>
              </a:rPr>
              <a:t>Usos</a:t>
            </a:r>
          </a:p>
        </p:txBody>
      </p:sp>
      <p:sp>
        <p:nvSpPr>
          <p:cNvPr id="15" name="TextBox 14"/>
          <p:cNvSpPr txBox="1"/>
          <p:nvPr/>
        </p:nvSpPr>
        <p:spPr>
          <a:xfrm>
            <a:off x="8761268" y="129309"/>
            <a:ext cx="535853"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08 </a:t>
            </a:r>
            <a:r>
              <a:rPr sz="825" b="1" i="0" lang="es-CO" spc="33">
                <a:solidFill>
                  <a:srgbClr val="5B4A38"/>
                </a:solidFill>
                <a:latin typeface="Outfit"/>
              </a:rPr>
              <a:t>Color</a:t>
            </a:r>
          </a:p>
        </p:txBody>
      </p:sp>
      <p:sp>
        <p:nvSpPr>
          <p:cNvPr id="16" name="TextBox 15"/>
          <p:cNvSpPr txBox="1"/>
          <p:nvPr/>
        </p:nvSpPr>
        <p:spPr>
          <a:xfrm>
            <a:off x="9407958" y="129309"/>
            <a:ext cx="809481"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09 </a:t>
            </a:r>
            <a:r>
              <a:rPr sz="825" b="1" i="0" lang="es-CO" spc="33">
                <a:solidFill>
                  <a:srgbClr val="5B4A38"/>
                </a:solidFill>
                <a:latin typeface="Outfit"/>
              </a:rPr>
              <a:t>Tipografía</a:t>
            </a:r>
          </a:p>
        </p:txBody>
      </p:sp>
      <p:sp>
        <p:nvSpPr>
          <p:cNvPr id="17" name="TextBox 16"/>
          <p:cNvSpPr txBox="1"/>
          <p:nvPr/>
        </p:nvSpPr>
        <p:spPr>
          <a:xfrm>
            <a:off x="10328275" y="129309"/>
            <a:ext cx="841058"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10 </a:t>
            </a:r>
            <a:r>
              <a:rPr sz="825" b="1" i="0" lang="es-CO" spc="33">
                <a:solidFill>
                  <a:srgbClr val="5B4A38"/>
                </a:solidFill>
                <a:latin typeface="Outfit"/>
              </a:rPr>
              <a:t>Iconografía</a:t>
            </a:r>
          </a:p>
        </p:txBody>
      </p:sp>
      <p:sp>
        <p:nvSpPr>
          <p:cNvPr id="18" name="TextBox 17"/>
          <p:cNvSpPr txBox="1"/>
          <p:nvPr/>
        </p:nvSpPr>
        <p:spPr>
          <a:xfrm>
            <a:off x="11277600" y="129309"/>
            <a:ext cx="618836"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11 </a:t>
            </a:r>
            <a:r>
              <a:rPr sz="825" b="1" i="0" lang="es-CO" spc="33">
                <a:solidFill>
                  <a:srgbClr val="5B4A38"/>
                </a:solidFill>
                <a:latin typeface="Outfit"/>
              </a:rPr>
              <a:t>Interfaz</a:t>
            </a:r>
          </a:p>
        </p:txBody>
      </p:sp>
      <p:sp>
        <p:nvSpPr>
          <p:cNvPr id="19" name="TextBox 18"/>
          <p:cNvSpPr txBox="1"/>
          <p:nvPr/>
        </p:nvSpPr>
        <p:spPr>
          <a:xfrm>
            <a:off x="7711642" y="323273"/>
            <a:ext cx="781194"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12 </a:t>
            </a:r>
            <a:r>
              <a:rPr sz="825" b="1" i="0" lang="es-CO" spc="33">
                <a:solidFill>
                  <a:srgbClr val="5B4A38"/>
                </a:solidFill>
                <a:latin typeface="Outfit"/>
              </a:rPr>
              <a:t>Fotografía</a:t>
            </a:r>
          </a:p>
        </p:txBody>
      </p:sp>
      <p:sp>
        <p:nvSpPr>
          <p:cNvPr id="20" name="TextBox 19"/>
          <p:cNvSpPr txBox="1"/>
          <p:nvPr/>
        </p:nvSpPr>
        <p:spPr>
          <a:xfrm>
            <a:off x="8603673" y="323273"/>
            <a:ext cx="760268"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13 </a:t>
            </a:r>
            <a:r>
              <a:rPr sz="825" b="1" i="0" lang="es-CO" spc="33">
                <a:solidFill>
                  <a:srgbClr val="5B4A38"/>
                </a:solidFill>
                <a:latin typeface="Outfit"/>
              </a:rPr>
              <a:t>Packaging</a:t>
            </a:r>
          </a:p>
        </p:txBody>
      </p:sp>
      <p:sp>
        <p:nvSpPr>
          <p:cNvPr id="21" name="TextBox 20"/>
          <p:cNvSpPr txBox="1"/>
          <p:nvPr/>
        </p:nvSpPr>
        <p:spPr>
          <a:xfrm>
            <a:off x="9474777" y="323273"/>
            <a:ext cx="740785"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14 </a:t>
            </a:r>
            <a:r>
              <a:rPr sz="825" b="1" i="0" lang="es-CO" spc="33">
                <a:solidFill>
                  <a:srgbClr val="5B4A38"/>
                </a:solidFill>
                <a:latin typeface="Outfit"/>
              </a:rPr>
              <a:t>Personaje</a:t>
            </a:r>
          </a:p>
        </p:txBody>
      </p:sp>
      <p:sp>
        <p:nvSpPr>
          <p:cNvPr id="22" name="TextBox 21"/>
          <p:cNvSpPr txBox="1"/>
          <p:nvPr/>
        </p:nvSpPr>
        <p:spPr>
          <a:xfrm>
            <a:off x="10326399" y="323273"/>
            <a:ext cx="786534"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15 </a:t>
            </a:r>
            <a:r>
              <a:rPr sz="825" b="1" i="0" lang="es-CO" spc="33">
                <a:solidFill>
                  <a:srgbClr val="5B4A38"/>
                </a:solidFill>
                <a:latin typeface="Outfit"/>
              </a:rPr>
              <a:t>Referentes</a:t>
            </a:r>
          </a:p>
        </p:txBody>
      </p:sp>
      <p:sp>
        <p:nvSpPr>
          <p:cNvPr id="23" name="TextBox 22"/>
          <p:cNvSpPr txBox="1"/>
          <p:nvPr/>
        </p:nvSpPr>
        <p:spPr>
          <a:xfrm>
            <a:off x="11223769" y="323273"/>
            <a:ext cx="672667" cy="138545"/>
          </a:xfrm>
          <a:prstGeom prst="rect">
            <a:avLst/>
          </a:prstGeom>
          <a:noFill/>
        </p:spPr>
        <p:txBody>
          <a:bodyPr wrap="none" lIns="0" rIns="0" tIns="0" bIns="0" anchor="t">
            <a:noAutofit/>
          </a:bodyPr>
          <a:lstStyle/>
          <a:p>
            <a:pPr algn="l">
              <a:lnSpc>
                <a:spcPts val="1090"/>
              </a:lnSpc>
              <a:spcBef>
                <a:spcPts val="0"/>
              </a:spcBef>
              <a:spcAft>
                <a:spcPts val="0"/>
              </a:spcAft>
            </a:pPr>
            <a:r>
              <a:rPr sz="825" b="1" i="0" lang="es-CO" spc="33">
                <a:solidFill>
                  <a:srgbClr val="D97224"/>
                </a:solidFill>
                <a:latin typeface="Outfit"/>
              </a:rPr>
              <a:t>16 </a:t>
            </a:r>
            <a:r>
              <a:rPr sz="825" b="1" i="0" lang="es-CO" spc="33">
                <a:solidFill>
                  <a:srgbClr val="5B4A38"/>
                </a:solidFill>
                <a:latin typeface="Outfit"/>
              </a:rPr>
              <a:t>Filosofía</a:t>
            </a:r>
          </a:p>
        </p:txBody>
      </p:sp>
      <p:sp>
        <p:nvSpPr>
          <p:cNvPr id="24" name="Rounded Rectangle 23"/>
          <p:cNvSpPr/>
          <p:nvPr/>
        </p:nvSpPr>
        <p:spPr>
          <a:xfrm>
            <a:off x="369455" y="831273"/>
            <a:ext cx="240145" cy="27709"/>
          </a:xfrm>
          <a:prstGeom prst="roundRect">
            <a:avLst>
              <a:gd name="adj" fmla="val 50000"/>
            </a:avLst>
          </a:prstGeom>
          <a:solidFill>
            <a:srgbClr val="F0822D"/>
          </a:solidFill>
          <a:ln>
            <a:noFill/>
          </a:ln>
        </p:spPr>
        <p:txBody>
          <a:bodyPr rtlCol="0" anchor="ctr"/>
          <a:lstStyle/>
          <a:p>
            <a:pPr algn="ctr"/>
          </a:p>
        </p:txBody>
      </p:sp>
      <p:sp>
        <p:nvSpPr>
          <p:cNvPr id="25" name="TextBox 24"/>
          <p:cNvSpPr txBox="1"/>
          <p:nvPr/>
        </p:nvSpPr>
        <p:spPr>
          <a:xfrm>
            <a:off x="701964" y="775855"/>
            <a:ext cx="213735" cy="138545"/>
          </a:xfrm>
          <a:prstGeom prst="rect">
            <a:avLst/>
          </a:prstGeom>
          <a:noFill/>
        </p:spPr>
        <p:txBody>
          <a:bodyPr wrap="none" lIns="0" rIns="0" tIns="0" bIns="0" anchor="t">
            <a:noAutofit/>
          </a:bodyPr>
          <a:lstStyle/>
          <a:p>
            <a:pPr algn="l">
              <a:lnSpc>
                <a:spcPts val="1090"/>
              </a:lnSpc>
              <a:spcBef>
                <a:spcPts val="0"/>
              </a:spcBef>
              <a:spcAft>
                <a:spcPts val="0"/>
              </a:spcAft>
            </a:pPr>
            <a:r>
              <a:rPr sz="875" b="1" i="0" lang="es-CO" cap="all" spc="87">
                <a:solidFill>
                  <a:srgbClr val="D97224"/>
                </a:solidFill>
                <a:latin typeface="Outfit"/>
              </a:rPr>
              <a:t>01</a:t>
            </a:r>
          </a:p>
        </p:txBody>
      </p:sp>
      <p:sp>
        <p:nvSpPr>
          <p:cNvPr id="26" name="TextBox 25"/>
          <p:cNvSpPr txBox="1"/>
          <p:nvPr/>
        </p:nvSpPr>
        <p:spPr>
          <a:xfrm>
            <a:off x="934172" y="775855"/>
            <a:ext cx="769793" cy="138545"/>
          </a:xfrm>
          <a:prstGeom prst="rect">
            <a:avLst/>
          </a:prstGeom>
          <a:noFill/>
        </p:spPr>
        <p:txBody>
          <a:bodyPr wrap="none" lIns="0" rIns="0" tIns="0" bIns="0" anchor="t">
            <a:noAutofit/>
          </a:bodyPr>
          <a:lstStyle/>
          <a:p>
            <a:pPr algn="l">
              <a:lnSpc>
                <a:spcPts val="1090"/>
              </a:lnSpc>
              <a:spcBef>
                <a:spcPts val="0"/>
              </a:spcBef>
              <a:spcAft>
                <a:spcPts val="0"/>
              </a:spcAft>
            </a:pPr>
            <a:r>
              <a:rPr sz="875" b="1" i="0" lang="es-CO" cap="all" spc="87">
                <a:solidFill>
                  <a:srgbClr val="5B4A38"/>
                </a:solidFill>
                <a:latin typeface="Outfit"/>
              </a:rPr>
              <a:t>/ Portada</a:t>
            </a:r>
          </a:p>
        </p:txBody>
      </p:sp>
      <p:sp>
        <p:nvSpPr>
          <p:cNvPr id="27" name="TextBox 26"/>
          <p:cNvSpPr txBox="1"/>
          <p:nvPr/>
        </p:nvSpPr>
        <p:spPr>
          <a:xfrm>
            <a:off x="369455" y="2323378"/>
            <a:ext cx="3332162" cy="628073"/>
          </a:xfrm>
          <a:prstGeom prst="rect">
            <a:avLst/>
          </a:prstGeom>
          <a:noFill/>
        </p:spPr>
        <p:txBody>
          <a:bodyPr wrap="none" lIns="0" rIns="0" tIns="0" bIns="0" anchor="t">
            <a:noAutofit/>
          </a:bodyPr>
          <a:lstStyle/>
          <a:p>
            <a:pPr algn="l">
              <a:lnSpc>
                <a:spcPts val="4945"/>
              </a:lnSpc>
              <a:spcBef>
                <a:spcPts val="0"/>
              </a:spcBef>
              <a:spcAft>
                <a:spcPts val="0"/>
              </a:spcAft>
            </a:pPr>
            <a:r>
              <a:rPr sz="4950" b="1" i="0" lang="es-CO">
                <a:solidFill>
                  <a:srgbClr val="2B2117"/>
                </a:solidFill>
                <a:latin typeface="Playfair Display"/>
              </a:rPr>
              <a:t>Manual de</a:t>
            </a:r>
          </a:p>
        </p:txBody>
      </p:sp>
      <p:sp>
        <p:nvSpPr>
          <p:cNvPr id="28" name="TextBox 27"/>
          <p:cNvSpPr txBox="1"/>
          <p:nvPr/>
        </p:nvSpPr>
        <p:spPr>
          <a:xfrm>
            <a:off x="369455" y="2951451"/>
            <a:ext cx="3073082" cy="628073"/>
          </a:xfrm>
          <a:prstGeom prst="rect">
            <a:avLst/>
          </a:prstGeom>
          <a:noFill/>
        </p:spPr>
        <p:txBody>
          <a:bodyPr wrap="none" lIns="0" rIns="0" tIns="0" bIns="0" anchor="t">
            <a:noAutofit/>
          </a:bodyPr>
          <a:lstStyle/>
          <a:p>
            <a:pPr algn="l">
              <a:lnSpc>
                <a:spcPts val="4945"/>
              </a:lnSpc>
              <a:spcBef>
                <a:spcPts val="0"/>
              </a:spcBef>
              <a:spcAft>
                <a:spcPts val="0"/>
              </a:spcAft>
            </a:pPr>
            <a:r>
              <a:rPr sz="4950" b="1" i="0" lang="es-CO">
                <a:solidFill>
                  <a:srgbClr val="2B2117"/>
                </a:solidFill>
                <a:latin typeface="Playfair Display"/>
              </a:rPr>
              <a:t>Identidad</a:t>
            </a:r>
          </a:p>
        </p:txBody>
      </p:sp>
      <p:sp>
        <p:nvSpPr>
          <p:cNvPr id="29" name="TextBox 28"/>
          <p:cNvSpPr txBox="1"/>
          <p:nvPr/>
        </p:nvSpPr>
        <p:spPr>
          <a:xfrm>
            <a:off x="369455" y="3579524"/>
            <a:ext cx="3956050" cy="628073"/>
          </a:xfrm>
          <a:prstGeom prst="rect">
            <a:avLst/>
          </a:prstGeom>
          <a:noFill/>
        </p:spPr>
        <p:txBody>
          <a:bodyPr wrap="none" lIns="0" rIns="0" tIns="0" bIns="0" anchor="t">
            <a:noAutofit/>
          </a:bodyPr>
          <a:lstStyle/>
          <a:p>
            <a:pPr algn="l">
              <a:lnSpc>
                <a:spcPts val="4945"/>
              </a:lnSpc>
              <a:spcBef>
                <a:spcPts val="0"/>
              </a:spcBef>
              <a:spcAft>
                <a:spcPts val="0"/>
              </a:spcAft>
            </a:pPr>
            <a:r>
              <a:rPr sz="4950" b="1" i="0" lang="es-CO">
                <a:solidFill>
                  <a:srgbClr val="F0822D"/>
                </a:solidFill>
                <a:latin typeface="Playfair Display"/>
              </a:rPr>
              <a:t>OllaCercana</a:t>
            </a:r>
          </a:p>
        </p:txBody>
      </p:sp>
      <p:sp>
        <p:nvSpPr>
          <p:cNvPr id="30" name="TextBox 29"/>
          <p:cNvSpPr txBox="1"/>
          <p:nvPr/>
        </p:nvSpPr>
        <p:spPr>
          <a:xfrm>
            <a:off x="369455" y="4376622"/>
            <a:ext cx="5910580" cy="243840"/>
          </a:xfrm>
          <a:prstGeom prst="rect">
            <a:avLst/>
          </a:prstGeom>
          <a:noFill/>
        </p:spPr>
        <p:txBody>
          <a:bodyPr wrap="none" lIns="0" rIns="0" tIns="0" bIns="0" anchor="t">
            <a:noAutofit/>
          </a:bodyPr>
          <a:lstStyle/>
          <a:p>
            <a:pPr algn="l">
              <a:lnSpc>
                <a:spcPts val="1920"/>
              </a:lnSpc>
              <a:spcBef>
                <a:spcPts val="0"/>
              </a:spcBef>
              <a:spcAft>
                <a:spcPts val="0"/>
              </a:spcAft>
            </a:pPr>
            <a:r>
              <a:rPr sz="1175" b="0" i="0" lang="es-CO">
                <a:solidFill>
                  <a:srgbClr val="5B4A38"/>
                </a:solidFill>
                <a:latin typeface="Outfit"/>
              </a:rPr>
              <a:t>Guía de marca hogareña: la calidez de la cocina del conjunto, hecha sistema visual.</a:t>
            </a:r>
          </a:p>
        </p:txBody>
      </p:sp>
      <p:sp>
        <p:nvSpPr>
          <p:cNvPr id="31" name="TextBox 30"/>
          <p:cNvSpPr txBox="1"/>
          <p:nvPr/>
        </p:nvSpPr>
        <p:spPr>
          <a:xfrm>
            <a:off x="369455" y="4862368"/>
            <a:ext cx="507134" cy="120073"/>
          </a:xfrm>
          <a:prstGeom prst="rect">
            <a:avLst/>
          </a:prstGeom>
          <a:noFill/>
        </p:spPr>
        <p:txBody>
          <a:bodyPr wrap="none" lIns="0" rIns="0" tIns="0" bIns="0" anchor="t">
            <a:noAutofit/>
          </a:bodyPr>
          <a:lstStyle/>
          <a:p>
            <a:pPr algn="l">
              <a:lnSpc>
                <a:spcPts val="945"/>
              </a:lnSpc>
              <a:spcBef>
                <a:spcPts val="0"/>
              </a:spcBef>
              <a:spcAft>
                <a:spcPts val="0"/>
              </a:spcAft>
            </a:pPr>
            <a:r>
              <a:rPr sz="725" b="0" i="0" lang="es-CO" cap="all" spc="73">
                <a:solidFill>
                  <a:srgbClr val="8A7860"/>
                </a:solidFill>
                <a:latin typeface="Outfit"/>
              </a:rPr>
              <a:t>Emisión</a:t>
            </a:r>
          </a:p>
        </p:txBody>
      </p:sp>
      <p:sp>
        <p:nvSpPr>
          <p:cNvPr id="32" name="TextBox 31"/>
          <p:cNvSpPr txBox="1"/>
          <p:nvPr/>
        </p:nvSpPr>
        <p:spPr>
          <a:xfrm>
            <a:off x="369455" y="4982441"/>
            <a:ext cx="681903" cy="184727"/>
          </a:xfrm>
          <a:prstGeom prst="rect">
            <a:avLst/>
          </a:prstGeom>
          <a:noFill/>
        </p:spPr>
        <p:txBody>
          <a:bodyPr wrap="none" lIns="0" rIns="0" tIns="0" bIns="0" anchor="t">
            <a:noAutofit/>
          </a:bodyPr>
          <a:lstStyle/>
          <a:p>
            <a:pPr algn="l">
              <a:lnSpc>
                <a:spcPts val="1454"/>
              </a:lnSpc>
              <a:spcBef>
                <a:spcPts val="0"/>
              </a:spcBef>
              <a:spcAft>
                <a:spcPts val="0"/>
              </a:spcAft>
            </a:pPr>
            <a:r>
              <a:rPr sz="1100" b="1" i="0" lang="es-CO">
                <a:solidFill>
                  <a:srgbClr val="2B2117"/>
                </a:solidFill>
                <a:latin typeface="Playfair Display"/>
              </a:rPr>
              <a:t>Oct. 2026</a:t>
            </a:r>
          </a:p>
        </p:txBody>
      </p:sp>
      <p:sp>
        <p:nvSpPr>
          <p:cNvPr id="33" name="TextBox 32"/>
          <p:cNvSpPr txBox="1"/>
          <p:nvPr/>
        </p:nvSpPr>
        <p:spPr>
          <a:xfrm>
            <a:off x="1273031" y="4862368"/>
            <a:ext cx="525607" cy="120073"/>
          </a:xfrm>
          <a:prstGeom prst="rect">
            <a:avLst/>
          </a:prstGeom>
          <a:noFill/>
        </p:spPr>
        <p:txBody>
          <a:bodyPr wrap="none" lIns="0" rIns="0" tIns="0" bIns="0" anchor="t">
            <a:noAutofit/>
          </a:bodyPr>
          <a:lstStyle/>
          <a:p>
            <a:pPr algn="l">
              <a:lnSpc>
                <a:spcPts val="945"/>
              </a:lnSpc>
              <a:spcBef>
                <a:spcPts val="0"/>
              </a:spcBef>
              <a:spcAft>
                <a:spcPts val="0"/>
              </a:spcAft>
            </a:pPr>
            <a:r>
              <a:rPr sz="725" b="0" i="0" lang="es-CO" cap="all" spc="73">
                <a:solidFill>
                  <a:srgbClr val="8A7860"/>
                </a:solidFill>
                <a:latin typeface="Outfit"/>
              </a:rPr>
              <a:t>Versión</a:t>
            </a:r>
          </a:p>
        </p:txBody>
      </p:sp>
      <p:sp>
        <p:nvSpPr>
          <p:cNvPr id="34" name="TextBox 33"/>
          <p:cNvSpPr txBox="1"/>
          <p:nvPr/>
        </p:nvSpPr>
        <p:spPr>
          <a:xfrm>
            <a:off x="1273031" y="4982441"/>
            <a:ext cx="1497648" cy="184727"/>
          </a:xfrm>
          <a:prstGeom prst="rect">
            <a:avLst/>
          </a:prstGeom>
          <a:noFill/>
        </p:spPr>
        <p:txBody>
          <a:bodyPr wrap="none" lIns="0" rIns="0" tIns="0" bIns="0" anchor="t">
            <a:noAutofit/>
          </a:bodyPr>
          <a:lstStyle/>
          <a:p>
            <a:pPr algn="l">
              <a:lnSpc>
                <a:spcPts val="1454"/>
              </a:lnSpc>
              <a:spcBef>
                <a:spcPts val="0"/>
              </a:spcBef>
              <a:spcAft>
                <a:spcPts val="0"/>
              </a:spcAft>
            </a:pPr>
            <a:r>
              <a:rPr sz="1100" b="1" i="0" lang="es-CO">
                <a:solidFill>
                  <a:srgbClr val="2B2117"/>
                </a:solidFill>
                <a:latin typeface="Playfair Display"/>
              </a:rPr>
              <a:t>v3.0 · Interfaz vigente</a:t>
            </a:r>
          </a:p>
        </p:txBody>
      </p:sp>
      <p:sp>
        <p:nvSpPr>
          <p:cNvPr id="35" name="TextBox 34"/>
          <p:cNvSpPr txBox="1"/>
          <p:nvPr/>
        </p:nvSpPr>
        <p:spPr>
          <a:xfrm>
            <a:off x="2930092" y="4862368"/>
            <a:ext cx="652174" cy="120073"/>
          </a:xfrm>
          <a:prstGeom prst="rect">
            <a:avLst/>
          </a:prstGeom>
          <a:noFill/>
        </p:spPr>
        <p:txBody>
          <a:bodyPr wrap="none" lIns="0" rIns="0" tIns="0" bIns="0" anchor="t">
            <a:noAutofit/>
          </a:bodyPr>
          <a:lstStyle/>
          <a:p>
            <a:pPr algn="l">
              <a:lnSpc>
                <a:spcPts val="945"/>
              </a:lnSpc>
              <a:spcBef>
                <a:spcPts val="0"/>
              </a:spcBef>
              <a:spcAft>
                <a:spcPts val="0"/>
              </a:spcAft>
            </a:pPr>
            <a:r>
              <a:rPr sz="725" b="0" i="0" lang="es-CO" cap="all" spc="73">
                <a:solidFill>
                  <a:srgbClr val="8A7860"/>
                </a:solidFill>
                <a:latin typeface="Outfit"/>
              </a:rPr>
              <a:t>Producto</a:t>
            </a:r>
          </a:p>
        </p:txBody>
      </p:sp>
      <p:sp>
        <p:nvSpPr>
          <p:cNvPr id="36" name="TextBox 35"/>
          <p:cNvSpPr txBox="1"/>
          <p:nvPr/>
        </p:nvSpPr>
        <p:spPr>
          <a:xfrm>
            <a:off x="2930092" y="4982441"/>
            <a:ext cx="2174875" cy="184727"/>
          </a:xfrm>
          <a:prstGeom prst="rect">
            <a:avLst/>
          </a:prstGeom>
          <a:noFill/>
        </p:spPr>
        <p:txBody>
          <a:bodyPr wrap="none" lIns="0" rIns="0" tIns="0" bIns="0" anchor="t">
            <a:noAutofit/>
          </a:bodyPr>
          <a:lstStyle/>
          <a:p>
            <a:pPr algn="l">
              <a:lnSpc>
                <a:spcPts val="1454"/>
              </a:lnSpc>
              <a:spcBef>
                <a:spcPts val="0"/>
              </a:spcBef>
              <a:spcAft>
                <a:spcPts val="0"/>
              </a:spcAft>
            </a:pPr>
            <a:r>
              <a:rPr sz="1100" b="1" i="0" lang="es-CO">
                <a:solidFill>
                  <a:srgbClr val="2B2117"/>
                </a:solidFill>
                <a:latin typeface="Playfair Display"/>
              </a:rPr>
              <a:t>Interfaz vigente · demostración</a:t>
            </a:r>
          </a:p>
        </p:txBody>
      </p:sp>
      <p:sp>
        <p:nvSpPr>
          <p:cNvPr id="37" name="Rounded Rectangle 36"/>
          <p:cNvSpPr/>
          <p:nvPr/>
        </p:nvSpPr>
        <p:spPr>
          <a:xfrm rot="21510000">
            <a:off x="6876473" y="1043709"/>
            <a:ext cx="4946073" cy="5407891"/>
          </a:xfrm>
          <a:prstGeom prst="roundRect">
            <a:avLst>
              <a:gd name="adj" fmla="val 746"/>
            </a:avLst>
          </a:prstGeom>
          <a:solidFill>
            <a:srgbClr val="FFFFFF"/>
          </a:solidFill>
          <a:ln>
            <a:noFill/>
          </a:ln>
          <a:effectLst>
            <a:outerShdw blurRad="221672" dist="92363" dir="5400000" algn="ctr" rotWithShape="0">
              <a:srgbClr val="3C2814">
                <a:alpha val="25000"/>
              </a:srgbClr>
            </a:outerShdw>
          </a:effectLst>
        </p:spPr>
        <p:txBody>
          <a:bodyPr rtlCol="0" anchor="ctr"/>
          <a:lstStyle/>
          <a:p>
            <a:pPr algn="ctr"/>
          </a:p>
        </p:txBody>
      </p:sp>
      <p:pic>
        <p:nvPicPr>
          <p:cNvPr id="38" name="Picture 37" descr="Sancocho Trifásico"/>
          <p:cNvPicPr>
            <a:picLocks noChangeAspect="1"/>
          </p:cNvPicPr>
          <p:nvPr/>
        </p:nvPicPr>
        <p:blipFill>
          <a:blip r:embed="rId4"/>
          <a:stretch>
            <a:fillRect/>
          </a:stretch>
        </p:blipFill>
        <p:spPr>
          <a:xfrm rot="21510000">
            <a:off x="6962792" y="1136152"/>
            <a:ext cx="4761345" cy="4761345"/>
          </a:xfrm>
          <a:prstGeom prst="roundRect">
            <a:avLst>
              <a:gd name="adj" fmla="val 387"/>
            </a:avLst>
          </a:prstGeom>
        </p:spPr>
      </p:pic>
      <p:sp>
        <p:nvSpPr>
          <p:cNvPr id="39" name="TextBox 38"/>
          <p:cNvSpPr txBox="1"/>
          <p:nvPr/>
        </p:nvSpPr>
        <p:spPr>
          <a:xfrm rot="21510000">
            <a:off x="8310633" y="5952051"/>
            <a:ext cx="2197894" cy="184727"/>
          </a:xfrm>
          <a:prstGeom prst="rect">
            <a:avLst/>
          </a:prstGeom>
          <a:noFill/>
        </p:spPr>
        <p:txBody>
          <a:bodyPr wrap="none" lIns="0" rIns="0" tIns="0" bIns="0" anchor="t">
            <a:noAutofit/>
          </a:bodyPr>
          <a:lstStyle/>
          <a:p>
            <a:pPr algn="ctr">
              <a:lnSpc>
                <a:spcPts val="1454"/>
              </a:lnSpc>
              <a:spcBef>
                <a:spcPts val="0"/>
              </a:spcBef>
              <a:spcAft>
                <a:spcPts val="0"/>
              </a:spcAft>
            </a:pPr>
            <a:r>
              <a:rPr sz="1175" b="0" i="0" lang="es-CO">
                <a:solidFill>
                  <a:srgbClr val="5B4A38"/>
                </a:solidFill>
                <a:latin typeface="Caveat"/>
              </a:rPr>
              <a:t>Sancocho Trifásico — el plato de siempre</a:t>
            </a:r>
          </a:p>
        </p:txBody>
      </p:sp>
      <p:sp>
        <p:nvSpPr>
          <p:cNvPr id="40" name="Enlace s01">
            <a:hlinkClick action="ppaction://hlinksldjump" r:id="rId5"/>
          </p:cNvPr>
          <p:cNvSpPr/>
          <p:nvPr/>
        </p:nvSpPr>
        <p:spPr>
          <a:xfrm>
            <a:off x="3746356" y="129309"/>
            <a:ext cx="581747" cy="138545"/>
          </a:xfrm>
          <a:prstGeom prst="rect">
            <a:avLst/>
          </a:prstGeom>
          <a:noFill/>
          <a:ln>
            <a:noFill/>
          </a:ln>
        </p:spPr>
        <p:txBody>
          <a:bodyPr rtlCol="0" anchor="ctr"/>
          <a:lstStyle/>
          <a:p>
            <a:pPr algn="ctr"/>
          </a:p>
        </p:txBody>
      </p:sp>
      <p:sp>
        <p:nvSpPr>
          <p:cNvPr id="41" name="Enlace s02b">
            <a:hlinkClick action="ppaction://hlinksldjump" r:id="rId6"/>
          </p:cNvPr>
          <p:cNvSpPr/>
          <p:nvPr/>
        </p:nvSpPr>
        <p:spPr>
          <a:xfrm>
            <a:off x="4512830" y="129309"/>
            <a:ext cx="506557" cy="138545"/>
          </a:xfrm>
          <a:prstGeom prst="rect">
            <a:avLst/>
          </a:prstGeom>
          <a:noFill/>
          <a:ln>
            <a:noFill/>
          </a:ln>
        </p:spPr>
        <p:txBody>
          <a:bodyPr rtlCol="0" anchor="ctr"/>
          <a:lstStyle/>
          <a:p>
            <a:pPr algn="ctr"/>
          </a:p>
        </p:txBody>
      </p:sp>
      <p:sp>
        <p:nvSpPr>
          <p:cNvPr id="42" name="Enlace s03">
            <a:hlinkClick action="ppaction://hlinksldjump" r:id="rId7"/>
          </p:cNvPr>
          <p:cNvSpPr/>
          <p:nvPr/>
        </p:nvSpPr>
        <p:spPr>
          <a:xfrm>
            <a:off x="5204114" y="129309"/>
            <a:ext cx="517814" cy="138545"/>
          </a:xfrm>
          <a:prstGeom prst="rect">
            <a:avLst/>
          </a:prstGeom>
          <a:noFill/>
          <a:ln>
            <a:noFill/>
          </a:ln>
        </p:spPr>
        <p:txBody>
          <a:bodyPr rtlCol="0" anchor="ctr"/>
          <a:lstStyle/>
          <a:p>
            <a:pPr algn="ctr"/>
          </a:p>
        </p:txBody>
      </p:sp>
      <p:sp>
        <p:nvSpPr>
          <p:cNvPr id="43" name="Enlace s04">
            <a:hlinkClick action="ppaction://hlinksldjump" r:id="rId8"/>
          </p:cNvPr>
          <p:cNvSpPr/>
          <p:nvPr/>
        </p:nvSpPr>
        <p:spPr>
          <a:xfrm>
            <a:off x="5906655" y="129309"/>
            <a:ext cx="572222" cy="138545"/>
          </a:xfrm>
          <a:prstGeom prst="rect">
            <a:avLst/>
          </a:prstGeom>
          <a:noFill/>
          <a:ln>
            <a:noFill/>
          </a:ln>
        </p:spPr>
        <p:txBody>
          <a:bodyPr rtlCol="0" anchor="ctr"/>
          <a:lstStyle/>
          <a:p>
            <a:pPr algn="ctr"/>
          </a:p>
        </p:txBody>
      </p:sp>
      <p:sp>
        <p:nvSpPr>
          <p:cNvPr id="44" name="Enlace s05">
            <a:hlinkClick action="ppaction://hlinksldjump" r:id="rId9"/>
          </p:cNvPr>
          <p:cNvSpPr/>
          <p:nvPr/>
        </p:nvSpPr>
        <p:spPr>
          <a:xfrm>
            <a:off x="6663603" y="129309"/>
            <a:ext cx="632547" cy="138545"/>
          </a:xfrm>
          <a:prstGeom prst="rect">
            <a:avLst/>
          </a:prstGeom>
          <a:noFill/>
          <a:ln>
            <a:noFill/>
          </a:ln>
        </p:spPr>
        <p:txBody>
          <a:bodyPr rtlCol="0" anchor="ctr"/>
          <a:lstStyle/>
          <a:p>
            <a:pPr algn="ctr"/>
          </a:p>
        </p:txBody>
      </p:sp>
      <p:sp>
        <p:nvSpPr>
          <p:cNvPr id="45" name="Enlace s06">
            <a:hlinkClick action="ppaction://hlinksldjump" r:id="rId10"/>
          </p:cNvPr>
          <p:cNvSpPr/>
          <p:nvPr/>
        </p:nvSpPr>
        <p:spPr>
          <a:xfrm>
            <a:off x="7480877" y="129309"/>
            <a:ext cx="495733" cy="138545"/>
          </a:xfrm>
          <a:prstGeom prst="rect">
            <a:avLst/>
          </a:prstGeom>
          <a:noFill/>
          <a:ln>
            <a:noFill/>
          </a:ln>
        </p:spPr>
        <p:txBody>
          <a:bodyPr rtlCol="0" anchor="ctr"/>
          <a:lstStyle/>
          <a:p>
            <a:pPr algn="ctr"/>
          </a:p>
        </p:txBody>
      </p:sp>
      <p:sp>
        <p:nvSpPr>
          <p:cNvPr id="46" name="Enlace s06b">
            <a:hlinkClick action="ppaction://hlinksldjump" r:id="rId11"/>
          </p:cNvPr>
          <p:cNvSpPr/>
          <p:nvPr/>
        </p:nvSpPr>
        <p:spPr>
          <a:xfrm>
            <a:off x="8161338" y="129309"/>
            <a:ext cx="415203" cy="138545"/>
          </a:xfrm>
          <a:prstGeom prst="rect">
            <a:avLst/>
          </a:prstGeom>
          <a:noFill/>
          <a:ln>
            <a:noFill/>
          </a:ln>
        </p:spPr>
        <p:txBody>
          <a:bodyPr rtlCol="0" anchor="ctr"/>
          <a:lstStyle/>
          <a:p>
            <a:pPr algn="ctr"/>
          </a:p>
        </p:txBody>
      </p:sp>
      <p:sp>
        <p:nvSpPr>
          <p:cNvPr id="47" name="Enlace s07">
            <a:hlinkClick action="ppaction://hlinksldjump" r:id="rId12"/>
          </p:cNvPr>
          <p:cNvSpPr/>
          <p:nvPr/>
        </p:nvSpPr>
        <p:spPr>
          <a:xfrm>
            <a:off x="8761268" y="129309"/>
            <a:ext cx="461962" cy="138545"/>
          </a:xfrm>
          <a:prstGeom prst="rect">
            <a:avLst/>
          </a:prstGeom>
          <a:noFill/>
          <a:ln>
            <a:noFill/>
          </a:ln>
        </p:spPr>
        <p:txBody>
          <a:bodyPr rtlCol="0" anchor="ctr"/>
          <a:lstStyle/>
          <a:p>
            <a:pPr algn="ctr"/>
          </a:p>
        </p:txBody>
      </p:sp>
      <p:sp>
        <p:nvSpPr>
          <p:cNvPr id="48" name="Enlace s08">
            <a:hlinkClick action="ppaction://hlinksldjump" r:id="rId13"/>
          </p:cNvPr>
          <p:cNvSpPr/>
          <p:nvPr/>
        </p:nvSpPr>
        <p:spPr>
          <a:xfrm>
            <a:off x="9407958" y="129309"/>
            <a:ext cx="735590" cy="138545"/>
          </a:xfrm>
          <a:prstGeom prst="rect">
            <a:avLst/>
          </a:prstGeom>
          <a:noFill/>
          <a:ln>
            <a:noFill/>
          </a:ln>
        </p:spPr>
        <p:txBody>
          <a:bodyPr rtlCol="0" anchor="ctr"/>
          <a:lstStyle/>
          <a:p>
            <a:pPr algn="ctr"/>
          </a:p>
        </p:txBody>
      </p:sp>
      <p:sp>
        <p:nvSpPr>
          <p:cNvPr id="49" name="Enlace s09">
            <a:hlinkClick action="ppaction://hlinksldjump" r:id="rId14"/>
          </p:cNvPr>
          <p:cNvSpPr/>
          <p:nvPr/>
        </p:nvSpPr>
        <p:spPr>
          <a:xfrm>
            <a:off x="10328275" y="129309"/>
            <a:ext cx="764598" cy="138545"/>
          </a:xfrm>
          <a:prstGeom prst="rect">
            <a:avLst/>
          </a:prstGeom>
          <a:noFill/>
          <a:ln>
            <a:noFill/>
          </a:ln>
        </p:spPr>
        <p:txBody>
          <a:bodyPr rtlCol="0" anchor="ctr"/>
          <a:lstStyle/>
          <a:p>
            <a:pPr algn="ctr"/>
          </a:p>
        </p:txBody>
      </p:sp>
      <p:sp>
        <p:nvSpPr>
          <p:cNvPr id="50" name="Enlace s09b">
            <a:hlinkClick action="ppaction://hlinksldjump" r:id="rId15"/>
          </p:cNvPr>
          <p:cNvSpPr/>
          <p:nvPr/>
        </p:nvSpPr>
        <p:spPr>
          <a:xfrm>
            <a:off x="11277600" y="129309"/>
            <a:ext cx="544945" cy="138545"/>
          </a:xfrm>
          <a:prstGeom prst="rect">
            <a:avLst/>
          </a:prstGeom>
          <a:noFill/>
          <a:ln>
            <a:noFill/>
          </a:ln>
        </p:spPr>
        <p:txBody>
          <a:bodyPr rtlCol="0" anchor="ctr"/>
          <a:lstStyle/>
          <a:p>
            <a:pPr algn="ctr"/>
          </a:p>
        </p:txBody>
      </p:sp>
      <p:sp>
        <p:nvSpPr>
          <p:cNvPr id="51" name="Enlace s09c">
            <a:hlinkClick action="ppaction://hlinksldjump" r:id="rId16"/>
          </p:cNvPr>
          <p:cNvSpPr/>
          <p:nvPr/>
        </p:nvSpPr>
        <p:spPr>
          <a:xfrm>
            <a:off x="7711642" y="323273"/>
            <a:ext cx="707303" cy="138545"/>
          </a:xfrm>
          <a:prstGeom prst="rect">
            <a:avLst/>
          </a:prstGeom>
          <a:noFill/>
          <a:ln>
            <a:noFill/>
          </a:ln>
        </p:spPr>
        <p:txBody>
          <a:bodyPr rtlCol="0" anchor="ctr"/>
          <a:lstStyle/>
          <a:p>
            <a:pPr algn="ctr"/>
          </a:p>
        </p:txBody>
      </p:sp>
      <p:sp>
        <p:nvSpPr>
          <p:cNvPr id="52" name="Enlace s09d">
            <a:hlinkClick action="ppaction://hlinksldjump" r:id="rId17"/>
          </p:cNvPr>
          <p:cNvSpPr/>
          <p:nvPr/>
        </p:nvSpPr>
        <p:spPr>
          <a:xfrm>
            <a:off x="8603673" y="323273"/>
            <a:ext cx="686377" cy="138545"/>
          </a:xfrm>
          <a:prstGeom prst="rect">
            <a:avLst/>
          </a:prstGeom>
          <a:noFill/>
          <a:ln>
            <a:noFill/>
          </a:ln>
        </p:spPr>
        <p:txBody>
          <a:bodyPr rtlCol="0" anchor="ctr"/>
          <a:lstStyle/>
          <a:p>
            <a:pPr algn="ctr"/>
          </a:p>
        </p:txBody>
      </p:sp>
      <p:sp>
        <p:nvSpPr>
          <p:cNvPr id="53" name="Enlace s10">
            <a:hlinkClick action="ppaction://hlinksldjump" r:id="rId18"/>
          </p:cNvPr>
          <p:cNvSpPr/>
          <p:nvPr/>
        </p:nvSpPr>
        <p:spPr>
          <a:xfrm>
            <a:off x="9474777" y="323273"/>
            <a:ext cx="666894" cy="138545"/>
          </a:xfrm>
          <a:prstGeom prst="rect">
            <a:avLst/>
          </a:prstGeom>
          <a:noFill/>
          <a:ln>
            <a:noFill/>
          </a:ln>
        </p:spPr>
        <p:txBody>
          <a:bodyPr rtlCol="0" anchor="ctr"/>
          <a:lstStyle/>
          <a:p>
            <a:pPr algn="ctr"/>
          </a:p>
        </p:txBody>
      </p:sp>
      <p:sp>
        <p:nvSpPr>
          <p:cNvPr id="54" name="Enlace s10b">
            <a:hlinkClick action="ppaction://hlinksldjump" r:id="rId19"/>
          </p:cNvPr>
          <p:cNvSpPr/>
          <p:nvPr/>
        </p:nvSpPr>
        <p:spPr>
          <a:xfrm>
            <a:off x="10326399" y="323273"/>
            <a:ext cx="712643" cy="138545"/>
          </a:xfrm>
          <a:prstGeom prst="rect">
            <a:avLst/>
          </a:prstGeom>
          <a:noFill/>
          <a:ln>
            <a:noFill/>
          </a:ln>
        </p:spPr>
        <p:txBody>
          <a:bodyPr rtlCol="0" anchor="ctr"/>
          <a:lstStyle/>
          <a:p>
            <a:pPr algn="ctr"/>
          </a:p>
        </p:txBody>
      </p:sp>
      <p:sp>
        <p:nvSpPr>
          <p:cNvPr id="55" name="Enlace s11">
            <a:hlinkClick action="ppaction://hlinksldjump" r:id="rId20"/>
          </p:cNvPr>
          <p:cNvSpPr/>
          <p:nvPr/>
        </p:nvSpPr>
        <p:spPr>
          <a:xfrm>
            <a:off x="11223769" y="323273"/>
            <a:ext cx="598776" cy="138545"/>
          </a:xfrm>
          <a:prstGeom prst="rect">
            <a:avLst/>
          </a:prstGeom>
          <a:no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82130"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01</a:t>
            </a:r>
          </a:p>
        </p:txBody>
      </p:sp>
      <p:sp>
        <p:nvSpPr>
          <p:cNvPr id="5" name="TextBox 4"/>
          <p:cNvSpPr txBox="1"/>
          <p:nvPr/>
        </p:nvSpPr>
        <p:spPr>
          <a:xfrm>
            <a:off x="1233106" y="365760"/>
            <a:ext cx="1016127"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Portada</a:t>
            </a:r>
          </a:p>
        </p:txBody>
      </p:sp>
      <p:sp>
        <p:nvSpPr>
          <p:cNvPr id="6" name="Rounded Rectangle 5"/>
          <p:cNvSpPr/>
          <p:nvPr/>
        </p:nvSpPr>
        <p:spPr>
          <a:xfrm>
            <a:off x="536448" y="1158240"/>
            <a:ext cx="7705344" cy="4535424"/>
          </a:xfrm>
          <a:prstGeom prst="roundRect">
            <a:avLst>
              <a:gd name="adj" fmla="val 1612"/>
            </a:avLst>
          </a:prstGeom>
          <a:solidFill>
            <a:srgbClr val="5C3A1E"/>
          </a:solidFill>
          <a:ln>
            <a:noFill/>
          </a:ln>
        </p:spPr>
        <p:txBody>
          <a:bodyPr rtlCol="0" anchor="ctr"/>
          <a:lstStyle/>
          <a:p>
            <a:pPr algn="ctr"/>
          </a:p>
        </p:txBody>
      </p:sp>
      <p:pic>
        <p:nvPicPr>
          <p:cNvPr id="7" name="Picture 6" descr="s01_r1.png"/>
          <p:cNvPicPr>
            <a:picLocks noChangeAspect="1"/>
          </p:cNvPicPr>
          <p:nvPr/>
        </p:nvPicPr>
        <p:blipFill>
          <a:blip r:embed="rId3"/>
          <a:stretch>
            <a:fillRect/>
          </a:stretch>
        </p:blipFill>
        <p:spPr>
          <a:xfrm>
            <a:off x="487680" y="987552"/>
            <a:ext cx="7802880" cy="4632960"/>
          </a:xfrm>
          <a:prstGeom prst="rect">
            <a:avLst/>
          </a:prstGeom>
          <a:effectLst>
            <a:outerShdw blurRad="292608" dist="170688" dir="5400000" algn="ctr" rotWithShape="0">
              <a:srgbClr val="000000">
                <a:alpha val="25000"/>
              </a:srgbClr>
            </a:outerShdw>
          </a:effectLst>
        </p:spPr>
      </p:pic>
      <p:cxnSp>
        <p:nvCxnSpPr>
          <p:cNvPr id="8" name="Connector 7"/>
          <p:cNvCxnSpPr/>
          <p:nvPr/>
        </p:nvCxnSpPr>
        <p:spPr>
          <a:xfrm>
            <a:off x="926592" y="2023872"/>
            <a:ext cx="6925056" cy="0"/>
          </a:xfrm>
          <a:prstGeom prst="line">
            <a:avLst/>
          </a:prstGeom>
          <a:ln w="24384" cap="flat">
            <a:solidFill>
              <a:srgbClr val="3C4C40"/>
            </a:solidFill>
            <a:prstDash val="dash"/>
          </a:ln>
        </p:spPr>
      </p:cxnSp>
      <p:sp>
        <p:nvSpPr>
          <p:cNvPr id="9" name="TextBox 8"/>
          <p:cNvSpPr txBox="1"/>
          <p:nvPr/>
        </p:nvSpPr>
        <p:spPr>
          <a:xfrm>
            <a:off x="926592" y="1426464"/>
            <a:ext cx="2592343" cy="463296"/>
          </a:xfrm>
          <a:prstGeom prst="rect">
            <a:avLst/>
          </a:prstGeom>
          <a:noFill/>
        </p:spPr>
        <p:txBody>
          <a:bodyPr wrap="none" lIns="0" rIns="0" tIns="0" bIns="0" anchor="t">
            <a:noAutofit/>
          </a:bodyPr>
          <a:lstStyle/>
          <a:p>
            <a:pPr algn="l">
              <a:lnSpc>
                <a:spcPts val="3647"/>
              </a:lnSpc>
              <a:spcBef>
                <a:spcPts val="0"/>
              </a:spcBef>
              <a:spcAft>
                <a:spcPts val="0"/>
              </a:spcAft>
            </a:pPr>
            <a:r>
              <a:rPr sz="2875" b="1" i="0" lang="es-CO">
                <a:solidFill>
                  <a:srgbClr val="F5F1E4"/>
                </a:solidFill>
                <a:latin typeface="Caveat"/>
              </a:rPr>
              <a:t>Equipo del proyecto</a:t>
            </a:r>
          </a:p>
        </p:txBody>
      </p:sp>
      <p:cxnSp>
        <p:nvCxnSpPr>
          <p:cNvPr id="10" name="Connector 9"/>
          <p:cNvCxnSpPr/>
          <p:nvPr/>
        </p:nvCxnSpPr>
        <p:spPr>
          <a:xfrm>
            <a:off x="926592" y="2798064"/>
            <a:ext cx="6925056" cy="0"/>
          </a:xfrm>
          <a:prstGeom prst="line">
            <a:avLst/>
          </a:prstGeom>
          <a:ln w="12192" cap="flat">
            <a:solidFill>
              <a:srgbClr val="3C4C40"/>
            </a:solidFill>
            <a:prstDash val="dash"/>
          </a:ln>
        </p:spPr>
      </p:cxnSp>
      <p:sp>
        <p:nvSpPr>
          <p:cNvPr id="11" name="TextBox 10"/>
          <p:cNvSpPr txBox="1"/>
          <p:nvPr/>
        </p:nvSpPr>
        <p:spPr>
          <a:xfrm>
            <a:off x="926592" y="2328672"/>
            <a:ext cx="1119416" cy="341376"/>
          </a:xfrm>
          <a:prstGeom prst="rect">
            <a:avLst/>
          </a:prstGeom>
          <a:noFill/>
        </p:spPr>
        <p:txBody>
          <a:bodyPr wrap="none" lIns="0" rIns="0" tIns="0" bIns="0" anchor="t">
            <a:noAutofit/>
          </a:bodyPr>
          <a:lstStyle/>
          <a:p>
            <a:pPr algn="l">
              <a:lnSpc>
                <a:spcPts val="2688"/>
              </a:lnSpc>
              <a:spcBef>
                <a:spcPts val="0"/>
              </a:spcBef>
              <a:spcAft>
                <a:spcPts val="0"/>
              </a:spcAft>
            </a:pPr>
            <a:r>
              <a:rPr sz="2100" b="0" i="0" lang="es-CO">
                <a:solidFill>
                  <a:srgbClr val="F5F1E4"/>
                </a:solidFill>
                <a:latin typeface="Caveat"/>
              </a:rPr>
              <a:t>Kevin Ángel</a:t>
            </a:r>
          </a:p>
        </p:txBody>
      </p:sp>
      <p:sp>
        <p:nvSpPr>
          <p:cNvPr id="12" name="TextBox 11"/>
          <p:cNvSpPr txBox="1"/>
          <p:nvPr/>
        </p:nvSpPr>
        <p:spPr>
          <a:xfrm>
            <a:off x="7074218" y="2328672"/>
            <a:ext cx="874966" cy="341376"/>
          </a:xfrm>
          <a:prstGeom prst="rect">
            <a:avLst/>
          </a:prstGeom>
          <a:noFill/>
        </p:spPr>
        <p:txBody>
          <a:bodyPr wrap="none" lIns="0" rIns="0" tIns="0" bIns="0" anchor="t">
            <a:noAutofit/>
          </a:bodyPr>
          <a:lstStyle/>
          <a:p>
            <a:pPr algn="l">
              <a:lnSpc>
                <a:spcPts val="2688"/>
              </a:lnSpc>
              <a:spcBef>
                <a:spcPts val="0"/>
              </a:spcBef>
              <a:spcAft>
                <a:spcPts val="0"/>
              </a:spcAft>
            </a:pPr>
            <a:r>
              <a:rPr sz="2100" b="1" i="0" lang="es-CO">
                <a:solidFill>
                  <a:srgbClr val="F4C430"/>
                </a:solidFill>
                <a:latin typeface="Caveat"/>
              </a:rPr>
              <a:t>$22.000</a:t>
            </a:r>
          </a:p>
        </p:txBody>
      </p:sp>
      <p:cxnSp>
        <p:nvCxnSpPr>
          <p:cNvPr id="13" name="Connector 12"/>
          <p:cNvCxnSpPr/>
          <p:nvPr/>
        </p:nvCxnSpPr>
        <p:spPr>
          <a:xfrm>
            <a:off x="926592" y="3395472"/>
            <a:ext cx="6925056" cy="0"/>
          </a:xfrm>
          <a:prstGeom prst="line">
            <a:avLst/>
          </a:prstGeom>
          <a:ln w="12192" cap="flat">
            <a:solidFill>
              <a:srgbClr val="3C4C40"/>
            </a:solidFill>
            <a:prstDash val="dash"/>
          </a:ln>
        </p:spPr>
      </p:cxnSp>
      <p:sp>
        <p:nvSpPr>
          <p:cNvPr id="14" name="TextBox 13"/>
          <p:cNvSpPr txBox="1"/>
          <p:nvPr/>
        </p:nvSpPr>
        <p:spPr>
          <a:xfrm>
            <a:off x="926592" y="2926080"/>
            <a:ext cx="1612278" cy="341376"/>
          </a:xfrm>
          <a:prstGeom prst="rect">
            <a:avLst/>
          </a:prstGeom>
          <a:noFill/>
        </p:spPr>
        <p:txBody>
          <a:bodyPr wrap="none" lIns="0" rIns="0" tIns="0" bIns="0" anchor="t">
            <a:noAutofit/>
          </a:bodyPr>
          <a:lstStyle/>
          <a:p>
            <a:pPr algn="l">
              <a:lnSpc>
                <a:spcPts val="2688"/>
              </a:lnSpc>
              <a:spcBef>
                <a:spcPts val="0"/>
              </a:spcBef>
              <a:spcAft>
                <a:spcPts val="0"/>
              </a:spcAft>
            </a:pPr>
            <a:r>
              <a:rPr sz="2100" b="0" i="0" lang="es-CO">
                <a:solidFill>
                  <a:srgbClr val="F5F1E4"/>
                </a:solidFill>
                <a:latin typeface="Caveat"/>
              </a:rPr>
              <a:t>Santiago García</a:t>
            </a:r>
          </a:p>
        </p:txBody>
      </p:sp>
      <p:sp>
        <p:nvSpPr>
          <p:cNvPr id="15" name="TextBox 14"/>
          <p:cNvSpPr txBox="1"/>
          <p:nvPr/>
        </p:nvSpPr>
        <p:spPr>
          <a:xfrm>
            <a:off x="7078599" y="2926080"/>
            <a:ext cx="870585" cy="341376"/>
          </a:xfrm>
          <a:prstGeom prst="rect">
            <a:avLst/>
          </a:prstGeom>
          <a:noFill/>
        </p:spPr>
        <p:txBody>
          <a:bodyPr wrap="none" lIns="0" rIns="0" tIns="0" bIns="0" anchor="t">
            <a:noAutofit/>
          </a:bodyPr>
          <a:lstStyle/>
          <a:p>
            <a:pPr algn="l">
              <a:lnSpc>
                <a:spcPts val="2688"/>
              </a:lnSpc>
              <a:spcBef>
                <a:spcPts val="0"/>
              </a:spcBef>
              <a:spcAft>
                <a:spcPts val="0"/>
              </a:spcAft>
            </a:pPr>
            <a:r>
              <a:rPr sz="2100" b="1" i="0" lang="es-CO">
                <a:solidFill>
                  <a:srgbClr val="F4C430"/>
                </a:solidFill>
                <a:latin typeface="Caveat"/>
              </a:rPr>
              <a:t>$15.000</a:t>
            </a:r>
          </a:p>
        </p:txBody>
      </p:sp>
      <p:cxnSp>
        <p:nvCxnSpPr>
          <p:cNvPr id="16" name="Connector 15"/>
          <p:cNvCxnSpPr/>
          <p:nvPr/>
        </p:nvCxnSpPr>
        <p:spPr>
          <a:xfrm>
            <a:off x="926592" y="3992880"/>
            <a:ext cx="6925056" cy="0"/>
          </a:xfrm>
          <a:prstGeom prst="line">
            <a:avLst/>
          </a:prstGeom>
          <a:ln w="12192" cap="flat">
            <a:solidFill>
              <a:srgbClr val="3C4C40"/>
            </a:solidFill>
            <a:prstDash val="dash"/>
          </a:ln>
        </p:spPr>
      </p:cxnSp>
      <p:sp>
        <p:nvSpPr>
          <p:cNvPr id="17" name="TextBox 16"/>
          <p:cNvSpPr txBox="1"/>
          <p:nvPr/>
        </p:nvSpPr>
        <p:spPr>
          <a:xfrm>
            <a:off x="926592" y="3523488"/>
            <a:ext cx="1422216" cy="341376"/>
          </a:xfrm>
          <a:prstGeom prst="rect">
            <a:avLst/>
          </a:prstGeom>
          <a:noFill/>
        </p:spPr>
        <p:txBody>
          <a:bodyPr wrap="none" lIns="0" rIns="0" tIns="0" bIns="0" anchor="t">
            <a:noAutofit/>
          </a:bodyPr>
          <a:lstStyle/>
          <a:p>
            <a:pPr algn="l">
              <a:lnSpc>
                <a:spcPts val="2688"/>
              </a:lnSpc>
              <a:spcBef>
                <a:spcPts val="0"/>
              </a:spcBef>
              <a:spcAft>
                <a:spcPts val="0"/>
              </a:spcAft>
            </a:pPr>
            <a:r>
              <a:rPr sz="2100" b="0" i="0" lang="es-CO">
                <a:solidFill>
                  <a:srgbClr val="F5F1E4"/>
                </a:solidFill>
                <a:latin typeface="Caveat"/>
              </a:rPr>
              <a:t>Julián Morales</a:t>
            </a:r>
          </a:p>
        </p:txBody>
      </p:sp>
      <p:sp>
        <p:nvSpPr>
          <p:cNvPr id="18" name="TextBox 17"/>
          <p:cNvSpPr txBox="1"/>
          <p:nvPr/>
        </p:nvSpPr>
        <p:spPr>
          <a:xfrm>
            <a:off x="7074218" y="3523488"/>
            <a:ext cx="874966" cy="341376"/>
          </a:xfrm>
          <a:prstGeom prst="rect">
            <a:avLst/>
          </a:prstGeom>
          <a:noFill/>
        </p:spPr>
        <p:txBody>
          <a:bodyPr wrap="none" lIns="0" rIns="0" tIns="0" bIns="0" anchor="t">
            <a:noAutofit/>
          </a:bodyPr>
          <a:lstStyle/>
          <a:p>
            <a:pPr algn="l">
              <a:lnSpc>
                <a:spcPts val="2688"/>
              </a:lnSpc>
              <a:spcBef>
                <a:spcPts val="0"/>
              </a:spcBef>
              <a:spcAft>
                <a:spcPts val="0"/>
              </a:spcAft>
            </a:pPr>
            <a:r>
              <a:rPr sz="2100" b="1" i="0" lang="es-CO">
                <a:solidFill>
                  <a:srgbClr val="F4C430"/>
                </a:solidFill>
                <a:latin typeface="Caveat"/>
              </a:rPr>
              <a:t>$12.000</a:t>
            </a:r>
          </a:p>
        </p:txBody>
      </p:sp>
      <p:cxnSp>
        <p:nvCxnSpPr>
          <p:cNvPr id="19" name="Connector 18"/>
          <p:cNvCxnSpPr/>
          <p:nvPr/>
        </p:nvCxnSpPr>
        <p:spPr>
          <a:xfrm>
            <a:off x="926592" y="4590288"/>
            <a:ext cx="6925056" cy="0"/>
          </a:xfrm>
          <a:prstGeom prst="line">
            <a:avLst/>
          </a:prstGeom>
          <a:ln w="12192" cap="flat">
            <a:solidFill>
              <a:srgbClr val="3C4C40"/>
            </a:solidFill>
            <a:prstDash val="dash"/>
          </a:ln>
        </p:spPr>
      </p:cxnSp>
      <p:sp>
        <p:nvSpPr>
          <p:cNvPr id="20" name="TextBox 19"/>
          <p:cNvSpPr txBox="1"/>
          <p:nvPr/>
        </p:nvSpPr>
        <p:spPr>
          <a:xfrm>
            <a:off x="926592" y="4120896"/>
            <a:ext cx="1220210" cy="341376"/>
          </a:xfrm>
          <a:prstGeom prst="rect">
            <a:avLst/>
          </a:prstGeom>
          <a:noFill/>
        </p:spPr>
        <p:txBody>
          <a:bodyPr wrap="none" lIns="0" rIns="0" tIns="0" bIns="0" anchor="t">
            <a:noAutofit/>
          </a:bodyPr>
          <a:lstStyle/>
          <a:p>
            <a:pPr algn="l">
              <a:lnSpc>
                <a:spcPts val="2688"/>
              </a:lnSpc>
              <a:spcBef>
                <a:spcPts val="0"/>
              </a:spcBef>
              <a:spcAft>
                <a:spcPts val="0"/>
              </a:spcAft>
            </a:pPr>
            <a:r>
              <a:rPr sz="2100" b="0" i="0" lang="es-CO">
                <a:solidFill>
                  <a:srgbClr val="F5F1E4"/>
                </a:solidFill>
                <a:latin typeface="Caveat"/>
              </a:rPr>
              <a:t>Juan Garzón</a:t>
            </a:r>
          </a:p>
        </p:txBody>
      </p:sp>
      <p:sp>
        <p:nvSpPr>
          <p:cNvPr id="21" name="TextBox 20"/>
          <p:cNvSpPr txBox="1"/>
          <p:nvPr/>
        </p:nvSpPr>
        <p:spPr>
          <a:xfrm>
            <a:off x="7074218" y="4120896"/>
            <a:ext cx="874966" cy="341376"/>
          </a:xfrm>
          <a:prstGeom prst="rect">
            <a:avLst/>
          </a:prstGeom>
          <a:noFill/>
        </p:spPr>
        <p:txBody>
          <a:bodyPr wrap="none" lIns="0" rIns="0" tIns="0" bIns="0" anchor="t">
            <a:noAutofit/>
          </a:bodyPr>
          <a:lstStyle/>
          <a:p>
            <a:pPr algn="l">
              <a:lnSpc>
                <a:spcPts val="2688"/>
              </a:lnSpc>
              <a:spcBef>
                <a:spcPts val="0"/>
              </a:spcBef>
              <a:spcAft>
                <a:spcPts val="0"/>
              </a:spcAft>
            </a:pPr>
            <a:r>
              <a:rPr sz="2100" b="1" i="0" lang="es-CO">
                <a:solidFill>
                  <a:srgbClr val="F4C430"/>
                </a:solidFill>
                <a:latin typeface="Caveat"/>
              </a:rPr>
              <a:t>$14.000</a:t>
            </a:r>
          </a:p>
        </p:txBody>
      </p:sp>
      <p:sp>
        <p:nvSpPr>
          <p:cNvPr id="22" name="TextBox 21"/>
          <p:cNvSpPr txBox="1"/>
          <p:nvPr/>
        </p:nvSpPr>
        <p:spPr>
          <a:xfrm>
            <a:off x="926592" y="4718304"/>
            <a:ext cx="1673257" cy="341376"/>
          </a:xfrm>
          <a:prstGeom prst="rect">
            <a:avLst/>
          </a:prstGeom>
          <a:noFill/>
        </p:spPr>
        <p:txBody>
          <a:bodyPr wrap="none" lIns="0" rIns="0" tIns="0" bIns="0" anchor="t">
            <a:noAutofit/>
          </a:bodyPr>
          <a:lstStyle/>
          <a:p>
            <a:pPr algn="l">
              <a:lnSpc>
                <a:spcPts val="2688"/>
              </a:lnSpc>
              <a:spcBef>
                <a:spcPts val="0"/>
              </a:spcBef>
              <a:spcAft>
                <a:spcPts val="0"/>
              </a:spcAft>
            </a:pPr>
            <a:r>
              <a:rPr sz="2100" b="0" i="0" lang="es-CO">
                <a:solidFill>
                  <a:srgbClr val="F5F1E4"/>
                </a:solidFill>
                <a:latin typeface="Caveat"/>
              </a:rPr>
              <a:t>Daniel Mosquera</a:t>
            </a:r>
          </a:p>
        </p:txBody>
      </p:sp>
      <p:sp>
        <p:nvSpPr>
          <p:cNvPr id="23" name="TextBox 22"/>
          <p:cNvSpPr txBox="1"/>
          <p:nvPr/>
        </p:nvSpPr>
        <p:spPr>
          <a:xfrm>
            <a:off x="7074218" y="4718304"/>
            <a:ext cx="874966" cy="341376"/>
          </a:xfrm>
          <a:prstGeom prst="rect">
            <a:avLst/>
          </a:prstGeom>
          <a:noFill/>
        </p:spPr>
        <p:txBody>
          <a:bodyPr wrap="none" lIns="0" rIns="0" tIns="0" bIns="0" anchor="t">
            <a:noAutofit/>
          </a:bodyPr>
          <a:lstStyle/>
          <a:p>
            <a:pPr algn="l">
              <a:lnSpc>
                <a:spcPts val="2688"/>
              </a:lnSpc>
              <a:spcBef>
                <a:spcPts val="0"/>
              </a:spcBef>
              <a:spcAft>
                <a:spcPts val="0"/>
              </a:spcAft>
            </a:pPr>
            <a:r>
              <a:rPr sz="2100" b="1" i="0" lang="es-CO">
                <a:solidFill>
                  <a:srgbClr val="F4C430"/>
                </a:solidFill>
                <a:latin typeface="Caveat"/>
              </a:rPr>
              <a:t>$13.000</a:t>
            </a:r>
          </a:p>
        </p:txBody>
      </p:sp>
      <p:cxnSp>
        <p:nvCxnSpPr>
          <p:cNvPr id="24" name="Connector 23"/>
          <p:cNvCxnSpPr/>
          <p:nvPr/>
        </p:nvCxnSpPr>
        <p:spPr>
          <a:xfrm>
            <a:off x="487680" y="6327648"/>
            <a:ext cx="11216640" cy="0"/>
          </a:xfrm>
          <a:prstGeom prst="line">
            <a:avLst/>
          </a:prstGeom>
          <a:ln w="24384" cap="flat">
            <a:solidFill>
              <a:srgbClr val="D8C39C"/>
            </a:solidFill>
          </a:ln>
        </p:spPr>
      </p:cxnSp>
      <p:sp>
        <p:nvSpPr>
          <p:cNvPr id="25" name="TextBox 24"/>
          <p:cNvSpPr txBox="1"/>
          <p:nvPr/>
        </p:nvSpPr>
        <p:spPr>
          <a:xfrm>
            <a:off x="487680" y="6486144"/>
            <a:ext cx="2844013"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Brand Guidelines</a:t>
            </a:r>
          </a:p>
        </p:txBody>
      </p:sp>
      <p:sp>
        <p:nvSpPr>
          <p:cNvPr id="26" name="TextBox 25"/>
          <p:cNvSpPr txBox="1"/>
          <p:nvPr/>
        </p:nvSpPr>
        <p:spPr>
          <a:xfrm>
            <a:off x="11255312" y="6486144"/>
            <a:ext cx="546544"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01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39458"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a:t>
            </a:r>
          </a:p>
        </p:txBody>
      </p:sp>
      <p:sp>
        <p:nvSpPr>
          <p:cNvPr id="5" name="TextBox 4"/>
          <p:cNvSpPr txBox="1"/>
          <p:nvPr/>
        </p:nvSpPr>
        <p:spPr>
          <a:xfrm>
            <a:off x="1190434" y="365760"/>
            <a:ext cx="1118578"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Contenido</a:t>
            </a:r>
          </a:p>
        </p:txBody>
      </p:sp>
      <p:sp>
        <p:nvSpPr>
          <p:cNvPr id="6" name="TextBox 5"/>
          <p:cNvSpPr txBox="1"/>
          <p:nvPr/>
        </p:nvSpPr>
        <p:spPr>
          <a:xfrm>
            <a:off x="487680" y="713232"/>
            <a:ext cx="1752048" cy="548640"/>
          </a:xfrm>
          <a:prstGeom prst="rect">
            <a:avLst/>
          </a:prstGeom>
          <a:noFill/>
        </p:spPr>
        <p:txBody>
          <a:bodyPr wrap="none" lIns="0" rIns="0" tIns="0" bIns="0" anchor="t">
            <a:noAutofit/>
          </a:bodyPr>
          <a:lstStyle/>
          <a:p>
            <a:pPr algn="l">
              <a:lnSpc>
                <a:spcPts val="4320"/>
              </a:lnSpc>
              <a:spcBef>
                <a:spcPts val="0"/>
              </a:spcBef>
              <a:spcAft>
                <a:spcPts val="0"/>
              </a:spcAft>
            </a:pPr>
            <a:r>
              <a:rPr sz="4325" b="1" i="0" lang="es-CO">
                <a:solidFill>
                  <a:srgbClr val="2B2117"/>
                </a:solidFill>
                <a:latin typeface="Playfair Display"/>
              </a:rPr>
              <a:t>Índice</a:t>
            </a:r>
          </a:p>
        </p:txBody>
      </p:sp>
      <p:sp>
        <p:nvSpPr>
          <p:cNvPr id="7" name="TextBox 6"/>
          <p:cNvSpPr txBox="1"/>
          <p:nvPr/>
        </p:nvSpPr>
        <p:spPr>
          <a:xfrm>
            <a:off x="487680" y="1261872"/>
            <a:ext cx="3273590" cy="548640"/>
          </a:xfrm>
          <a:prstGeom prst="rect">
            <a:avLst/>
          </a:prstGeom>
          <a:noFill/>
        </p:spPr>
        <p:txBody>
          <a:bodyPr wrap="none" lIns="0" rIns="0" tIns="0" bIns="0" anchor="t">
            <a:noAutofit/>
          </a:bodyPr>
          <a:lstStyle/>
          <a:p>
            <a:pPr algn="l">
              <a:lnSpc>
                <a:spcPts val="4320"/>
              </a:lnSpc>
              <a:spcBef>
                <a:spcPts val="0"/>
              </a:spcBef>
              <a:spcAft>
                <a:spcPts val="0"/>
              </a:spcAft>
            </a:pPr>
            <a:r>
              <a:rPr sz="4325" b="1" i="0" lang="es-CO">
                <a:solidFill>
                  <a:srgbClr val="4A9C55"/>
                </a:solidFill>
                <a:latin typeface="Playfair Display"/>
              </a:rPr>
              <a:t>del sistema.</a:t>
            </a:r>
          </a:p>
        </p:txBody>
      </p:sp>
      <p:sp>
        <p:nvSpPr>
          <p:cNvPr id="8" name="Rounded Rectangle 7"/>
          <p:cNvSpPr/>
          <p:nvPr/>
        </p:nvSpPr>
        <p:spPr>
          <a:xfrm>
            <a:off x="487680" y="2121408"/>
            <a:ext cx="5498592" cy="3633216"/>
          </a:xfrm>
          <a:prstGeom prst="roundRect">
            <a:avLst>
              <a:gd name="adj" fmla="val 2013"/>
            </a:avLst>
          </a:prstGeom>
          <a:solidFill>
            <a:srgbClr val="D8C39C"/>
          </a:solidFill>
          <a:ln>
            <a:noFill/>
          </a:ln>
        </p:spPr>
        <p:txBody>
          <a:bodyPr rtlCol="0" anchor="ctr"/>
          <a:lstStyle/>
          <a:p>
            <a:pPr algn="ctr"/>
          </a:p>
        </p:txBody>
      </p:sp>
      <p:sp>
        <p:nvSpPr>
          <p:cNvPr id="9" name="Rounded Rectangle 8"/>
          <p:cNvSpPr/>
          <p:nvPr/>
        </p:nvSpPr>
        <p:spPr>
          <a:xfrm>
            <a:off x="493776" y="2090928"/>
            <a:ext cx="5486400" cy="3621024"/>
          </a:xfrm>
          <a:prstGeom prst="roundRect">
            <a:avLst>
              <a:gd name="adj" fmla="val 1851"/>
            </a:avLst>
          </a:prstGeom>
          <a:solidFill>
            <a:srgbClr val="EFE0C2"/>
          </a:solidFill>
          <a:ln w="12192" cap="flat">
            <a:solidFill>
              <a:srgbClr val="D8C39C"/>
            </a:solidFill>
          </a:ln>
        </p:spPr>
        <p:txBody>
          <a:bodyPr rtlCol="0" anchor="ctr"/>
          <a:lstStyle/>
          <a:p>
            <a:pPr algn="ctr"/>
          </a:p>
        </p:txBody>
      </p:sp>
      <p:sp>
        <p:nvSpPr>
          <p:cNvPr id="10" name="TextBox 9"/>
          <p:cNvSpPr txBox="1"/>
          <p:nvPr/>
        </p:nvSpPr>
        <p:spPr>
          <a:xfrm>
            <a:off x="768096" y="2365248"/>
            <a:ext cx="2584171"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01 · Portada Brand System</a:t>
            </a:r>
          </a:p>
        </p:txBody>
      </p:sp>
      <p:sp>
        <p:nvSpPr>
          <p:cNvPr id="11" name="TextBox 10"/>
          <p:cNvSpPr txBox="1"/>
          <p:nvPr/>
        </p:nvSpPr>
        <p:spPr>
          <a:xfrm>
            <a:off x="768096" y="2767584"/>
            <a:ext cx="2600516"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02 · La Marca OllaCercana</a:t>
            </a:r>
          </a:p>
        </p:txBody>
      </p:sp>
      <p:sp>
        <p:nvSpPr>
          <p:cNvPr id="12" name="Rounded Rectangle 11"/>
          <p:cNvSpPr/>
          <p:nvPr/>
        </p:nvSpPr>
        <p:spPr>
          <a:xfrm>
            <a:off x="4584764" y="2767584"/>
            <a:ext cx="1121092" cy="256032"/>
          </a:xfrm>
          <a:prstGeom prst="roundRect">
            <a:avLst>
              <a:gd name="adj" fmla="val 50000"/>
            </a:avLst>
          </a:prstGeom>
          <a:solidFill>
            <a:srgbClr val="4A9C55"/>
          </a:solidFill>
          <a:ln>
            <a:noFill/>
          </a:ln>
        </p:spPr>
        <p:txBody>
          <a:bodyPr rtlCol="0" anchor="ctr"/>
          <a:lstStyle/>
          <a:p>
            <a:pPr algn="ctr"/>
          </a:p>
        </p:txBody>
      </p:sp>
      <p:sp>
        <p:nvSpPr>
          <p:cNvPr id="13" name="TextBox 12"/>
          <p:cNvSpPr txBox="1"/>
          <p:nvPr/>
        </p:nvSpPr>
        <p:spPr>
          <a:xfrm>
            <a:off x="4706684" y="2828544"/>
            <a:ext cx="974788"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Introducción</a:t>
            </a:r>
          </a:p>
        </p:txBody>
      </p:sp>
      <p:sp>
        <p:nvSpPr>
          <p:cNvPr id="14" name="TextBox 13"/>
          <p:cNvSpPr txBox="1"/>
          <p:nvPr/>
        </p:nvSpPr>
        <p:spPr>
          <a:xfrm>
            <a:off x="768096" y="3169920"/>
            <a:ext cx="2033473"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03 · Identidad Verbal</a:t>
            </a:r>
          </a:p>
        </p:txBody>
      </p:sp>
      <p:sp>
        <p:nvSpPr>
          <p:cNvPr id="15" name="Rounded Rectangle 14"/>
          <p:cNvSpPr/>
          <p:nvPr/>
        </p:nvSpPr>
        <p:spPr>
          <a:xfrm>
            <a:off x="4325302" y="3169920"/>
            <a:ext cx="1380554" cy="256032"/>
          </a:xfrm>
          <a:prstGeom prst="roundRect">
            <a:avLst>
              <a:gd name="adj" fmla="val 50000"/>
            </a:avLst>
          </a:prstGeom>
          <a:solidFill>
            <a:srgbClr val="4A9C55"/>
          </a:solidFill>
          <a:ln>
            <a:noFill/>
          </a:ln>
        </p:spPr>
        <p:txBody>
          <a:bodyPr rtlCol="0" anchor="ctr"/>
          <a:lstStyle/>
          <a:p>
            <a:pPr algn="ctr"/>
          </a:p>
        </p:txBody>
      </p:sp>
      <p:sp>
        <p:nvSpPr>
          <p:cNvPr id="16" name="TextBox 15"/>
          <p:cNvSpPr txBox="1"/>
          <p:nvPr/>
        </p:nvSpPr>
        <p:spPr>
          <a:xfrm>
            <a:off x="4447222" y="3230880"/>
            <a:ext cx="1250385"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Nombre y Eslogan</a:t>
            </a:r>
          </a:p>
        </p:txBody>
      </p:sp>
      <p:sp>
        <p:nvSpPr>
          <p:cNvPr id="17" name="TextBox 16"/>
          <p:cNvSpPr txBox="1"/>
          <p:nvPr/>
        </p:nvSpPr>
        <p:spPr>
          <a:xfrm>
            <a:off x="768096" y="3572256"/>
            <a:ext cx="2296249"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04 · Propósito y Valores</a:t>
            </a:r>
          </a:p>
        </p:txBody>
      </p:sp>
      <p:sp>
        <p:nvSpPr>
          <p:cNvPr id="18" name="Rounded Rectangle 17"/>
          <p:cNvSpPr/>
          <p:nvPr/>
        </p:nvSpPr>
        <p:spPr>
          <a:xfrm>
            <a:off x="4593908" y="3572256"/>
            <a:ext cx="1111948" cy="256032"/>
          </a:xfrm>
          <a:prstGeom prst="roundRect">
            <a:avLst>
              <a:gd name="adj" fmla="val 50000"/>
            </a:avLst>
          </a:prstGeom>
          <a:solidFill>
            <a:srgbClr val="4A9C55"/>
          </a:solidFill>
          <a:ln>
            <a:noFill/>
          </a:ln>
        </p:spPr>
        <p:txBody>
          <a:bodyPr rtlCol="0" anchor="ctr"/>
          <a:lstStyle/>
          <a:p>
            <a:pPr algn="ctr"/>
          </a:p>
        </p:txBody>
      </p:sp>
      <p:sp>
        <p:nvSpPr>
          <p:cNvPr id="19" name="TextBox 18"/>
          <p:cNvSpPr txBox="1"/>
          <p:nvPr/>
        </p:nvSpPr>
        <p:spPr>
          <a:xfrm>
            <a:off x="4715828" y="3633216"/>
            <a:ext cx="965644"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Fundamentos</a:t>
            </a:r>
          </a:p>
        </p:txBody>
      </p:sp>
      <p:sp>
        <p:nvSpPr>
          <p:cNvPr id="20" name="TextBox 19"/>
          <p:cNvSpPr txBox="1"/>
          <p:nvPr/>
        </p:nvSpPr>
        <p:spPr>
          <a:xfrm>
            <a:off x="768096" y="3974592"/>
            <a:ext cx="2596953"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05 · Estrategia de Mercado</a:t>
            </a:r>
          </a:p>
        </p:txBody>
      </p:sp>
      <p:sp>
        <p:nvSpPr>
          <p:cNvPr id="21" name="Rounded Rectangle 20"/>
          <p:cNvSpPr/>
          <p:nvPr/>
        </p:nvSpPr>
        <p:spPr>
          <a:xfrm>
            <a:off x="4391025" y="3974592"/>
            <a:ext cx="1314831" cy="256032"/>
          </a:xfrm>
          <a:prstGeom prst="roundRect">
            <a:avLst>
              <a:gd name="adj" fmla="val 50000"/>
            </a:avLst>
          </a:prstGeom>
          <a:solidFill>
            <a:srgbClr val="4A9C55"/>
          </a:solidFill>
          <a:ln>
            <a:noFill/>
          </a:ln>
        </p:spPr>
        <p:txBody>
          <a:bodyPr rtlCol="0" anchor="ctr"/>
          <a:lstStyle/>
          <a:p>
            <a:pPr algn="ctr"/>
          </a:p>
        </p:txBody>
      </p:sp>
      <p:sp>
        <p:nvSpPr>
          <p:cNvPr id="22" name="TextBox 21"/>
          <p:cNvSpPr txBox="1"/>
          <p:nvPr/>
        </p:nvSpPr>
        <p:spPr>
          <a:xfrm>
            <a:off x="4512945" y="4035552"/>
            <a:ext cx="1178090"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Público Objetivo</a:t>
            </a:r>
          </a:p>
        </p:txBody>
      </p:sp>
      <p:sp>
        <p:nvSpPr>
          <p:cNvPr id="23" name="TextBox 22"/>
          <p:cNvSpPr txBox="1"/>
          <p:nvPr/>
        </p:nvSpPr>
        <p:spPr>
          <a:xfrm>
            <a:off x="768096" y="4376928"/>
            <a:ext cx="2414854"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06 · Construcción Visual</a:t>
            </a:r>
          </a:p>
        </p:txBody>
      </p:sp>
      <p:sp>
        <p:nvSpPr>
          <p:cNvPr id="24" name="Rounded Rectangle 23"/>
          <p:cNvSpPr/>
          <p:nvPr/>
        </p:nvSpPr>
        <p:spPr>
          <a:xfrm>
            <a:off x="4866322" y="4376928"/>
            <a:ext cx="839534" cy="256032"/>
          </a:xfrm>
          <a:prstGeom prst="roundRect">
            <a:avLst>
              <a:gd name="adj" fmla="val 50000"/>
            </a:avLst>
          </a:prstGeom>
          <a:solidFill>
            <a:srgbClr val="F0822D"/>
          </a:solidFill>
          <a:ln>
            <a:noFill/>
          </a:ln>
        </p:spPr>
        <p:txBody>
          <a:bodyPr rtlCol="0" anchor="ctr"/>
          <a:lstStyle/>
          <a:p>
            <a:pPr algn="ctr"/>
          </a:p>
        </p:txBody>
      </p:sp>
      <p:sp>
        <p:nvSpPr>
          <p:cNvPr id="25" name="TextBox 24"/>
          <p:cNvSpPr txBox="1"/>
          <p:nvPr/>
        </p:nvSpPr>
        <p:spPr>
          <a:xfrm>
            <a:off x="4988242" y="4437888"/>
            <a:ext cx="693230"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Logotipo</a:t>
            </a:r>
          </a:p>
        </p:txBody>
      </p:sp>
      <p:sp>
        <p:nvSpPr>
          <p:cNvPr id="26" name="TextBox 25"/>
          <p:cNvSpPr txBox="1"/>
          <p:nvPr/>
        </p:nvSpPr>
        <p:spPr>
          <a:xfrm>
            <a:off x="768096" y="4779264"/>
            <a:ext cx="2618746"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07 · Área de Reserva y Usos</a:t>
            </a:r>
          </a:p>
        </p:txBody>
      </p:sp>
      <p:sp>
        <p:nvSpPr>
          <p:cNvPr id="27" name="Rounded Rectangle 26"/>
          <p:cNvSpPr/>
          <p:nvPr/>
        </p:nvSpPr>
        <p:spPr>
          <a:xfrm>
            <a:off x="4706302" y="4779264"/>
            <a:ext cx="999554" cy="256032"/>
          </a:xfrm>
          <a:prstGeom prst="roundRect">
            <a:avLst>
              <a:gd name="adj" fmla="val 50000"/>
            </a:avLst>
          </a:prstGeom>
          <a:solidFill>
            <a:srgbClr val="F0822D"/>
          </a:solidFill>
          <a:ln>
            <a:noFill/>
          </a:ln>
        </p:spPr>
        <p:txBody>
          <a:bodyPr rtlCol="0" anchor="ctr"/>
          <a:lstStyle/>
          <a:p>
            <a:pPr algn="ctr"/>
          </a:p>
        </p:txBody>
      </p:sp>
      <p:sp>
        <p:nvSpPr>
          <p:cNvPr id="28" name="TextBox 27"/>
          <p:cNvSpPr txBox="1"/>
          <p:nvPr/>
        </p:nvSpPr>
        <p:spPr>
          <a:xfrm>
            <a:off x="4828222" y="4840224"/>
            <a:ext cx="853250"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Planimetría</a:t>
            </a:r>
          </a:p>
        </p:txBody>
      </p:sp>
      <p:sp>
        <p:nvSpPr>
          <p:cNvPr id="29" name="TextBox 28"/>
          <p:cNvSpPr txBox="1"/>
          <p:nvPr/>
        </p:nvSpPr>
        <p:spPr>
          <a:xfrm>
            <a:off x="768096" y="5181600"/>
            <a:ext cx="2120227"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08 · Paleta de Colores</a:t>
            </a:r>
          </a:p>
        </p:txBody>
      </p:sp>
      <p:sp>
        <p:nvSpPr>
          <p:cNvPr id="30" name="Rounded Rectangle 29"/>
          <p:cNvSpPr/>
          <p:nvPr/>
        </p:nvSpPr>
        <p:spPr>
          <a:xfrm>
            <a:off x="4504563" y="5181600"/>
            <a:ext cx="1201293" cy="256032"/>
          </a:xfrm>
          <a:prstGeom prst="roundRect">
            <a:avLst>
              <a:gd name="adj" fmla="val 50000"/>
            </a:avLst>
          </a:prstGeom>
          <a:solidFill>
            <a:srgbClr val="F0822D"/>
          </a:solidFill>
          <a:ln>
            <a:noFill/>
          </a:ln>
        </p:spPr>
        <p:txBody>
          <a:bodyPr rtlCol="0" anchor="ctr"/>
          <a:lstStyle/>
          <a:p>
            <a:pPr algn="ctr"/>
          </a:p>
        </p:txBody>
      </p:sp>
      <p:sp>
        <p:nvSpPr>
          <p:cNvPr id="31" name="TextBox 30"/>
          <p:cNvSpPr txBox="1"/>
          <p:nvPr/>
        </p:nvSpPr>
        <p:spPr>
          <a:xfrm>
            <a:off x="4626483" y="5242560"/>
            <a:ext cx="1054989"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CMYK / Pantone</a:t>
            </a:r>
          </a:p>
        </p:txBody>
      </p:sp>
      <p:sp>
        <p:nvSpPr>
          <p:cNvPr id="32" name="Rounded Rectangle 31"/>
          <p:cNvSpPr/>
          <p:nvPr/>
        </p:nvSpPr>
        <p:spPr>
          <a:xfrm>
            <a:off x="6205728" y="2121408"/>
            <a:ext cx="5498592" cy="3633216"/>
          </a:xfrm>
          <a:prstGeom prst="roundRect">
            <a:avLst>
              <a:gd name="adj" fmla="val 2013"/>
            </a:avLst>
          </a:prstGeom>
          <a:solidFill>
            <a:srgbClr val="D8C39C"/>
          </a:solidFill>
          <a:ln>
            <a:noFill/>
          </a:ln>
        </p:spPr>
        <p:txBody>
          <a:bodyPr rtlCol="0" anchor="ctr"/>
          <a:lstStyle/>
          <a:p>
            <a:pPr algn="ctr"/>
          </a:p>
        </p:txBody>
      </p:sp>
      <p:sp>
        <p:nvSpPr>
          <p:cNvPr id="33" name="Rounded Rectangle 32"/>
          <p:cNvSpPr/>
          <p:nvPr/>
        </p:nvSpPr>
        <p:spPr>
          <a:xfrm>
            <a:off x="6211824" y="2090928"/>
            <a:ext cx="5486400" cy="3621024"/>
          </a:xfrm>
          <a:prstGeom prst="roundRect">
            <a:avLst>
              <a:gd name="adj" fmla="val 1851"/>
            </a:avLst>
          </a:prstGeom>
          <a:solidFill>
            <a:srgbClr val="EFE0C2"/>
          </a:solidFill>
          <a:ln w="12192" cap="flat">
            <a:solidFill>
              <a:srgbClr val="D8C39C"/>
            </a:solidFill>
          </a:ln>
        </p:spPr>
        <p:txBody>
          <a:bodyPr rtlCol="0" anchor="ctr"/>
          <a:lstStyle/>
          <a:p>
            <a:pPr algn="ctr"/>
          </a:p>
        </p:txBody>
      </p:sp>
      <p:sp>
        <p:nvSpPr>
          <p:cNvPr id="34" name="TextBox 33"/>
          <p:cNvSpPr txBox="1"/>
          <p:nvPr/>
        </p:nvSpPr>
        <p:spPr>
          <a:xfrm>
            <a:off x="6486144" y="2365248"/>
            <a:ext cx="2072030"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09 · Lenguaje Escrito</a:t>
            </a:r>
          </a:p>
        </p:txBody>
      </p:sp>
      <p:sp>
        <p:nvSpPr>
          <p:cNvPr id="35" name="Rounded Rectangle 34"/>
          <p:cNvSpPr/>
          <p:nvPr/>
        </p:nvSpPr>
        <p:spPr>
          <a:xfrm>
            <a:off x="10487596" y="2365248"/>
            <a:ext cx="936308" cy="256032"/>
          </a:xfrm>
          <a:prstGeom prst="roundRect">
            <a:avLst>
              <a:gd name="adj" fmla="val 50000"/>
            </a:avLst>
          </a:prstGeom>
          <a:solidFill>
            <a:srgbClr val="F0822D"/>
          </a:solidFill>
          <a:ln>
            <a:noFill/>
          </a:ln>
        </p:spPr>
        <p:txBody>
          <a:bodyPr rtlCol="0" anchor="ctr"/>
          <a:lstStyle/>
          <a:p>
            <a:pPr algn="ctr"/>
          </a:p>
        </p:txBody>
      </p:sp>
      <p:sp>
        <p:nvSpPr>
          <p:cNvPr id="36" name="TextBox 35"/>
          <p:cNvSpPr txBox="1"/>
          <p:nvPr/>
        </p:nvSpPr>
        <p:spPr>
          <a:xfrm>
            <a:off x="10609516" y="2426208"/>
            <a:ext cx="790004"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Tipografía</a:t>
            </a:r>
          </a:p>
        </p:txBody>
      </p:sp>
      <p:sp>
        <p:nvSpPr>
          <p:cNvPr id="37" name="TextBox 36"/>
          <p:cNvSpPr txBox="1"/>
          <p:nvPr/>
        </p:nvSpPr>
        <p:spPr>
          <a:xfrm>
            <a:off x="6486144" y="2767584"/>
            <a:ext cx="1521962"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10 · Iconografía</a:t>
            </a:r>
          </a:p>
        </p:txBody>
      </p:sp>
      <p:sp>
        <p:nvSpPr>
          <p:cNvPr id="38" name="Rounded Rectangle 37"/>
          <p:cNvSpPr/>
          <p:nvPr/>
        </p:nvSpPr>
        <p:spPr>
          <a:xfrm>
            <a:off x="10310432" y="2767584"/>
            <a:ext cx="1113472" cy="256032"/>
          </a:xfrm>
          <a:prstGeom prst="roundRect">
            <a:avLst>
              <a:gd name="adj" fmla="val 50000"/>
            </a:avLst>
          </a:prstGeom>
          <a:solidFill>
            <a:srgbClr val="F0822D"/>
          </a:solidFill>
          <a:ln>
            <a:noFill/>
          </a:ln>
        </p:spPr>
        <p:txBody>
          <a:bodyPr rtlCol="0" anchor="ctr"/>
          <a:lstStyle/>
          <a:p>
            <a:pPr algn="ctr"/>
          </a:p>
        </p:txBody>
      </p:sp>
      <p:sp>
        <p:nvSpPr>
          <p:cNvPr id="39" name="TextBox 38"/>
          <p:cNvSpPr txBox="1"/>
          <p:nvPr/>
        </p:nvSpPr>
        <p:spPr>
          <a:xfrm>
            <a:off x="10432352" y="2828544"/>
            <a:ext cx="967168"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Guía de Estilo</a:t>
            </a:r>
          </a:p>
        </p:txBody>
      </p:sp>
      <p:sp>
        <p:nvSpPr>
          <p:cNvPr id="40" name="TextBox 39"/>
          <p:cNvSpPr txBox="1"/>
          <p:nvPr/>
        </p:nvSpPr>
        <p:spPr>
          <a:xfrm>
            <a:off x="6486144" y="3169920"/>
            <a:ext cx="2358695"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11 · Interfaz de Producto</a:t>
            </a:r>
          </a:p>
        </p:txBody>
      </p:sp>
      <p:sp>
        <p:nvSpPr>
          <p:cNvPr id="41" name="Rounded Rectangle 40"/>
          <p:cNvSpPr/>
          <p:nvPr/>
        </p:nvSpPr>
        <p:spPr>
          <a:xfrm>
            <a:off x="10117264" y="3169920"/>
            <a:ext cx="1306640" cy="256032"/>
          </a:xfrm>
          <a:prstGeom prst="roundRect">
            <a:avLst>
              <a:gd name="adj" fmla="val 50000"/>
            </a:avLst>
          </a:prstGeom>
          <a:solidFill>
            <a:srgbClr val="F0822D"/>
          </a:solidFill>
          <a:ln>
            <a:noFill/>
          </a:ln>
        </p:spPr>
        <p:txBody>
          <a:bodyPr rtlCol="0" anchor="ctr"/>
          <a:lstStyle/>
          <a:p>
            <a:pPr algn="ctr"/>
          </a:p>
        </p:txBody>
      </p:sp>
      <p:sp>
        <p:nvSpPr>
          <p:cNvPr id="42" name="TextBox 41"/>
          <p:cNvSpPr txBox="1"/>
          <p:nvPr/>
        </p:nvSpPr>
        <p:spPr>
          <a:xfrm>
            <a:off x="10239184" y="3230880"/>
            <a:ext cx="1169079"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Interfaz vigente</a:t>
            </a:r>
          </a:p>
        </p:txBody>
      </p:sp>
      <p:sp>
        <p:nvSpPr>
          <p:cNvPr id="43" name="TextBox 42"/>
          <p:cNvSpPr txBox="1"/>
          <p:nvPr/>
        </p:nvSpPr>
        <p:spPr>
          <a:xfrm>
            <a:off x="6486144" y="3572256"/>
            <a:ext cx="2079155"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12 · Dirección de Arte</a:t>
            </a:r>
          </a:p>
        </p:txBody>
      </p:sp>
      <p:sp>
        <p:nvSpPr>
          <p:cNvPr id="44" name="Rounded Rectangle 43"/>
          <p:cNvSpPr/>
          <p:nvPr/>
        </p:nvSpPr>
        <p:spPr>
          <a:xfrm>
            <a:off x="10444544" y="3572256"/>
            <a:ext cx="979360" cy="256032"/>
          </a:xfrm>
          <a:prstGeom prst="roundRect">
            <a:avLst>
              <a:gd name="adj" fmla="val 50000"/>
            </a:avLst>
          </a:prstGeom>
          <a:solidFill>
            <a:srgbClr val="F0822D"/>
          </a:solidFill>
          <a:ln>
            <a:noFill/>
          </a:ln>
        </p:spPr>
        <p:txBody>
          <a:bodyPr rtlCol="0" anchor="ctr"/>
          <a:lstStyle/>
          <a:p>
            <a:pPr algn="ctr"/>
          </a:p>
        </p:txBody>
      </p:sp>
      <p:sp>
        <p:nvSpPr>
          <p:cNvPr id="45" name="TextBox 44"/>
          <p:cNvSpPr txBox="1"/>
          <p:nvPr/>
        </p:nvSpPr>
        <p:spPr>
          <a:xfrm>
            <a:off x="10566464" y="3633216"/>
            <a:ext cx="833056"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Fotografía</a:t>
            </a:r>
          </a:p>
        </p:txBody>
      </p:sp>
      <p:sp>
        <p:nvSpPr>
          <p:cNvPr id="46" name="TextBox 45"/>
          <p:cNvSpPr txBox="1"/>
          <p:nvPr/>
        </p:nvSpPr>
        <p:spPr>
          <a:xfrm>
            <a:off x="6486144" y="3974592"/>
            <a:ext cx="2120646"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13 · Producción Física</a:t>
            </a:r>
          </a:p>
        </p:txBody>
      </p:sp>
      <p:sp>
        <p:nvSpPr>
          <p:cNvPr id="47" name="Rounded Rectangle 46"/>
          <p:cNvSpPr/>
          <p:nvPr/>
        </p:nvSpPr>
        <p:spPr>
          <a:xfrm>
            <a:off x="10513314" y="3974592"/>
            <a:ext cx="910590" cy="256032"/>
          </a:xfrm>
          <a:prstGeom prst="roundRect">
            <a:avLst>
              <a:gd name="adj" fmla="val 50000"/>
            </a:avLst>
          </a:prstGeom>
          <a:solidFill>
            <a:srgbClr val="F0822D"/>
          </a:solidFill>
          <a:ln>
            <a:noFill/>
          </a:ln>
        </p:spPr>
        <p:txBody>
          <a:bodyPr rtlCol="0" anchor="ctr"/>
          <a:lstStyle/>
          <a:p>
            <a:pPr algn="ctr"/>
          </a:p>
        </p:txBody>
      </p:sp>
      <p:sp>
        <p:nvSpPr>
          <p:cNvPr id="48" name="TextBox 47"/>
          <p:cNvSpPr txBox="1"/>
          <p:nvPr/>
        </p:nvSpPr>
        <p:spPr>
          <a:xfrm>
            <a:off x="10635234" y="4035552"/>
            <a:ext cx="764286"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Packaging</a:t>
            </a:r>
          </a:p>
        </p:txBody>
      </p:sp>
      <p:sp>
        <p:nvSpPr>
          <p:cNvPr id="49" name="TextBox 48"/>
          <p:cNvSpPr txBox="1"/>
          <p:nvPr/>
        </p:nvSpPr>
        <p:spPr>
          <a:xfrm>
            <a:off x="6486144" y="4376928"/>
            <a:ext cx="2289334"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14 · Personaje de Marca</a:t>
            </a:r>
          </a:p>
        </p:txBody>
      </p:sp>
      <p:sp>
        <p:nvSpPr>
          <p:cNvPr id="50" name="Rounded Rectangle 49"/>
          <p:cNvSpPr/>
          <p:nvPr/>
        </p:nvSpPr>
        <p:spPr>
          <a:xfrm>
            <a:off x="10404348" y="4376928"/>
            <a:ext cx="1019556" cy="256032"/>
          </a:xfrm>
          <a:prstGeom prst="roundRect">
            <a:avLst>
              <a:gd name="adj" fmla="val 50000"/>
            </a:avLst>
          </a:prstGeom>
          <a:solidFill>
            <a:srgbClr val="F0822D"/>
          </a:solidFill>
          <a:ln>
            <a:noFill/>
          </a:ln>
        </p:spPr>
        <p:txBody>
          <a:bodyPr rtlCol="0" anchor="ctr"/>
          <a:lstStyle/>
          <a:p>
            <a:pPr algn="ctr"/>
          </a:p>
        </p:txBody>
      </p:sp>
      <p:sp>
        <p:nvSpPr>
          <p:cNvPr id="51" name="TextBox 50"/>
          <p:cNvSpPr txBox="1"/>
          <p:nvPr/>
        </p:nvSpPr>
        <p:spPr>
          <a:xfrm>
            <a:off x="10526268" y="4437888"/>
            <a:ext cx="873252"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La Abuela 3D</a:t>
            </a:r>
          </a:p>
        </p:txBody>
      </p:sp>
      <p:sp>
        <p:nvSpPr>
          <p:cNvPr id="52" name="TextBox 51"/>
          <p:cNvSpPr txBox="1"/>
          <p:nvPr/>
        </p:nvSpPr>
        <p:spPr>
          <a:xfrm>
            <a:off x="6486144" y="4779264"/>
            <a:ext cx="2417159"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15 · Referentes de Diseño</a:t>
            </a:r>
          </a:p>
        </p:txBody>
      </p:sp>
      <p:sp>
        <p:nvSpPr>
          <p:cNvPr id="53" name="Rounded Rectangle 52"/>
          <p:cNvSpPr/>
          <p:nvPr/>
        </p:nvSpPr>
        <p:spPr>
          <a:xfrm>
            <a:off x="10460164" y="4779264"/>
            <a:ext cx="963740" cy="256032"/>
          </a:xfrm>
          <a:prstGeom prst="roundRect">
            <a:avLst>
              <a:gd name="adj" fmla="val 50000"/>
            </a:avLst>
          </a:prstGeom>
          <a:solidFill>
            <a:srgbClr val="F0822D"/>
          </a:solidFill>
          <a:ln>
            <a:noFill/>
          </a:ln>
        </p:spPr>
        <p:txBody>
          <a:bodyPr rtlCol="0" anchor="ctr"/>
          <a:lstStyle/>
          <a:p>
            <a:pPr algn="ctr"/>
          </a:p>
        </p:txBody>
      </p:sp>
      <p:sp>
        <p:nvSpPr>
          <p:cNvPr id="54" name="TextBox 53"/>
          <p:cNvSpPr txBox="1"/>
          <p:nvPr/>
        </p:nvSpPr>
        <p:spPr>
          <a:xfrm>
            <a:off x="10582084" y="4840224"/>
            <a:ext cx="817436"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Inspiración</a:t>
            </a:r>
          </a:p>
        </p:txBody>
      </p:sp>
      <p:sp>
        <p:nvSpPr>
          <p:cNvPr id="55" name="TextBox 54"/>
          <p:cNvSpPr txBox="1"/>
          <p:nvPr/>
        </p:nvSpPr>
        <p:spPr>
          <a:xfrm>
            <a:off x="6486144" y="5181600"/>
            <a:ext cx="2176386"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2B2117"/>
                </a:solidFill>
                <a:latin typeface="Playfair Display"/>
              </a:rPr>
              <a:t>16 · Filosofía de Marca</a:t>
            </a:r>
          </a:p>
        </p:txBody>
      </p:sp>
      <p:sp>
        <p:nvSpPr>
          <p:cNvPr id="56" name="Rounded Rectangle 55"/>
          <p:cNvSpPr/>
          <p:nvPr/>
        </p:nvSpPr>
        <p:spPr>
          <a:xfrm>
            <a:off x="10784014" y="5181600"/>
            <a:ext cx="639890" cy="256032"/>
          </a:xfrm>
          <a:prstGeom prst="roundRect">
            <a:avLst>
              <a:gd name="adj" fmla="val 50000"/>
            </a:avLst>
          </a:prstGeom>
          <a:solidFill>
            <a:srgbClr val="F0822D"/>
          </a:solidFill>
          <a:ln>
            <a:noFill/>
          </a:ln>
        </p:spPr>
        <p:txBody>
          <a:bodyPr rtlCol="0" anchor="ctr"/>
          <a:lstStyle/>
          <a:p>
            <a:pPr algn="ctr"/>
          </a:p>
        </p:txBody>
      </p:sp>
      <p:sp>
        <p:nvSpPr>
          <p:cNvPr id="57" name="TextBox 56"/>
          <p:cNvSpPr txBox="1"/>
          <p:nvPr/>
        </p:nvSpPr>
        <p:spPr>
          <a:xfrm>
            <a:off x="10905934" y="5242560"/>
            <a:ext cx="493586" cy="134112"/>
          </a:xfrm>
          <a:prstGeom prst="rect">
            <a:avLst/>
          </a:prstGeom>
          <a:noFill/>
        </p:spPr>
        <p:txBody>
          <a:bodyPr wrap="none" lIns="0" rIns="0" tIns="0" bIns="0" anchor="t">
            <a:noAutofit/>
          </a:bodyPr>
          <a:lstStyle/>
          <a:p>
            <a:pPr algn="l">
              <a:lnSpc>
                <a:spcPts val="1055"/>
              </a:lnSpc>
              <a:spcBef>
                <a:spcPts val="0"/>
              </a:spcBef>
              <a:spcAft>
                <a:spcPts val="0"/>
              </a:spcAft>
            </a:pPr>
            <a:r>
              <a:rPr sz="875" b="1" i="0" lang="es-CO" cap="all" spc="17">
                <a:solidFill>
                  <a:srgbClr val="FFFFFF"/>
                </a:solidFill>
                <a:latin typeface="Outfit"/>
              </a:rPr>
              <a:t>Cierre</a:t>
            </a:r>
          </a:p>
        </p:txBody>
      </p:sp>
      <p:cxnSp>
        <p:nvCxnSpPr>
          <p:cNvPr id="58" name="Connector 57"/>
          <p:cNvCxnSpPr/>
          <p:nvPr/>
        </p:nvCxnSpPr>
        <p:spPr>
          <a:xfrm>
            <a:off x="487680" y="6327648"/>
            <a:ext cx="11216640" cy="0"/>
          </a:xfrm>
          <a:prstGeom prst="line">
            <a:avLst/>
          </a:prstGeom>
          <a:ln w="24384" cap="flat">
            <a:solidFill>
              <a:srgbClr val="D8C39C"/>
            </a:solidFill>
          </a:ln>
        </p:spPr>
      </p:cxnSp>
      <p:sp>
        <p:nvSpPr>
          <p:cNvPr id="59" name="TextBox 58"/>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60" name="TextBox 59"/>
          <p:cNvSpPr txBox="1"/>
          <p:nvPr/>
        </p:nvSpPr>
        <p:spPr>
          <a:xfrm>
            <a:off x="11255312" y="6486144"/>
            <a:ext cx="546544"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01 / 16</a:t>
            </a:r>
          </a:p>
        </p:txBody>
      </p:sp>
      <p:sp>
        <p:nvSpPr>
          <p:cNvPr id="61" name="Enlace s01">
            <a:hlinkClick action="ppaction://hlinksldjump" r:id="rId3"/>
          </p:cNvPr>
          <p:cNvSpPr/>
          <p:nvPr/>
        </p:nvSpPr>
        <p:spPr>
          <a:xfrm>
            <a:off x="768096" y="2365248"/>
            <a:ext cx="4937760" cy="256032"/>
          </a:xfrm>
          <a:prstGeom prst="rect">
            <a:avLst/>
          </a:prstGeom>
          <a:noFill/>
          <a:ln>
            <a:noFill/>
          </a:ln>
        </p:spPr>
        <p:txBody>
          <a:bodyPr rtlCol="0" anchor="ctr"/>
          <a:lstStyle/>
          <a:p>
            <a:pPr algn="ctr"/>
          </a:p>
        </p:txBody>
      </p:sp>
      <p:sp>
        <p:nvSpPr>
          <p:cNvPr id="62" name="Enlace s02b">
            <a:hlinkClick action="ppaction://hlinksldjump" r:id="rId4"/>
          </p:cNvPr>
          <p:cNvSpPr/>
          <p:nvPr/>
        </p:nvSpPr>
        <p:spPr>
          <a:xfrm>
            <a:off x="768096" y="2767584"/>
            <a:ext cx="4937760" cy="256032"/>
          </a:xfrm>
          <a:prstGeom prst="rect">
            <a:avLst/>
          </a:prstGeom>
          <a:noFill/>
          <a:ln>
            <a:noFill/>
          </a:ln>
        </p:spPr>
        <p:txBody>
          <a:bodyPr rtlCol="0" anchor="ctr"/>
          <a:lstStyle/>
          <a:p>
            <a:pPr algn="ctr"/>
          </a:p>
        </p:txBody>
      </p:sp>
      <p:sp>
        <p:nvSpPr>
          <p:cNvPr id="63" name="Enlace s03">
            <a:hlinkClick action="ppaction://hlinksldjump" r:id="rId5"/>
          </p:cNvPr>
          <p:cNvSpPr/>
          <p:nvPr/>
        </p:nvSpPr>
        <p:spPr>
          <a:xfrm>
            <a:off x="768096" y="3169920"/>
            <a:ext cx="4937760" cy="256032"/>
          </a:xfrm>
          <a:prstGeom prst="rect">
            <a:avLst/>
          </a:prstGeom>
          <a:noFill/>
          <a:ln>
            <a:noFill/>
          </a:ln>
        </p:spPr>
        <p:txBody>
          <a:bodyPr rtlCol="0" anchor="ctr"/>
          <a:lstStyle/>
          <a:p>
            <a:pPr algn="ctr"/>
          </a:p>
        </p:txBody>
      </p:sp>
      <p:sp>
        <p:nvSpPr>
          <p:cNvPr id="64" name="Enlace s04">
            <a:hlinkClick action="ppaction://hlinksldjump" r:id="rId6"/>
          </p:cNvPr>
          <p:cNvSpPr/>
          <p:nvPr/>
        </p:nvSpPr>
        <p:spPr>
          <a:xfrm>
            <a:off x="768096" y="3572256"/>
            <a:ext cx="4937760" cy="256032"/>
          </a:xfrm>
          <a:prstGeom prst="rect">
            <a:avLst/>
          </a:prstGeom>
          <a:noFill/>
          <a:ln>
            <a:noFill/>
          </a:ln>
        </p:spPr>
        <p:txBody>
          <a:bodyPr rtlCol="0" anchor="ctr"/>
          <a:lstStyle/>
          <a:p>
            <a:pPr algn="ctr"/>
          </a:p>
        </p:txBody>
      </p:sp>
      <p:sp>
        <p:nvSpPr>
          <p:cNvPr id="65" name="Enlace s05">
            <a:hlinkClick action="ppaction://hlinksldjump" r:id="rId7"/>
          </p:cNvPr>
          <p:cNvSpPr/>
          <p:nvPr/>
        </p:nvSpPr>
        <p:spPr>
          <a:xfrm>
            <a:off x="768096" y="3974592"/>
            <a:ext cx="4937760" cy="256032"/>
          </a:xfrm>
          <a:prstGeom prst="rect">
            <a:avLst/>
          </a:prstGeom>
          <a:noFill/>
          <a:ln>
            <a:noFill/>
          </a:ln>
        </p:spPr>
        <p:txBody>
          <a:bodyPr rtlCol="0" anchor="ctr"/>
          <a:lstStyle/>
          <a:p>
            <a:pPr algn="ctr"/>
          </a:p>
        </p:txBody>
      </p:sp>
      <p:sp>
        <p:nvSpPr>
          <p:cNvPr id="66" name="Enlace s06">
            <a:hlinkClick action="ppaction://hlinksldjump" r:id="rId8"/>
          </p:cNvPr>
          <p:cNvSpPr/>
          <p:nvPr/>
        </p:nvSpPr>
        <p:spPr>
          <a:xfrm>
            <a:off x="768096" y="4376928"/>
            <a:ext cx="4937760" cy="256032"/>
          </a:xfrm>
          <a:prstGeom prst="rect">
            <a:avLst/>
          </a:prstGeom>
          <a:noFill/>
          <a:ln>
            <a:noFill/>
          </a:ln>
        </p:spPr>
        <p:txBody>
          <a:bodyPr rtlCol="0" anchor="ctr"/>
          <a:lstStyle/>
          <a:p>
            <a:pPr algn="ctr"/>
          </a:p>
        </p:txBody>
      </p:sp>
      <p:sp>
        <p:nvSpPr>
          <p:cNvPr id="67" name="Enlace s06b">
            <a:hlinkClick action="ppaction://hlinksldjump" r:id="rId9"/>
          </p:cNvPr>
          <p:cNvSpPr/>
          <p:nvPr/>
        </p:nvSpPr>
        <p:spPr>
          <a:xfrm>
            <a:off x="768096" y="4779264"/>
            <a:ext cx="4937760" cy="256032"/>
          </a:xfrm>
          <a:prstGeom prst="rect">
            <a:avLst/>
          </a:prstGeom>
          <a:noFill/>
          <a:ln>
            <a:noFill/>
          </a:ln>
        </p:spPr>
        <p:txBody>
          <a:bodyPr rtlCol="0" anchor="ctr"/>
          <a:lstStyle/>
          <a:p>
            <a:pPr algn="ctr"/>
          </a:p>
        </p:txBody>
      </p:sp>
      <p:sp>
        <p:nvSpPr>
          <p:cNvPr id="68" name="Enlace s07">
            <a:hlinkClick action="ppaction://hlinksldjump" r:id="rId10"/>
          </p:cNvPr>
          <p:cNvSpPr/>
          <p:nvPr/>
        </p:nvSpPr>
        <p:spPr>
          <a:xfrm>
            <a:off x="768096" y="5181600"/>
            <a:ext cx="4937760" cy="256032"/>
          </a:xfrm>
          <a:prstGeom prst="rect">
            <a:avLst/>
          </a:prstGeom>
          <a:noFill/>
          <a:ln>
            <a:noFill/>
          </a:ln>
        </p:spPr>
        <p:txBody>
          <a:bodyPr rtlCol="0" anchor="ctr"/>
          <a:lstStyle/>
          <a:p>
            <a:pPr algn="ctr"/>
          </a:p>
        </p:txBody>
      </p:sp>
      <p:sp>
        <p:nvSpPr>
          <p:cNvPr id="69" name="Enlace s08">
            <a:hlinkClick action="ppaction://hlinksldjump" r:id="rId11"/>
          </p:cNvPr>
          <p:cNvSpPr/>
          <p:nvPr/>
        </p:nvSpPr>
        <p:spPr>
          <a:xfrm>
            <a:off x="6486144" y="2365248"/>
            <a:ext cx="4937760" cy="256032"/>
          </a:xfrm>
          <a:prstGeom prst="rect">
            <a:avLst/>
          </a:prstGeom>
          <a:noFill/>
          <a:ln>
            <a:noFill/>
          </a:ln>
        </p:spPr>
        <p:txBody>
          <a:bodyPr rtlCol="0" anchor="ctr"/>
          <a:lstStyle/>
          <a:p>
            <a:pPr algn="ctr"/>
          </a:p>
        </p:txBody>
      </p:sp>
      <p:sp>
        <p:nvSpPr>
          <p:cNvPr id="70" name="Enlace s09">
            <a:hlinkClick action="ppaction://hlinksldjump" r:id="rId12"/>
          </p:cNvPr>
          <p:cNvSpPr/>
          <p:nvPr/>
        </p:nvSpPr>
        <p:spPr>
          <a:xfrm>
            <a:off x="6486144" y="2767584"/>
            <a:ext cx="4937760" cy="256032"/>
          </a:xfrm>
          <a:prstGeom prst="rect">
            <a:avLst/>
          </a:prstGeom>
          <a:noFill/>
          <a:ln>
            <a:noFill/>
          </a:ln>
        </p:spPr>
        <p:txBody>
          <a:bodyPr rtlCol="0" anchor="ctr"/>
          <a:lstStyle/>
          <a:p>
            <a:pPr algn="ctr"/>
          </a:p>
        </p:txBody>
      </p:sp>
      <p:sp>
        <p:nvSpPr>
          <p:cNvPr id="71" name="Enlace s09b">
            <a:hlinkClick action="ppaction://hlinksldjump" r:id="rId13"/>
          </p:cNvPr>
          <p:cNvSpPr/>
          <p:nvPr/>
        </p:nvSpPr>
        <p:spPr>
          <a:xfrm>
            <a:off x="6486144" y="3169920"/>
            <a:ext cx="4937760" cy="256032"/>
          </a:xfrm>
          <a:prstGeom prst="rect">
            <a:avLst/>
          </a:prstGeom>
          <a:noFill/>
          <a:ln>
            <a:noFill/>
          </a:ln>
        </p:spPr>
        <p:txBody>
          <a:bodyPr rtlCol="0" anchor="ctr"/>
          <a:lstStyle/>
          <a:p>
            <a:pPr algn="ctr"/>
          </a:p>
        </p:txBody>
      </p:sp>
      <p:sp>
        <p:nvSpPr>
          <p:cNvPr id="72" name="Enlace s09c">
            <a:hlinkClick action="ppaction://hlinksldjump" r:id="rId14"/>
          </p:cNvPr>
          <p:cNvSpPr/>
          <p:nvPr/>
        </p:nvSpPr>
        <p:spPr>
          <a:xfrm>
            <a:off x="6486144" y="3572256"/>
            <a:ext cx="4937760" cy="256032"/>
          </a:xfrm>
          <a:prstGeom prst="rect">
            <a:avLst/>
          </a:prstGeom>
          <a:noFill/>
          <a:ln>
            <a:noFill/>
          </a:ln>
        </p:spPr>
        <p:txBody>
          <a:bodyPr rtlCol="0" anchor="ctr"/>
          <a:lstStyle/>
          <a:p>
            <a:pPr algn="ctr"/>
          </a:p>
        </p:txBody>
      </p:sp>
      <p:sp>
        <p:nvSpPr>
          <p:cNvPr id="73" name="Enlace s09d">
            <a:hlinkClick action="ppaction://hlinksldjump" r:id="rId15"/>
          </p:cNvPr>
          <p:cNvSpPr/>
          <p:nvPr/>
        </p:nvSpPr>
        <p:spPr>
          <a:xfrm>
            <a:off x="6486144" y="3974592"/>
            <a:ext cx="4937760" cy="256032"/>
          </a:xfrm>
          <a:prstGeom prst="rect">
            <a:avLst/>
          </a:prstGeom>
          <a:noFill/>
          <a:ln>
            <a:noFill/>
          </a:ln>
        </p:spPr>
        <p:txBody>
          <a:bodyPr rtlCol="0" anchor="ctr"/>
          <a:lstStyle/>
          <a:p>
            <a:pPr algn="ctr"/>
          </a:p>
        </p:txBody>
      </p:sp>
      <p:sp>
        <p:nvSpPr>
          <p:cNvPr id="74" name="Enlace s10">
            <a:hlinkClick action="ppaction://hlinksldjump" r:id="rId16"/>
          </p:cNvPr>
          <p:cNvSpPr/>
          <p:nvPr/>
        </p:nvSpPr>
        <p:spPr>
          <a:xfrm>
            <a:off x="6486144" y="4376928"/>
            <a:ext cx="4937760" cy="256032"/>
          </a:xfrm>
          <a:prstGeom prst="rect">
            <a:avLst/>
          </a:prstGeom>
          <a:noFill/>
          <a:ln>
            <a:noFill/>
          </a:ln>
        </p:spPr>
        <p:txBody>
          <a:bodyPr rtlCol="0" anchor="ctr"/>
          <a:lstStyle/>
          <a:p>
            <a:pPr algn="ctr"/>
          </a:p>
        </p:txBody>
      </p:sp>
      <p:sp>
        <p:nvSpPr>
          <p:cNvPr id="75" name="Enlace s10b">
            <a:hlinkClick action="ppaction://hlinksldjump" r:id="rId17"/>
          </p:cNvPr>
          <p:cNvSpPr/>
          <p:nvPr/>
        </p:nvSpPr>
        <p:spPr>
          <a:xfrm>
            <a:off x="6486144" y="4779264"/>
            <a:ext cx="4937760" cy="256032"/>
          </a:xfrm>
          <a:prstGeom prst="rect">
            <a:avLst/>
          </a:prstGeom>
          <a:noFill/>
          <a:ln>
            <a:noFill/>
          </a:ln>
        </p:spPr>
        <p:txBody>
          <a:bodyPr rtlCol="0" anchor="ctr"/>
          <a:lstStyle/>
          <a:p>
            <a:pPr algn="ctr"/>
          </a:p>
        </p:txBody>
      </p:sp>
      <p:sp>
        <p:nvSpPr>
          <p:cNvPr id="76" name="Enlace s11">
            <a:hlinkClick action="ppaction://hlinksldjump" r:id="rId18"/>
          </p:cNvPr>
          <p:cNvSpPr/>
          <p:nvPr/>
        </p:nvSpPr>
        <p:spPr>
          <a:xfrm>
            <a:off x="6486144" y="5181600"/>
            <a:ext cx="4937760" cy="256032"/>
          </a:xfrm>
          <a:prstGeom prst="rect">
            <a:avLst/>
          </a:prstGeom>
          <a:noFill/>
          <a:ln>
            <a:noFill/>
          </a:ln>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09372"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02</a:t>
            </a:r>
          </a:p>
        </p:txBody>
      </p:sp>
      <p:sp>
        <p:nvSpPr>
          <p:cNvPr id="5" name="TextBox 4"/>
          <p:cNvSpPr txBox="1"/>
          <p:nvPr/>
        </p:nvSpPr>
        <p:spPr>
          <a:xfrm>
            <a:off x="1260348" y="365760"/>
            <a:ext cx="1066228"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La Marca</a:t>
            </a:r>
          </a:p>
        </p:txBody>
      </p:sp>
      <p:sp>
        <p:nvSpPr>
          <p:cNvPr id="6" name="TextBox 5"/>
          <p:cNvSpPr txBox="1"/>
          <p:nvPr/>
        </p:nvSpPr>
        <p:spPr>
          <a:xfrm>
            <a:off x="487680" y="713232"/>
            <a:ext cx="1447990"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Olla</a:t>
            </a:r>
          </a:p>
        </p:txBody>
      </p:sp>
      <p:sp>
        <p:nvSpPr>
          <p:cNvPr id="7" name="TextBox 6"/>
          <p:cNvSpPr txBox="1"/>
          <p:nvPr/>
        </p:nvSpPr>
        <p:spPr>
          <a:xfrm>
            <a:off x="487680" y="1395984"/>
            <a:ext cx="3058382"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Cercana.</a:t>
            </a:r>
          </a:p>
        </p:txBody>
      </p:sp>
      <p:sp>
        <p:nvSpPr>
          <p:cNvPr id="8" name="TextBox 7"/>
          <p:cNvSpPr txBox="1"/>
          <p:nvPr/>
        </p:nvSpPr>
        <p:spPr>
          <a:xfrm>
            <a:off x="487680" y="2301850"/>
            <a:ext cx="6183904" cy="965606"/>
          </a:xfrm>
          <a:prstGeom prst="rect">
            <a:avLst/>
          </a:prstGeom>
          <a:noFill/>
        </p:spPr>
        <p:txBody>
          <a:bodyPr wrap="square" lIns="0" rIns="0" tIns="0" bIns="0" anchor="t">
            <a:noAutofit/>
          </a:bodyPr>
          <a:lstStyle/>
          <a:p>
            <a:pPr algn="l">
              <a:lnSpc>
                <a:spcPts val="2534"/>
              </a:lnSpc>
              <a:spcBef>
                <a:spcPts val="0"/>
              </a:spcBef>
              <a:spcAft>
                <a:spcPts val="0"/>
              </a:spcAft>
            </a:pPr>
            <a:r>
              <a:rPr sz="1525" b="0" i="0" lang="es-CO">
                <a:solidFill>
                  <a:srgbClr val="5B4A38"/>
                </a:solidFill>
                <a:latin typeface="Outfit"/>
              </a:rPr>
              <a:t>Experiencia digital para descubrir comida casera de cocineras</a:t>
            </a:r>
            <a:br/>
            <a:r>
              <a:rPr sz="1525" b="0" i="0" lang="es-CO">
                <a:solidFill>
                  <a:srgbClr val="5B4A38"/>
                </a:solidFill>
                <a:latin typeface="Outfit"/>
              </a:rPr>
              <a:t>cercanas, con filtros de proximidad de 500 m a 2 km. La confianza</a:t>
            </a:r>
            <a:br/>
            <a:r>
              <a:rPr sz="1525" b="0" i="0" lang="es-CO">
                <a:solidFill>
                  <a:srgbClr val="5B4A38"/>
                </a:solidFill>
                <a:latin typeface="Outfit"/>
              </a:rPr>
              <a:t>nace de una interfaz cálida y de información clara.</a:t>
            </a:r>
          </a:p>
        </p:txBody>
      </p:sp>
      <p:sp>
        <p:nvSpPr>
          <p:cNvPr id="9" name="Oval 8"/>
          <p:cNvSpPr/>
          <p:nvPr/>
        </p:nvSpPr>
        <p:spPr>
          <a:xfrm>
            <a:off x="499872" y="3574352"/>
            <a:ext cx="609600" cy="609600"/>
          </a:xfrm>
          <a:prstGeom prst="ellipse">
            <a:avLst/>
          </a:prstGeom>
          <a:solidFill>
            <a:srgbClr val="F3E7D2"/>
          </a:solidFill>
          <a:ln w="24384" cap="flat">
            <a:solidFill>
              <a:srgbClr val="8B5E34"/>
            </a:solidFill>
          </a:ln>
        </p:spPr>
        <p:txBody>
          <a:bodyPr rtlCol="0" anchor="ctr"/>
          <a:lstStyle/>
          <a:p>
            <a:pPr algn="ctr"/>
          </a:p>
        </p:txBody>
      </p:sp>
      <p:pic>
        <p:nvPicPr>
          <p:cNvPr id="10" name="Picture 9" descr="s03_r1.png"/>
          <p:cNvPicPr>
            <a:picLocks noChangeAspect="1"/>
          </p:cNvPicPr>
          <p:nvPr/>
        </p:nvPicPr>
        <p:blipFill>
          <a:blip r:embed="rId3"/>
          <a:stretch>
            <a:fillRect/>
          </a:stretch>
        </p:blipFill>
        <p:spPr>
          <a:xfrm>
            <a:off x="658368" y="3730752"/>
            <a:ext cx="292608" cy="304800"/>
          </a:xfrm>
          <a:prstGeom prst="rect">
            <a:avLst/>
          </a:prstGeom>
        </p:spPr>
      </p:pic>
      <p:sp>
        <p:nvSpPr>
          <p:cNvPr id="11" name="TextBox 10"/>
          <p:cNvSpPr txBox="1"/>
          <p:nvPr/>
        </p:nvSpPr>
        <p:spPr>
          <a:xfrm>
            <a:off x="1267968" y="3562160"/>
            <a:ext cx="860870" cy="219456"/>
          </a:xfrm>
          <a:prstGeom prst="rect">
            <a:avLst/>
          </a:prstGeom>
          <a:noFill/>
        </p:spPr>
        <p:txBody>
          <a:bodyPr wrap="none" lIns="0" rIns="0" tIns="0" bIns="0" anchor="t">
            <a:noAutofit/>
          </a:bodyPr>
          <a:lstStyle/>
          <a:p>
            <a:pPr algn="l">
              <a:lnSpc>
                <a:spcPts val="1728"/>
              </a:lnSpc>
              <a:spcBef>
                <a:spcPts val="0"/>
              </a:spcBef>
              <a:spcAft>
                <a:spcPts val="0"/>
              </a:spcAft>
            </a:pPr>
            <a:r>
              <a:rPr sz="1350" b="1" i="0" lang="es-CO">
                <a:solidFill>
                  <a:srgbClr val="2B2117"/>
                </a:solidFill>
                <a:latin typeface="Outfit"/>
              </a:rPr>
              <a:t>Propósito</a:t>
            </a:r>
          </a:p>
        </p:txBody>
      </p:sp>
      <p:sp>
        <p:nvSpPr>
          <p:cNvPr id="12" name="TextBox 11"/>
          <p:cNvSpPr txBox="1"/>
          <p:nvPr/>
        </p:nvSpPr>
        <p:spPr>
          <a:xfrm>
            <a:off x="1267968" y="3830384"/>
            <a:ext cx="5356799" cy="487680"/>
          </a:xfrm>
          <a:prstGeom prst="rect">
            <a:avLst/>
          </a:prstGeom>
          <a:noFill/>
        </p:spPr>
        <p:txBody>
          <a:bodyPr wrap="square" lIns="0" rIns="0" tIns="0" bIns="0" anchor="t">
            <a:noAutofit/>
          </a:bodyPr>
          <a:lstStyle/>
          <a:p>
            <a:pPr algn="l">
              <a:lnSpc>
                <a:spcPts val="1920"/>
              </a:lnSpc>
              <a:spcBef>
                <a:spcPts val="0"/>
              </a:spcBef>
              <a:spcAft>
                <a:spcPts val="0"/>
              </a:spcAft>
            </a:pPr>
            <a:r>
              <a:rPr sz="1525" b="0" i="0" lang="es-CO">
                <a:solidFill>
                  <a:srgbClr val="2B2117"/>
                </a:solidFill>
                <a:latin typeface="Outfit"/>
              </a:rPr>
              <a:t>Conecta a vecinos con cocineras cercanas y presenta con</a:t>
            </a:r>
            <a:br/>
            <a:r>
              <a:rPr sz="1525" b="0" i="0" lang="es-CO">
                <a:solidFill>
                  <a:srgbClr val="2B2117"/>
                </a:solidFill>
                <a:latin typeface="Outfit"/>
              </a:rPr>
              <a:t>claridad los platos, precios y condiciones de reserva.</a:t>
            </a:r>
          </a:p>
        </p:txBody>
      </p:sp>
      <p:sp>
        <p:nvSpPr>
          <p:cNvPr id="13" name="Oval 12"/>
          <p:cNvSpPr/>
          <p:nvPr/>
        </p:nvSpPr>
        <p:spPr>
          <a:xfrm>
            <a:off x="499872" y="4525328"/>
            <a:ext cx="609600" cy="609600"/>
          </a:xfrm>
          <a:prstGeom prst="ellipse">
            <a:avLst/>
          </a:prstGeom>
          <a:solidFill>
            <a:srgbClr val="F3E7D2"/>
          </a:solidFill>
          <a:ln w="24384" cap="flat">
            <a:solidFill>
              <a:srgbClr val="8B5E34"/>
            </a:solidFill>
          </a:ln>
        </p:spPr>
        <p:txBody>
          <a:bodyPr rtlCol="0" anchor="ctr"/>
          <a:lstStyle/>
          <a:p>
            <a:pPr algn="ctr"/>
          </a:p>
        </p:txBody>
      </p:sp>
      <p:pic>
        <p:nvPicPr>
          <p:cNvPr id="14" name="Picture 13" descr="s03_r2.png"/>
          <p:cNvPicPr>
            <a:picLocks noChangeAspect="1"/>
          </p:cNvPicPr>
          <p:nvPr/>
        </p:nvPicPr>
        <p:blipFill>
          <a:blip r:embed="rId4"/>
          <a:stretch>
            <a:fillRect/>
          </a:stretch>
        </p:blipFill>
        <p:spPr>
          <a:xfrm>
            <a:off x="658368" y="4681728"/>
            <a:ext cx="292608" cy="304800"/>
          </a:xfrm>
          <a:prstGeom prst="rect">
            <a:avLst/>
          </a:prstGeom>
        </p:spPr>
      </p:pic>
      <p:sp>
        <p:nvSpPr>
          <p:cNvPr id="15" name="TextBox 14"/>
          <p:cNvSpPr txBox="1"/>
          <p:nvPr/>
        </p:nvSpPr>
        <p:spPr>
          <a:xfrm>
            <a:off x="1267968" y="4513136"/>
            <a:ext cx="856678" cy="219456"/>
          </a:xfrm>
          <a:prstGeom prst="rect">
            <a:avLst/>
          </a:prstGeom>
          <a:noFill/>
        </p:spPr>
        <p:txBody>
          <a:bodyPr wrap="none" lIns="0" rIns="0" tIns="0" bIns="0" anchor="t">
            <a:noAutofit/>
          </a:bodyPr>
          <a:lstStyle/>
          <a:p>
            <a:pPr algn="l">
              <a:lnSpc>
                <a:spcPts val="1728"/>
              </a:lnSpc>
              <a:spcBef>
                <a:spcPts val="0"/>
              </a:spcBef>
              <a:spcAft>
                <a:spcPts val="0"/>
              </a:spcAft>
            </a:pPr>
            <a:r>
              <a:rPr sz="1350" b="1" i="0" lang="es-CO">
                <a:solidFill>
                  <a:srgbClr val="2B2117"/>
                </a:solidFill>
                <a:latin typeface="Outfit"/>
              </a:rPr>
              <a:t>Identidad</a:t>
            </a:r>
          </a:p>
        </p:txBody>
      </p:sp>
      <p:sp>
        <p:nvSpPr>
          <p:cNvPr id="16" name="TextBox 15"/>
          <p:cNvSpPr txBox="1"/>
          <p:nvPr/>
        </p:nvSpPr>
        <p:spPr>
          <a:xfrm>
            <a:off x="1267968" y="4781360"/>
            <a:ext cx="5356799" cy="487680"/>
          </a:xfrm>
          <a:prstGeom prst="rect">
            <a:avLst/>
          </a:prstGeom>
          <a:noFill/>
        </p:spPr>
        <p:txBody>
          <a:bodyPr wrap="square" lIns="0" rIns="0" tIns="0" bIns="0" anchor="t">
            <a:noAutofit/>
          </a:bodyPr>
          <a:lstStyle/>
          <a:p>
            <a:pPr algn="l">
              <a:lnSpc>
                <a:spcPts val="1920"/>
              </a:lnSpc>
              <a:spcBef>
                <a:spcPts val="0"/>
              </a:spcBef>
              <a:spcAft>
                <a:spcPts val="0"/>
              </a:spcAft>
            </a:pPr>
            <a:r>
              <a:rPr sz="1525" b="0" i="0" lang="es-CO">
                <a:solidFill>
                  <a:srgbClr val="2B2117"/>
                </a:solidFill>
                <a:latin typeface="Outfit"/>
              </a:rPr>
              <a:t>Confianza vecinal: el sabor casero compartido en</a:t>
            </a:r>
            <a:br/>
            <a:r>
              <a:rPr sz="1525" b="0" i="0" lang="es-CO">
                <a:solidFill>
                  <a:srgbClr val="2B2117"/>
                </a:solidFill>
                <a:latin typeface="Outfit"/>
              </a:rPr>
              <a:t>comunidad.</a:t>
            </a:r>
          </a:p>
        </p:txBody>
      </p:sp>
      <p:sp>
        <p:nvSpPr>
          <p:cNvPr id="17" name="Rounded Rectangle 16"/>
          <p:cNvSpPr/>
          <p:nvPr/>
        </p:nvSpPr>
        <p:spPr>
          <a:xfrm>
            <a:off x="6973824" y="1182624"/>
            <a:ext cx="4681728" cy="3864864"/>
          </a:xfrm>
          <a:prstGeom prst="roundRect">
            <a:avLst>
              <a:gd name="adj" fmla="val 1892"/>
            </a:avLst>
          </a:prstGeom>
          <a:solidFill>
            <a:srgbClr val="5C3A1E"/>
          </a:solidFill>
          <a:ln>
            <a:noFill/>
          </a:ln>
        </p:spPr>
        <p:txBody>
          <a:bodyPr rtlCol="0" anchor="ctr"/>
          <a:lstStyle/>
          <a:p>
            <a:pPr algn="ctr"/>
          </a:p>
        </p:txBody>
      </p:sp>
      <p:pic>
        <p:nvPicPr>
          <p:cNvPr id="18" name="Picture 17" descr="s03_r3.png"/>
          <p:cNvPicPr>
            <a:picLocks noChangeAspect="1"/>
          </p:cNvPicPr>
          <p:nvPr/>
        </p:nvPicPr>
        <p:blipFill>
          <a:blip r:embed="rId5"/>
          <a:stretch>
            <a:fillRect/>
          </a:stretch>
        </p:blipFill>
        <p:spPr>
          <a:xfrm>
            <a:off x="6925056" y="1011936"/>
            <a:ext cx="4779264" cy="3962400"/>
          </a:xfrm>
          <a:prstGeom prst="rect">
            <a:avLst/>
          </a:prstGeom>
          <a:effectLst>
            <a:outerShdw blurRad="292608" dist="170688" dir="5400000" algn="ctr" rotWithShape="0">
              <a:srgbClr val="000000">
                <a:alpha val="25000"/>
              </a:srgbClr>
            </a:outerShdw>
          </a:effectLst>
        </p:spPr>
      </p:pic>
      <p:cxnSp>
        <p:nvCxnSpPr>
          <p:cNvPr id="19" name="Connector 18"/>
          <p:cNvCxnSpPr/>
          <p:nvPr/>
        </p:nvCxnSpPr>
        <p:spPr>
          <a:xfrm>
            <a:off x="7370064" y="2055304"/>
            <a:ext cx="3895344" cy="0"/>
          </a:xfrm>
          <a:prstGeom prst="line">
            <a:avLst/>
          </a:prstGeom>
          <a:ln w="24384" cap="flat">
            <a:solidFill>
              <a:srgbClr val="3C4C40"/>
            </a:solidFill>
            <a:prstDash val="dash"/>
          </a:ln>
        </p:spPr>
      </p:cxnSp>
      <p:sp>
        <p:nvSpPr>
          <p:cNvPr id="20" name="TextBox 19"/>
          <p:cNvSpPr txBox="1"/>
          <p:nvPr/>
        </p:nvSpPr>
        <p:spPr>
          <a:xfrm>
            <a:off x="7370064" y="1457896"/>
            <a:ext cx="2293315" cy="463296"/>
          </a:xfrm>
          <a:prstGeom prst="rect">
            <a:avLst/>
          </a:prstGeom>
          <a:noFill/>
        </p:spPr>
        <p:txBody>
          <a:bodyPr wrap="none" lIns="0" rIns="0" tIns="0" bIns="0" anchor="t">
            <a:noAutofit/>
          </a:bodyPr>
          <a:lstStyle/>
          <a:p>
            <a:pPr algn="l">
              <a:lnSpc>
                <a:spcPts val="3647"/>
              </a:lnSpc>
              <a:spcBef>
                <a:spcPts val="0"/>
              </a:spcBef>
              <a:spcAft>
                <a:spcPts val="0"/>
              </a:spcAft>
            </a:pPr>
            <a:r>
              <a:rPr sz="2875" b="1" i="0" lang="es-CO">
                <a:solidFill>
                  <a:srgbClr val="F5F1E4"/>
                </a:solidFill>
                <a:latin typeface="Caveat"/>
              </a:rPr>
              <a:t>Explorar cocinas</a:t>
            </a:r>
          </a:p>
        </p:txBody>
      </p:sp>
      <p:cxnSp>
        <p:nvCxnSpPr>
          <p:cNvPr id="21" name="Connector 20"/>
          <p:cNvCxnSpPr/>
          <p:nvPr/>
        </p:nvCxnSpPr>
        <p:spPr>
          <a:xfrm>
            <a:off x="7370064" y="3000184"/>
            <a:ext cx="3895344" cy="0"/>
          </a:xfrm>
          <a:prstGeom prst="line">
            <a:avLst/>
          </a:prstGeom>
          <a:ln w="12192" cap="flat">
            <a:solidFill>
              <a:srgbClr val="3C4C40"/>
            </a:solidFill>
            <a:prstDash val="dash"/>
          </a:ln>
        </p:spPr>
      </p:cxnSp>
      <p:pic>
        <p:nvPicPr>
          <p:cNvPr id="22" name="Picture 21" descr="Ajiaco Santafereño de la Casa"/>
          <p:cNvPicPr>
            <a:picLocks noChangeAspect="1"/>
          </p:cNvPicPr>
          <p:nvPr/>
        </p:nvPicPr>
        <p:blipFill>
          <a:blip r:embed="rId6"/>
          <a:stretch>
            <a:fillRect/>
          </a:stretch>
        </p:blipFill>
        <p:spPr>
          <a:xfrm>
            <a:off x="7370064" y="2335720"/>
            <a:ext cx="560832" cy="560832"/>
          </a:xfrm>
          <a:prstGeom prst="roundRect">
            <a:avLst>
              <a:gd name="adj" fmla="val 17391"/>
            </a:avLst>
          </a:prstGeom>
        </p:spPr>
      </p:pic>
      <p:sp>
        <p:nvSpPr>
          <p:cNvPr id="23" name="TextBox 22"/>
          <p:cNvSpPr txBox="1"/>
          <p:nvPr/>
        </p:nvSpPr>
        <p:spPr>
          <a:xfrm>
            <a:off x="8077200" y="2347912"/>
            <a:ext cx="2579560" cy="292608"/>
          </a:xfrm>
          <a:prstGeom prst="rect">
            <a:avLst/>
          </a:prstGeom>
          <a:noFill/>
        </p:spPr>
        <p:txBody>
          <a:bodyPr wrap="none" lIns="0" rIns="0" tIns="0" bIns="0" anchor="t">
            <a:noAutofit/>
          </a:bodyPr>
          <a:lstStyle/>
          <a:p>
            <a:pPr algn="l">
              <a:lnSpc>
                <a:spcPts val="2304"/>
              </a:lnSpc>
              <a:spcBef>
                <a:spcPts val="0"/>
              </a:spcBef>
              <a:spcAft>
                <a:spcPts val="0"/>
              </a:spcAft>
            </a:pPr>
            <a:r>
              <a:rPr sz="1825" b="0" i="0" lang="es-CO">
                <a:solidFill>
                  <a:srgbClr val="F5F1E4"/>
                </a:solidFill>
                <a:latin typeface="Caveat"/>
              </a:rPr>
              <a:t>Ajiaco Santafereño de la Casa</a:t>
            </a:r>
          </a:p>
        </p:txBody>
      </p:sp>
      <p:sp>
        <p:nvSpPr>
          <p:cNvPr id="24" name="TextBox 23"/>
          <p:cNvSpPr txBox="1"/>
          <p:nvPr/>
        </p:nvSpPr>
        <p:spPr>
          <a:xfrm>
            <a:off x="8077200" y="2713672"/>
            <a:ext cx="1900199" cy="158496"/>
          </a:xfrm>
          <a:prstGeom prst="rect">
            <a:avLst/>
          </a:prstGeom>
          <a:noFill/>
        </p:spPr>
        <p:txBody>
          <a:bodyPr wrap="none" lIns="0" rIns="0" tIns="0" bIns="0" anchor="t">
            <a:noAutofit/>
          </a:bodyPr>
          <a:lstStyle/>
          <a:p>
            <a:pPr algn="l">
              <a:lnSpc>
                <a:spcPts val="1248"/>
              </a:lnSpc>
              <a:spcBef>
                <a:spcPts val="0"/>
              </a:spcBef>
              <a:spcAft>
                <a:spcPts val="0"/>
              </a:spcAft>
            </a:pPr>
            <a:r>
              <a:rPr sz="950" b="0" i="0" lang="es-CO" spc="48">
                <a:solidFill>
                  <a:srgbClr val="C9CFC6"/>
                </a:solidFill>
                <a:latin typeface="Outfit"/>
              </a:rPr>
              <a:t>Doña Rosa · Zona de muestra</a:t>
            </a:r>
          </a:p>
        </p:txBody>
      </p:sp>
      <p:sp>
        <p:nvSpPr>
          <p:cNvPr id="25" name="TextBox 24"/>
          <p:cNvSpPr txBox="1"/>
          <p:nvPr/>
        </p:nvSpPr>
        <p:spPr>
          <a:xfrm>
            <a:off x="10594086" y="2469832"/>
            <a:ext cx="768858" cy="292608"/>
          </a:xfrm>
          <a:prstGeom prst="rect">
            <a:avLst/>
          </a:prstGeom>
          <a:noFill/>
        </p:spPr>
        <p:txBody>
          <a:bodyPr wrap="none" lIns="0" rIns="0" tIns="0" bIns="0" anchor="t">
            <a:noAutofit/>
          </a:bodyPr>
          <a:lstStyle/>
          <a:p>
            <a:pPr algn="l">
              <a:lnSpc>
                <a:spcPts val="2304"/>
              </a:lnSpc>
              <a:spcBef>
                <a:spcPts val="0"/>
              </a:spcBef>
              <a:spcAft>
                <a:spcPts val="0"/>
              </a:spcAft>
            </a:pPr>
            <a:r>
              <a:rPr sz="1825" b="1" i="0" lang="es-CO">
                <a:solidFill>
                  <a:srgbClr val="F4C430"/>
                </a:solidFill>
                <a:latin typeface="Caveat"/>
              </a:rPr>
              <a:t>$18.000</a:t>
            </a:r>
          </a:p>
        </p:txBody>
      </p:sp>
      <p:cxnSp>
        <p:nvCxnSpPr>
          <p:cNvPr id="26" name="Connector 25"/>
          <p:cNvCxnSpPr/>
          <p:nvPr/>
        </p:nvCxnSpPr>
        <p:spPr>
          <a:xfrm>
            <a:off x="7370064" y="3768280"/>
            <a:ext cx="3895344" cy="0"/>
          </a:xfrm>
          <a:prstGeom prst="line">
            <a:avLst/>
          </a:prstGeom>
          <a:ln w="12192" cap="flat">
            <a:solidFill>
              <a:srgbClr val="3C4C40"/>
            </a:solidFill>
            <a:prstDash val="dash"/>
          </a:ln>
        </p:spPr>
      </p:cxnSp>
      <p:pic>
        <p:nvPicPr>
          <p:cNvPr id="27" name="Picture 26" descr="Cazuela Paisa Tradicional"/>
          <p:cNvPicPr>
            <a:picLocks noChangeAspect="1"/>
          </p:cNvPicPr>
          <p:nvPr/>
        </p:nvPicPr>
        <p:blipFill>
          <a:blip r:embed="rId7"/>
          <a:stretch>
            <a:fillRect/>
          </a:stretch>
        </p:blipFill>
        <p:spPr>
          <a:xfrm>
            <a:off x="7370064" y="3103816"/>
            <a:ext cx="560832" cy="560832"/>
          </a:xfrm>
          <a:prstGeom prst="roundRect">
            <a:avLst>
              <a:gd name="adj" fmla="val 17391"/>
            </a:avLst>
          </a:prstGeom>
        </p:spPr>
      </p:pic>
      <p:sp>
        <p:nvSpPr>
          <p:cNvPr id="28" name="TextBox 27"/>
          <p:cNvSpPr txBox="1"/>
          <p:nvPr/>
        </p:nvSpPr>
        <p:spPr>
          <a:xfrm>
            <a:off x="8077200" y="3116008"/>
            <a:ext cx="2160880" cy="292608"/>
          </a:xfrm>
          <a:prstGeom prst="rect">
            <a:avLst/>
          </a:prstGeom>
          <a:noFill/>
        </p:spPr>
        <p:txBody>
          <a:bodyPr wrap="none" lIns="0" rIns="0" tIns="0" bIns="0" anchor="t">
            <a:noAutofit/>
          </a:bodyPr>
          <a:lstStyle/>
          <a:p>
            <a:pPr algn="l">
              <a:lnSpc>
                <a:spcPts val="2304"/>
              </a:lnSpc>
              <a:spcBef>
                <a:spcPts val="0"/>
              </a:spcBef>
              <a:spcAft>
                <a:spcPts val="0"/>
              </a:spcAft>
            </a:pPr>
            <a:r>
              <a:rPr sz="1825" b="0" i="0" lang="es-CO">
                <a:solidFill>
                  <a:srgbClr val="F5F1E4"/>
                </a:solidFill>
                <a:latin typeface="Caveat"/>
              </a:rPr>
              <a:t>Cazuela Paisa Tradicional</a:t>
            </a:r>
          </a:p>
        </p:txBody>
      </p:sp>
      <p:sp>
        <p:nvSpPr>
          <p:cNvPr id="29" name="TextBox 28"/>
          <p:cNvSpPr txBox="1"/>
          <p:nvPr/>
        </p:nvSpPr>
        <p:spPr>
          <a:xfrm>
            <a:off x="8077200" y="3481768"/>
            <a:ext cx="1921993" cy="158496"/>
          </a:xfrm>
          <a:prstGeom prst="rect">
            <a:avLst/>
          </a:prstGeom>
          <a:noFill/>
        </p:spPr>
        <p:txBody>
          <a:bodyPr wrap="none" lIns="0" rIns="0" tIns="0" bIns="0" anchor="t">
            <a:noAutofit/>
          </a:bodyPr>
          <a:lstStyle/>
          <a:p>
            <a:pPr algn="l">
              <a:lnSpc>
                <a:spcPts val="1248"/>
              </a:lnSpc>
              <a:spcBef>
                <a:spcPts val="0"/>
              </a:spcBef>
              <a:spcAft>
                <a:spcPts val="0"/>
              </a:spcAft>
            </a:pPr>
            <a:r>
              <a:rPr sz="950" b="0" i="0" lang="es-CO" spc="48">
                <a:solidFill>
                  <a:srgbClr val="C9CFC6"/>
                </a:solidFill>
                <a:latin typeface="Outfit"/>
              </a:rPr>
              <a:t>Don Carlos · Zona de muestra</a:t>
            </a:r>
          </a:p>
        </p:txBody>
      </p:sp>
      <p:sp>
        <p:nvSpPr>
          <p:cNvPr id="30" name="TextBox 29"/>
          <p:cNvSpPr txBox="1"/>
          <p:nvPr/>
        </p:nvSpPr>
        <p:spPr>
          <a:xfrm>
            <a:off x="10594086" y="3237928"/>
            <a:ext cx="768858" cy="292608"/>
          </a:xfrm>
          <a:prstGeom prst="rect">
            <a:avLst/>
          </a:prstGeom>
          <a:noFill/>
        </p:spPr>
        <p:txBody>
          <a:bodyPr wrap="none" lIns="0" rIns="0" tIns="0" bIns="0" anchor="t">
            <a:noAutofit/>
          </a:bodyPr>
          <a:lstStyle/>
          <a:p>
            <a:pPr algn="l">
              <a:lnSpc>
                <a:spcPts val="2304"/>
              </a:lnSpc>
              <a:spcBef>
                <a:spcPts val="0"/>
              </a:spcBef>
              <a:spcAft>
                <a:spcPts val="0"/>
              </a:spcAft>
            </a:pPr>
            <a:r>
              <a:rPr sz="1825" b="1" i="0" lang="es-CO">
                <a:solidFill>
                  <a:srgbClr val="F4C430"/>
                </a:solidFill>
                <a:latin typeface="Caveat"/>
              </a:rPr>
              <a:t>$22.000</a:t>
            </a:r>
          </a:p>
        </p:txBody>
      </p:sp>
      <p:pic>
        <p:nvPicPr>
          <p:cNvPr id="31" name="Picture 30" descr="Pollo Guisado Campesino"/>
          <p:cNvPicPr>
            <a:picLocks noChangeAspect="1"/>
          </p:cNvPicPr>
          <p:nvPr/>
        </p:nvPicPr>
        <p:blipFill>
          <a:blip r:embed="rId8"/>
          <a:stretch>
            <a:fillRect/>
          </a:stretch>
        </p:blipFill>
        <p:spPr>
          <a:xfrm>
            <a:off x="7370064" y="3871912"/>
            <a:ext cx="560832" cy="560832"/>
          </a:xfrm>
          <a:prstGeom prst="roundRect">
            <a:avLst>
              <a:gd name="adj" fmla="val 17391"/>
            </a:avLst>
          </a:prstGeom>
        </p:spPr>
      </p:pic>
      <p:sp>
        <p:nvSpPr>
          <p:cNvPr id="32" name="TextBox 31"/>
          <p:cNvSpPr txBox="1"/>
          <p:nvPr/>
        </p:nvSpPr>
        <p:spPr>
          <a:xfrm>
            <a:off x="8077200" y="3884104"/>
            <a:ext cx="2053800" cy="292608"/>
          </a:xfrm>
          <a:prstGeom prst="rect">
            <a:avLst/>
          </a:prstGeom>
          <a:noFill/>
        </p:spPr>
        <p:txBody>
          <a:bodyPr wrap="none" lIns="0" rIns="0" tIns="0" bIns="0" anchor="t">
            <a:noAutofit/>
          </a:bodyPr>
          <a:lstStyle/>
          <a:p>
            <a:pPr algn="l">
              <a:lnSpc>
                <a:spcPts val="2304"/>
              </a:lnSpc>
              <a:spcBef>
                <a:spcPts val="0"/>
              </a:spcBef>
              <a:spcAft>
                <a:spcPts val="0"/>
              </a:spcAft>
            </a:pPr>
            <a:r>
              <a:rPr sz="1825" b="0" i="0" lang="es-CO">
                <a:solidFill>
                  <a:srgbClr val="F5F1E4"/>
                </a:solidFill>
                <a:latin typeface="Caveat"/>
              </a:rPr>
              <a:t>Pollo Guisado Campesino</a:t>
            </a:r>
          </a:p>
        </p:txBody>
      </p:sp>
      <p:sp>
        <p:nvSpPr>
          <p:cNvPr id="33" name="TextBox 32"/>
          <p:cNvSpPr txBox="1"/>
          <p:nvPr/>
        </p:nvSpPr>
        <p:spPr>
          <a:xfrm>
            <a:off x="8077200" y="4249864"/>
            <a:ext cx="1984648" cy="158496"/>
          </a:xfrm>
          <a:prstGeom prst="rect">
            <a:avLst/>
          </a:prstGeom>
          <a:noFill/>
        </p:spPr>
        <p:txBody>
          <a:bodyPr wrap="none" lIns="0" rIns="0" tIns="0" bIns="0" anchor="t">
            <a:noAutofit/>
          </a:bodyPr>
          <a:lstStyle/>
          <a:p>
            <a:pPr algn="l">
              <a:lnSpc>
                <a:spcPts val="1248"/>
              </a:lnSpc>
              <a:spcBef>
                <a:spcPts val="0"/>
              </a:spcBef>
              <a:spcAft>
                <a:spcPts val="0"/>
              </a:spcAft>
            </a:pPr>
            <a:r>
              <a:rPr sz="950" b="0" i="0" lang="es-CO" spc="48">
                <a:solidFill>
                  <a:srgbClr val="C9CFC6"/>
                </a:solidFill>
                <a:latin typeface="Outfit"/>
              </a:rPr>
              <a:t>Doña Marta · Zona de muestra</a:t>
            </a:r>
          </a:p>
        </p:txBody>
      </p:sp>
      <p:sp>
        <p:nvSpPr>
          <p:cNvPr id="34" name="TextBox 33"/>
          <p:cNvSpPr txBox="1"/>
          <p:nvPr/>
        </p:nvSpPr>
        <p:spPr>
          <a:xfrm>
            <a:off x="10594848" y="4006024"/>
            <a:ext cx="768096" cy="292608"/>
          </a:xfrm>
          <a:prstGeom prst="rect">
            <a:avLst/>
          </a:prstGeom>
          <a:noFill/>
        </p:spPr>
        <p:txBody>
          <a:bodyPr wrap="none" lIns="0" rIns="0" tIns="0" bIns="0" anchor="t">
            <a:noAutofit/>
          </a:bodyPr>
          <a:lstStyle/>
          <a:p>
            <a:pPr algn="l">
              <a:lnSpc>
                <a:spcPts val="2304"/>
              </a:lnSpc>
              <a:spcBef>
                <a:spcPts val="0"/>
              </a:spcBef>
              <a:spcAft>
                <a:spcPts val="0"/>
              </a:spcAft>
            </a:pPr>
            <a:r>
              <a:rPr sz="1825" b="1" i="0" lang="es-CO">
                <a:solidFill>
                  <a:srgbClr val="F4C430"/>
                </a:solidFill>
                <a:latin typeface="Caveat"/>
              </a:rPr>
              <a:t>$17.000</a:t>
            </a:r>
          </a:p>
        </p:txBody>
      </p:sp>
      <p:cxnSp>
        <p:nvCxnSpPr>
          <p:cNvPr id="35" name="Connector 34"/>
          <p:cNvCxnSpPr/>
          <p:nvPr/>
        </p:nvCxnSpPr>
        <p:spPr>
          <a:xfrm>
            <a:off x="487680" y="6327648"/>
            <a:ext cx="11216640" cy="0"/>
          </a:xfrm>
          <a:prstGeom prst="line">
            <a:avLst/>
          </a:prstGeom>
          <a:ln w="24384" cap="flat">
            <a:solidFill>
              <a:srgbClr val="D8C39C"/>
            </a:solidFill>
          </a:ln>
        </p:spPr>
      </p:cxnSp>
      <p:sp>
        <p:nvSpPr>
          <p:cNvPr id="36" name="TextBox 35"/>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37" name="TextBox 36"/>
          <p:cNvSpPr txBox="1"/>
          <p:nvPr/>
        </p:nvSpPr>
        <p:spPr>
          <a:xfrm>
            <a:off x="11238738" y="6486144"/>
            <a:ext cx="563118"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02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08229"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03</a:t>
            </a:r>
          </a:p>
        </p:txBody>
      </p:sp>
      <p:sp>
        <p:nvSpPr>
          <p:cNvPr id="5" name="TextBox 4"/>
          <p:cNvSpPr txBox="1"/>
          <p:nvPr/>
        </p:nvSpPr>
        <p:spPr>
          <a:xfrm>
            <a:off x="1259205" y="365760"/>
            <a:ext cx="1997850"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Nombre y Eslogan</a:t>
            </a:r>
          </a:p>
        </p:txBody>
      </p:sp>
      <p:sp>
        <p:nvSpPr>
          <p:cNvPr id="6" name="TextBox 5"/>
          <p:cNvSpPr txBox="1"/>
          <p:nvPr/>
        </p:nvSpPr>
        <p:spPr>
          <a:xfrm>
            <a:off x="487680" y="713232"/>
            <a:ext cx="3811505"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El nombre.</a:t>
            </a:r>
          </a:p>
        </p:txBody>
      </p:sp>
      <p:sp>
        <p:nvSpPr>
          <p:cNvPr id="7" name="TextBox 6"/>
          <p:cNvSpPr txBox="1"/>
          <p:nvPr/>
        </p:nvSpPr>
        <p:spPr>
          <a:xfrm>
            <a:off x="487680" y="1395984"/>
            <a:ext cx="3721398"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El eslogan.</a:t>
            </a:r>
          </a:p>
        </p:txBody>
      </p:sp>
      <p:sp>
        <p:nvSpPr>
          <p:cNvPr id="8" name="TextBox 7"/>
          <p:cNvSpPr txBox="1"/>
          <p:nvPr/>
        </p:nvSpPr>
        <p:spPr>
          <a:xfrm>
            <a:off x="487680" y="2078736"/>
            <a:ext cx="4531100"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La identidad.</a:t>
            </a:r>
          </a:p>
        </p:txBody>
      </p:sp>
      <p:sp>
        <p:nvSpPr>
          <p:cNvPr id="9" name="TextBox 8"/>
          <p:cNvSpPr txBox="1"/>
          <p:nvPr/>
        </p:nvSpPr>
        <p:spPr>
          <a:xfrm>
            <a:off x="487680" y="3027578"/>
            <a:ext cx="4320292" cy="382219"/>
          </a:xfrm>
          <a:prstGeom prst="rect">
            <a:avLst/>
          </a:prstGeom>
          <a:noFill/>
        </p:spPr>
        <p:txBody>
          <a:bodyPr wrap="none" lIns="0" rIns="0" tIns="0" bIns="0" anchor="t">
            <a:noAutofit/>
          </a:bodyPr>
          <a:lstStyle/>
          <a:p>
            <a:pPr algn="l">
              <a:lnSpc>
                <a:spcPts val="3009"/>
              </a:lnSpc>
              <a:spcBef>
                <a:spcPts val="0"/>
              </a:spcBef>
              <a:spcAft>
                <a:spcPts val="0"/>
              </a:spcAft>
            </a:pPr>
            <a:r>
              <a:rPr sz="1825" b="0" i="1" lang="es-CO">
                <a:solidFill>
                  <a:srgbClr val="2B2117"/>
                </a:solidFill>
                <a:latin typeface="Playfair Display"/>
              </a:rPr>
              <a:t>"Comida casera a un paso de tu puerta."</a:t>
            </a:r>
          </a:p>
        </p:txBody>
      </p:sp>
      <p:sp>
        <p:nvSpPr>
          <p:cNvPr id="10" name="Rounded Rectangle 9"/>
          <p:cNvSpPr/>
          <p:nvPr/>
        </p:nvSpPr>
        <p:spPr>
          <a:xfrm>
            <a:off x="487680" y="3722751"/>
            <a:ext cx="2639568" cy="1907096"/>
          </a:xfrm>
          <a:prstGeom prst="roundRect">
            <a:avLst>
              <a:gd name="adj" fmla="val 3835"/>
            </a:avLst>
          </a:prstGeom>
          <a:solidFill>
            <a:srgbClr val="D8C39C"/>
          </a:solidFill>
          <a:ln>
            <a:noFill/>
          </a:ln>
        </p:spPr>
        <p:txBody>
          <a:bodyPr rtlCol="0" anchor="ctr"/>
          <a:lstStyle/>
          <a:p>
            <a:pPr algn="ctr"/>
          </a:p>
        </p:txBody>
      </p:sp>
      <p:sp>
        <p:nvSpPr>
          <p:cNvPr id="11" name="Rounded Rectangle 10"/>
          <p:cNvSpPr/>
          <p:nvPr/>
        </p:nvSpPr>
        <p:spPr>
          <a:xfrm>
            <a:off x="493776" y="3692271"/>
            <a:ext cx="2627376"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12" name="TextBox 11"/>
          <p:cNvSpPr txBox="1"/>
          <p:nvPr/>
        </p:nvSpPr>
        <p:spPr>
          <a:xfrm>
            <a:off x="768096" y="3966591"/>
            <a:ext cx="259080"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01</a:t>
            </a:r>
          </a:p>
        </p:txBody>
      </p:sp>
      <p:sp>
        <p:nvSpPr>
          <p:cNvPr id="13" name="TextBox 12"/>
          <p:cNvSpPr txBox="1"/>
          <p:nvPr/>
        </p:nvSpPr>
        <p:spPr>
          <a:xfrm>
            <a:off x="768096" y="4234815"/>
            <a:ext cx="643890"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"Olla"</a:t>
            </a:r>
          </a:p>
        </p:txBody>
      </p:sp>
      <p:sp>
        <p:nvSpPr>
          <p:cNvPr id="14" name="TextBox 13"/>
          <p:cNvSpPr txBox="1"/>
          <p:nvPr/>
        </p:nvSpPr>
        <p:spPr>
          <a:xfrm>
            <a:off x="768096" y="4575277"/>
            <a:ext cx="2203460"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Cocina tradicional, fuego</a:t>
            </a:r>
            <a:br/>
            <a:r>
              <a:rPr sz="1250" b="0" i="0" lang="es-CO">
                <a:solidFill>
                  <a:srgbClr val="5B4A38"/>
                </a:solidFill>
                <a:latin typeface="Outfit"/>
              </a:rPr>
              <a:t>lento y el calor del hogar.</a:t>
            </a:r>
          </a:p>
        </p:txBody>
      </p:sp>
      <p:sp>
        <p:nvSpPr>
          <p:cNvPr id="15" name="Rounded Rectangle 14"/>
          <p:cNvSpPr/>
          <p:nvPr/>
        </p:nvSpPr>
        <p:spPr>
          <a:xfrm>
            <a:off x="3346704" y="3722751"/>
            <a:ext cx="2639568" cy="1907096"/>
          </a:xfrm>
          <a:prstGeom prst="roundRect">
            <a:avLst>
              <a:gd name="adj" fmla="val 3835"/>
            </a:avLst>
          </a:prstGeom>
          <a:solidFill>
            <a:srgbClr val="D8C39C"/>
          </a:solidFill>
          <a:ln>
            <a:noFill/>
          </a:ln>
        </p:spPr>
        <p:txBody>
          <a:bodyPr rtlCol="0" anchor="ctr"/>
          <a:lstStyle/>
          <a:p>
            <a:pPr algn="ctr"/>
          </a:p>
        </p:txBody>
      </p:sp>
      <p:sp>
        <p:nvSpPr>
          <p:cNvPr id="16" name="Rounded Rectangle 15"/>
          <p:cNvSpPr/>
          <p:nvPr/>
        </p:nvSpPr>
        <p:spPr>
          <a:xfrm>
            <a:off x="3352800" y="3692271"/>
            <a:ext cx="2627376"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17" name="TextBox 16"/>
          <p:cNvSpPr txBox="1"/>
          <p:nvPr/>
        </p:nvSpPr>
        <p:spPr>
          <a:xfrm>
            <a:off x="3627120" y="3966591"/>
            <a:ext cx="284036"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02</a:t>
            </a:r>
          </a:p>
        </p:txBody>
      </p:sp>
      <p:sp>
        <p:nvSpPr>
          <p:cNvPr id="18" name="TextBox 17"/>
          <p:cNvSpPr txBox="1"/>
          <p:nvPr/>
        </p:nvSpPr>
        <p:spPr>
          <a:xfrm>
            <a:off x="3627120" y="4234815"/>
            <a:ext cx="1032320"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"Cercana"</a:t>
            </a:r>
          </a:p>
        </p:txBody>
      </p:sp>
      <p:sp>
        <p:nvSpPr>
          <p:cNvPr id="19" name="TextBox 18"/>
          <p:cNvSpPr txBox="1"/>
          <p:nvPr/>
        </p:nvSpPr>
        <p:spPr>
          <a:xfrm>
            <a:off x="3627120" y="4575277"/>
            <a:ext cx="2203460"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Proximidad hiperlocal y</a:t>
            </a:r>
            <a:br/>
            <a:r>
              <a:rPr sz="1250" b="0" i="0" lang="es-CO">
                <a:solidFill>
                  <a:srgbClr val="5B4A38"/>
                </a:solidFill>
                <a:latin typeface="Outfit"/>
              </a:rPr>
              <a:t>coordinación vecinal.</a:t>
            </a:r>
          </a:p>
        </p:txBody>
      </p:sp>
      <p:sp>
        <p:nvSpPr>
          <p:cNvPr id="20" name="Rounded Rectangle 19"/>
          <p:cNvSpPr/>
          <p:nvPr/>
        </p:nvSpPr>
        <p:spPr>
          <a:xfrm>
            <a:off x="6205728" y="3722751"/>
            <a:ext cx="2639568" cy="1907096"/>
          </a:xfrm>
          <a:prstGeom prst="roundRect">
            <a:avLst>
              <a:gd name="adj" fmla="val 3835"/>
            </a:avLst>
          </a:prstGeom>
          <a:solidFill>
            <a:srgbClr val="D8C39C"/>
          </a:solidFill>
          <a:ln>
            <a:noFill/>
          </a:ln>
        </p:spPr>
        <p:txBody>
          <a:bodyPr rtlCol="0" anchor="ctr"/>
          <a:lstStyle/>
          <a:p>
            <a:pPr algn="ctr"/>
          </a:p>
        </p:txBody>
      </p:sp>
      <p:sp>
        <p:nvSpPr>
          <p:cNvPr id="21" name="Rounded Rectangle 20"/>
          <p:cNvSpPr/>
          <p:nvPr/>
        </p:nvSpPr>
        <p:spPr>
          <a:xfrm>
            <a:off x="6211824" y="3692271"/>
            <a:ext cx="2627376"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22" name="TextBox 21"/>
          <p:cNvSpPr txBox="1"/>
          <p:nvPr/>
        </p:nvSpPr>
        <p:spPr>
          <a:xfrm>
            <a:off x="6486144" y="3966591"/>
            <a:ext cx="283464"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03</a:t>
            </a:r>
          </a:p>
        </p:txBody>
      </p:sp>
      <p:sp>
        <p:nvSpPr>
          <p:cNvPr id="23" name="TextBox 22"/>
          <p:cNvSpPr txBox="1"/>
          <p:nvPr/>
        </p:nvSpPr>
        <p:spPr>
          <a:xfrm>
            <a:off x="6486144" y="4234815"/>
            <a:ext cx="1008888"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Concepto</a:t>
            </a:r>
          </a:p>
        </p:txBody>
      </p:sp>
      <p:sp>
        <p:nvSpPr>
          <p:cNvPr id="24" name="TextBox 23"/>
          <p:cNvSpPr txBox="1"/>
          <p:nvPr/>
        </p:nvSpPr>
        <p:spPr>
          <a:xfrm>
            <a:off x="6486144" y="4575277"/>
            <a:ext cx="2203460"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Calidez casera fusionada con</a:t>
            </a:r>
            <a:br/>
            <a:r>
              <a:rPr sz="1250" b="0" i="0" lang="es-CO">
                <a:solidFill>
                  <a:srgbClr val="5B4A38"/>
                </a:solidFill>
                <a:latin typeface="Outfit"/>
              </a:rPr>
              <a:t>logística eficiente y moderna.</a:t>
            </a:r>
          </a:p>
        </p:txBody>
      </p:sp>
      <p:sp>
        <p:nvSpPr>
          <p:cNvPr id="25" name="Rounded Rectangle 24"/>
          <p:cNvSpPr/>
          <p:nvPr/>
        </p:nvSpPr>
        <p:spPr>
          <a:xfrm>
            <a:off x="9064752" y="3722751"/>
            <a:ext cx="2639568" cy="1907096"/>
          </a:xfrm>
          <a:prstGeom prst="roundRect">
            <a:avLst>
              <a:gd name="adj" fmla="val 3835"/>
            </a:avLst>
          </a:prstGeom>
          <a:solidFill>
            <a:srgbClr val="D8C39C"/>
          </a:solidFill>
          <a:ln>
            <a:noFill/>
          </a:ln>
        </p:spPr>
        <p:txBody>
          <a:bodyPr rtlCol="0" anchor="ctr"/>
          <a:lstStyle/>
          <a:p>
            <a:pPr algn="ctr"/>
          </a:p>
        </p:txBody>
      </p:sp>
      <p:sp>
        <p:nvSpPr>
          <p:cNvPr id="26" name="Rounded Rectangle 25"/>
          <p:cNvSpPr/>
          <p:nvPr/>
        </p:nvSpPr>
        <p:spPr>
          <a:xfrm>
            <a:off x="9070848" y="3692271"/>
            <a:ext cx="2627376"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27" name="TextBox 26"/>
          <p:cNvSpPr txBox="1"/>
          <p:nvPr/>
        </p:nvSpPr>
        <p:spPr>
          <a:xfrm>
            <a:off x="9345168" y="3966591"/>
            <a:ext cx="290132"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04</a:t>
            </a:r>
          </a:p>
        </p:txBody>
      </p:sp>
      <p:sp>
        <p:nvSpPr>
          <p:cNvPr id="28" name="TextBox 27"/>
          <p:cNvSpPr txBox="1"/>
          <p:nvPr/>
        </p:nvSpPr>
        <p:spPr>
          <a:xfrm>
            <a:off x="9345168" y="4234815"/>
            <a:ext cx="1010222"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Conexión</a:t>
            </a:r>
          </a:p>
        </p:txBody>
      </p:sp>
      <p:sp>
        <p:nvSpPr>
          <p:cNvPr id="29" name="TextBox 28"/>
          <p:cNvSpPr txBox="1"/>
          <p:nvPr/>
        </p:nvSpPr>
        <p:spPr>
          <a:xfrm>
            <a:off x="9345168" y="4575277"/>
            <a:ext cx="2203460" cy="737006"/>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Enfoque humano y directo</a:t>
            </a:r>
            <a:br/>
            <a:r>
              <a:rPr sz="1250" b="0" i="0" lang="es-CO">
                <a:solidFill>
                  <a:srgbClr val="5B4A38"/>
                </a:solidFill>
                <a:latin typeface="Outfit"/>
              </a:rPr>
              <a:t>que evita tecnicismos</a:t>
            </a:r>
            <a:br/>
            <a:r>
              <a:rPr sz="1250" b="0" i="0" lang="es-CO">
                <a:solidFill>
                  <a:srgbClr val="5B4A38"/>
                </a:solidFill>
                <a:latin typeface="Outfit"/>
              </a:rPr>
              <a:t>complejos.</a:t>
            </a:r>
          </a:p>
        </p:txBody>
      </p:sp>
      <p:cxnSp>
        <p:nvCxnSpPr>
          <p:cNvPr id="30" name="Connector 29"/>
          <p:cNvCxnSpPr/>
          <p:nvPr/>
        </p:nvCxnSpPr>
        <p:spPr>
          <a:xfrm>
            <a:off x="487680" y="6327648"/>
            <a:ext cx="11216640" cy="0"/>
          </a:xfrm>
          <a:prstGeom prst="line">
            <a:avLst/>
          </a:prstGeom>
          <a:ln w="24384" cap="flat">
            <a:solidFill>
              <a:srgbClr val="D8C39C"/>
            </a:solidFill>
          </a:ln>
        </p:spPr>
      </p:cxnSp>
      <p:sp>
        <p:nvSpPr>
          <p:cNvPr id="31" name="TextBox 30"/>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32" name="TextBox 31"/>
          <p:cNvSpPr txBox="1"/>
          <p:nvPr/>
        </p:nvSpPr>
        <p:spPr>
          <a:xfrm>
            <a:off x="11242738" y="6486144"/>
            <a:ext cx="559118"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03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1470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04</a:t>
            </a:r>
          </a:p>
        </p:txBody>
      </p:sp>
      <p:sp>
        <p:nvSpPr>
          <p:cNvPr id="5" name="TextBox 4"/>
          <p:cNvSpPr txBox="1"/>
          <p:nvPr/>
        </p:nvSpPr>
        <p:spPr>
          <a:xfrm>
            <a:off x="1265682" y="365760"/>
            <a:ext cx="1539354"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Fundamentos</a:t>
            </a:r>
          </a:p>
        </p:txBody>
      </p:sp>
      <p:sp>
        <p:nvSpPr>
          <p:cNvPr id="6" name="TextBox 5"/>
          <p:cNvSpPr txBox="1"/>
          <p:nvPr/>
        </p:nvSpPr>
        <p:spPr>
          <a:xfrm>
            <a:off x="487680" y="713232"/>
            <a:ext cx="3390309"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Propósito</a:t>
            </a:r>
          </a:p>
        </p:txBody>
      </p:sp>
      <p:sp>
        <p:nvSpPr>
          <p:cNvPr id="7" name="TextBox 6"/>
          <p:cNvSpPr txBox="1"/>
          <p:nvPr/>
        </p:nvSpPr>
        <p:spPr>
          <a:xfrm>
            <a:off x="487680" y="1395984"/>
            <a:ext cx="3204020"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y valores.</a:t>
            </a:r>
          </a:p>
        </p:txBody>
      </p:sp>
      <p:sp>
        <p:nvSpPr>
          <p:cNvPr id="8" name="TextBox 7"/>
          <p:cNvSpPr txBox="1"/>
          <p:nvPr/>
        </p:nvSpPr>
        <p:spPr>
          <a:xfrm>
            <a:off x="487680" y="2301850"/>
            <a:ext cx="8012582" cy="643738"/>
          </a:xfrm>
          <a:prstGeom prst="rect">
            <a:avLst/>
          </a:prstGeom>
          <a:noFill/>
        </p:spPr>
        <p:txBody>
          <a:bodyPr wrap="square" lIns="0" rIns="0" tIns="0" bIns="0" anchor="t">
            <a:noAutofit/>
          </a:bodyPr>
          <a:lstStyle/>
          <a:p>
            <a:pPr algn="l">
              <a:lnSpc>
                <a:spcPts val="2534"/>
              </a:lnSpc>
              <a:spcBef>
                <a:spcPts val="0"/>
              </a:spcBef>
              <a:spcAft>
                <a:spcPts val="0"/>
              </a:spcAft>
            </a:pPr>
            <a:r>
              <a:rPr sz="1525" b="0" i="0" lang="es-CO">
                <a:solidFill>
                  <a:srgbClr val="5B4A38"/>
                </a:solidFill>
                <a:latin typeface="Outfit"/>
              </a:rPr>
              <a:t>Los cuatro pilares que sostienen cada decisión de producto, de contenido y de</a:t>
            </a:r>
            <a:br/>
            <a:r>
              <a:rPr sz="1525" b="0" i="0" lang="es-CO">
                <a:solidFill>
                  <a:srgbClr val="5B4A38"/>
                </a:solidFill>
                <a:latin typeface="Outfit"/>
              </a:rPr>
              <a:t>comunidad dentro de OllaCercana.</a:t>
            </a:r>
          </a:p>
        </p:txBody>
      </p:sp>
      <p:sp>
        <p:nvSpPr>
          <p:cNvPr id="9" name="Rounded Rectangle 8"/>
          <p:cNvSpPr/>
          <p:nvPr/>
        </p:nvSpPr>
        <p:spPr>
          <a:xfrm>
            <a:off x="487680" y="3252597"/>
            <a:ext cx="2639568" cy="2861500"/>
          </a:xfrm>
          <a:prstGeom prst="roundRect">
            <a:avLst>
              <a:gd name="adj" fmla="val 2771"/>
            </a:avLst>
          </a:prstGeom>
          <a:solidFill>
            <a:srgbClr val="D8C39C"/>
          </a:solidFill>
          <a:ln>
            <a:noFill/>
          </a:ln>
        </p:spPr>
        <p:txBody>
          <a:bodyPr rtlCol="0" anchor="ctr"/>
          <a:lstStyle/>
          <a:p>
            <a:pPr algn="ctr"/>
          </a:p>
        </p:txBody>
      </p:sp>
      <p:sp>
        <p:nvSpPr>
          <p:cNvPr id="10" name="Rounded Rectangle 9"/>
          <p:cNvSpPr/>
          <p:nvPr/>
        </p:nvSpPr>
        <p:spPr>
          <a:xfrm>
            <a:off x="493776" y="3222117"/>
            <a:ext cx="2627376" cy="2849308"/>
          </a:xfrm>
          <a:prstGeom prst="roundRect">
            <a:avLst>
              <a:gd name="adj" fmla="val 2552"/>
            </a:avLst>
          </a:prstGeom>
          <a:solidFill>
            <a:srgbClr val="EFE0C2"/>
          </a:solidFill>
          <a:ln w="12192" cap="flat">
            <a:solidFill>
              <a:srgbClr val="D8C39C"/>
            </a:solidFill>
          </a:ln>
        </p:spPr>
        <p:txBody>
          <a:bodyPr rtlCol="0" anchor="ctr"/>
          <a:lstStyle/>
          <a:p>
            <a:pPr algn="ctr"/>
          </a:p>
        </p:txBody>
      </p:sp>
      <p:sp>
        <p:nvSpPr>
          <p:cNvPr id="11" name="Oval 10"/>
          <p:cNvSpPr/>
          <p:nvPr/>
        </p:nvSpPr>
        <p:spPr>
          <a:xfrm>
            <a:off x="780288" y="3508629"/>
            <a:ext cx="609600" cy="609600"/>
          </a:xfrm>
          <a:prstGeom prst="ellipse">
            <a:avLst/>
          </a:prstGeom>
          <a:solidFill>
            <a:srgbClr val="F3E7D2"/>
          </a:solidFill>
          <a:ln w="24384" cap="flat">
            <a:solidFill>
              <a:srgbClr val="8B5E34"/>
            </a:solidFill>
          </a:ln>
        </p:spPr>
        <p:txBody>
          <a:bodyPr rtlCol="0" anchor="ctr"/>
          <a:lstStyle/>
          <a:p>
            <a:pPr algn="ctr"/>
          </a:p>
        </p:txBody>
      </p:sp>
      <p:pic>
        <p:nvPicPr>
          <p:cNvPr id="12" name="Picture 11" descr="s05_r1.png"/>
          <p:cNvPicPr>
            <a:picLocks noChangeAspect="1"/>
          </p:cNvPicPr>
          <p:nvPr/>
        </p:nvPicPr>
        <p:blipFill>
          <a:blip r:embed="rId3"/>
          <a:stretch>
            <a:fillRect/>
          </a:stretch>
        </p:blipFill>
        <p:spPr>
          <a:xfrm>
            <a:off x="938784" y="3657600"/>
            <a:ext cx="292608" cy="304800"/>
          </a:xfrm>
          <a:prstGeom prst="rect">
            <a:avLst/>
          </a:prstGeom>
        </p:spPr>
      </p:pic>
      <p:sp>
        <p:nvSpPr>
          <p:cNvPr id="13" name="TextBox 12"/>
          <p:cNvSpPr txBox="1"/>
          <p:nvPr/>
        </p:nvSpPr>
        <p:spPr>
          <a:xfrm>
            <a:off x="768096" y="4227957"/>
            <a:ext cx="950976"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Cercanía</a:t>
            </a:r>
          </a:p>
        </p:txBody>
      </p:sp>
      <p:sp>
        <p:nvSpPr>
          <p:cNvPr id="14" name="TextBox 13"/>
          <p:cNvSpPr txBox="1"/>
          <p:nvPr/>
        </p:nvSpPr>
        <p:spPr>
          <a:xfrm>
            <a:off x="768096" y="4568419"/>
            <a:ext cx="2203460" cy="982675"/>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La distancia física entre</a:t>
            </a:r>
            <a:br/>
            <a:r>
              <a:rPr sz="1250" b="0" i="0" lang="es-CO">
                <a:solidFill>
                  <a:srgbClr val="5B4A38"/>
                </a:solidFill>
                <a:latin typeface="Outfit"/>
              </a:rPr>
              <a:t>vecinos —no una calificación</a:t>
            </a:r>
            <a:br/>
            <a:r>
              <a:rPr sz="1250" b="0" i="0" lang="es-CO">
                <a:solidFill>
                  <a:srgbClr val="5B4A38"/>
                </a:solidFill>
                <a:latin typeface="Outfit"/>
              </a:rPr>
              <a:t>anónima— es la base de la</a:t>
            </a:r>
            <a:br/>
            <a:r>
              <a:rPr sz="1250" b="0" i="0" lang="es-CO">
                <a:solidFill>
                  <a:srgbClr val="5B4A38"/>
                </a:solidFill>
                <a:latin typeface="Outfit"/>
              </a:rPr>
              <a:t>confianza.</a:t>
            </a:r>
          </a:p>
        </p:txBody>
      </p:sp>
      <p:sp>
        <p:nvSpPr>
          <p:cNvPr id="15" name="Rounded Rectangle 14"/>
          <p:cNvSpPr/>
          <p:nvPr/>
        </p:nvSpPr>
        <p:spPr>
          <a:xfrm>
            <a:off x="3346704" y="3252597"/>
            <a:ext cx="2639568" cy="2861500"/>
          </a:xfrm>
          <a:prstGeom prst="roundRect">
            <a:avLst>
              <a:gd name="adj" fmla="val 2771"/>
            </a:avLst>
          </a:prstGeom>
          <a:solidFill>
            <a:srgbClr val="D8C39C"/>
          </a:solidFill>
          <a:ln>
            <a:noFill/>
          </a:ln>
        </p:spPr>
        <p:txBody>
          <a:bodyPr rtlCol="0" anchor="ctr"/>
          <a:lstStyle/>
          <a:p>
            <a:pPr algn="ctr"/>
          </a:p>
        </p:txBody>
      </p:sp>
      <p:sp>
        <p:nvSpPr>
          <p:cNvPr id="16" name="Rounded Rectangle 15"/>
          <p:cNvSpPr/>
          <p:nvPr/>
        </p:nvSpPr>
        <p:spPr>
          <a:xfrm>
            <a:off x="3352800" y="3222117"/>
            <a:ext cx="2627376" cy="2849308"/>
          </a:xfrm>
          <a:prstGeom prst="roundRect">
            <a:avLst>
              <a:gd name="adj" fmla="val 2552"/>
            </a:avLst>
          </a:prstGeom>
          <a:solidFill>
            <a:srgbClr val="EFE0C2"/>
          </a:solidFill>
          <a:ln w="12192" cap="flat">
            <a:solidFill>
              <a:srgbClr val="D8C39C"/>
            </a:solidFill>
          </a:ln>
        </p:spPr>
        <p:txBody>
          <a:bodyPr rtlCol="0" anchor="ctr"/>
          <a:lstStyle/>
          <a:p>
            <a:pPr algn="ctr"/>
          </a:p>
        </p:txBody>
      </p:sp>
      <p:sp>
        <p:nvSpPr>
          <p:cNvPr id="17" name="Oval 16"/>
          <p:cNvSpPr/>
          <p:nvPr/>
        </p:nvSpPr>
        <p:spPr>
          <a:xfrm>
            <a:off x="3639312" y="3508629"/>
            <a:ext cx="609600" cy="609600"/>
          </a:xfrm>
          <a:prstGeom prst="ellipse">
            <a:avLst/>
          </a:prstGeom>
          <a:solidFill>
            <a:srgbClr val="F3E7D2"/>
          </a:solidFill>
          <a:ln w="24384" cap="flat">
            <a:solidFill>
              <a:srgbClr val="8B5E34"/>
            </a:solidFill>
          </a:ln>
        </p:spPr>
        <p:txBody>
          <a:bodyPr rtlCol="0" anchor="ctr"/>
          <a:lstStyle/>
          <a:p>
            <a:pPr algn="ctr"/>
          </a:p>
        </p:txBody>
      </p:sp>
      <p:pic>
        <p:nvPicPr>
          <p:cNvPr id="18" name="Picture 17" descr="s05_r2.png"/>
          <p:cNvPicPr>
            <a:picLocks noChangeAspect="1"/>
          </p:cNvPicPr>
          <p:nvPr/>
        </p:nvPicPr>
        <p:blipFill>
          <a:blip r:embed="rId4"/>
          <a:stretch>
            <a:fillRect/>
          </a:stretch>
        </p:blipFill>
        <p:spPr>
          <a:xfrm>
            <a:off x="3791712" y="3657600"/>
            <a:ext cx="304800" cy="304800"/>
          </a:xfrm>
          <a:prstGeom prst="rect">
            <a:avLst/>
          </a:prstGeom>
        </p:spPr>
      </p:pic>
      <p:sp>
        <p:nvSpPr>
          <p:cNvPr id="19" name="TextBox 18"/>
          <p:cNvSpPr txBox="1"/>
          <p:nvPr/>
        </p:nvSpPr>
        <p:spPr>
          <a:xfrm>
            <a:off x="3627120" y="4227957"/>
            <a:ext cx="1065086"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Confianza</a:t>
            </a:r>
          </a:p>
        </p:txBody>
      </p:sp>
      <p:sp>
        <p:nvSpPr>
          <p:cNvPr id="20" name="TextBox 19"/>
          <p:cNvSpPr txBox="1"/>
          <p:nvPr/>
        </p:nvSpPr>
        <p:spPr>
          <a:xfrm>
            <a:off x="3627120" y="4568419"/>
            <a:ext cx="2203460" cy="1228344"/>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Los perfiles y reseñas ayudan</a:t>
            </a:r>
            <a:br/>
            <a:r>
              <a:rPr sz="1250" b="0" i="0" lang="es-CO">
                <a:solidFill>
                  <a:srgbClr val="5B4A38"/>
                </a:solidFill>
                <a:latin typeface="Outfit"/>
              </a:rPr>
              <a:t>a explicar la experiencia de</a:t>
            </a:r>
            <a:br/>
            <a:r>
              <a:rPr sz="1250" b="0" i="0" lang="es-CO">
                <a:solidFill>
                  <a:srgbClr val="5B4A38"/>
                </a:solidFill>
                <a:latin typeface="Outfit"/>
              </a:rPr>
              <a:t>confianza; en esta vista de</a:t>
            </a:r>
            <a:br/>
            <a:r>
              <a:rPr sz="1250" b="0" i="0" lang="es-CO">
                <a:solidFill>
                  <a:srgbClr val="5B4A38"/>
                </a:solidFill>
                <a:latin typeface="Outfit"/>
              </a:rPr>
              <a:t>demostración, su contenido</a:t>
            </a:r>
            <a:br/>
            <a:r>
              <a:rPr sz="1250" b="0" i="0" lang="es-CO">
                <a:solidFill>
                  <a:srgbClr val="5B4A38"/>
                </a:solidFill>
                <a:latin typeface="Outfit"/>
              </a:rPr>
              <a:t>es ilustrativo.</a:t>
            </a:r>
          </a:p>
        </p:txBody>
      </p:sp>
      <p:sp>
        <p:nvSpPr>
          <p:cNvPr id="21" name="Rounded Rectangle 20"/>
          <p:cNvSpPr/>
          <p:nvPr/>
        </p:nvSpPr>
        <p:spPr>
          <a:xfrm>
            <a:off x="6205728" y="3252597"/>
            <a:ext cx="2639568" cy="2861500"/>
          </a:xfrm>
          <a:prstGeom prst="roundRect">
            <a:avLst>
              <a:gd name="adj" fmla="val 2771"/>
            </a:avLst>
          </a:prstGeom>
          <a:solidFill>
            <a:srgbClr val="D8C39C"/>
          </a:solidFill>
          <a:ln>
            <a:noFill/>
          </a:ln>
        </p:spPr>
        <p:txBody>
          <a:bodyPr rtlCol="0" anchor="ctr"/>
          <a:lstStyle/>
          <a:p>
            <a:pPr algn="ctr"/>
          </a:p>
        </p:txBody>
      </p:sp>
      <p:sp>
        <p:nvSpPr>
          <p:cNvPr id="22" name="Rounded Rectangle 21"/>
          <p:cNvSpPr/>
          <p:nvPr/>
        </p:nvSpPr>
        <p:spPr>
          <a:xfrm>
            <a:off x="6211824" y="3222117"/>
            <a:ext cx="2627376" cy="2849308"/>
          </a:xfrm>
          <a:prstGeom prst="roundRect">
            <a:avLst>
              <a:gd name="adj" fmla="val 2552"/>
            </a:avLst>
          </a:prstGeom>
          <a:solidFill>
            <a:srgbClr val="EFE0C2"/>
          </a:solidFill>
          <a:ln w="12192" cap="flat">
            <a:solidFill>
              <a:srgbClr val="D8C39C"/>
            </a:solidFill>
          </a:ln>
        </p:spPr>
        <p:txBody>
          <a:bodyPr rtlCol="0" anchor="ctr"/>
          <a:lstStyle/>
          <a:p>
            <a:pPr algn="ctr"/>
          </a:p>
        </p:txBody>
      </p:sp>
      <p:sp>
        <p:nvSpPr>
          <p:cNvPr id="23" name="Oval 22"/>
          <p:cNvSpPr/>
          <p:nvPr/>
        </p:nvSpPr>
        <p:spPr>
          <a:xfrm>
            <a:off x="6498336" y="3508629"/>
            <a:ext cx="609600" cy="609600"/>
          </a:xfrm>
          <a:prstGeom prst="ellipse">
            <a:avLst/>
          </a:prstGeom>
          <a:solidFill>
            <a:srgbClr val="F3E7D2"/>
          </a:solidFill>
          <a:ln w="24384" cap="flat">
            <a:solidFill>
              <a:srgbClr val="8B5E34"/>
            </a:solidFill>
          </a:ln>
        </p:spPr>
        <p:txBody>
          <a:bodyPr rtlCol="0" anchor="ctr"/>
          <a:lstStyle/>
          <a:p>
            <a:pPr algn="ctr"/>
          </a:p>
        </p:txBody>
      </p:sp>
      <p:pic>
        <p:nvPicPr>
          <p:cNvPr id="24" name="Picture 23" descr="s05_r3.png"/>
          <p:cNvPicPr>
            <a:picLocks noChangeAspect="1"/>
          </p:cNvPicPr>
          <p:nvPr/>
        </p:nvPicPr>
        <p:blipFill>
          <a:blip r:embed="rId5"/>
          <a:stretch>
            <a:fillRect/>
          </a:stretch>
        </p:blipFill>
        <p:spPr>
          <a:xfrm>
            <a:off x="6656832" y="3657600"/>
            <a:ext cx="292608" cy="304800"/>
          </a:xfrm>
          <a:prstGeom prst="rect">
            <a:avLst/>
          </a:prstGeom>
        </p:spPr>
      </p:pic>
      <p:sp>
        <p:nvSpPr>
          <p:cNvPr id="25" name="TextBox 24"/>
          <p:cNvSpPr txBox="1"/>
          <p:nvPr/>
        </p:nvSpPr>
        <p:spPr>
          <a:xfrm>
            <a:off x="6486144" y="4227957"/>
            <a:ext cx="1511065"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Sostenibilidad</a:t>
            </a:r>
          </a:p>
        </p:txBody>
      </p:sp>
      <p:sp>
        <p:nvSpPr>
          <p:cNvPr id="26" name="TextBox 25"/>
          <p:cNvSpPr txBox="1"/>
          <p:nvPr/>
        </p:nvSpPr>
        <p:spPr>
          <a:xfrm>
            <a:off x="6486144" y="4568419"/>
            <a:ext cx="2203460" cy="1228344"/>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La plataforma busca reducir</a:t>
            </a:r>
            <a:br/>
            <a:r>
              <a:rPr sz="1250" b="0" i="0" lang="es-CO">
                <a:solidFill>
                  <a:srgbClr val="5B4A38"/>
                </a:solidFill>
                <a:latin typeface="Outfit"/>
              </a:rPr>
              <a:t>el desperdicio al facilitar que</a:t>
            </a:r>
            <a:br/>
            <a:r>
              <a:rPr sz="1250" b="0" i="0" lang="es-CO">
                <a:solidFill>
                  <a:srgbClr val="5B4A38"/>
                </a:solidFill>
                <a:latin typeface="Outfit"/>
              </a:rPr>
              <a:t>las cocineras ofrezcan</a:t>
            </a:r>
            <a:br/>
            <a:r>
              <a:rPr sz="1250" b="0" i="0" lang="es-CO">
                <a:solidFill>
                  <a:srgbClr val="5B4A38"/>
                </a:solidFill>
                <a:latin typeface="Outfit"/>
              </a:rPr>
              <a:t>porciones disponibles a sus</a:t>
            </a:r>
            <a:br/>
            <a:r>
              <a:rPr sz="1250" b="0" i="0" lang="es-CO">
                <a:solidFill>
                  <a:srgbClr val="5B4A38"/>
                </a:solidFill>
                <a:latin typeface="Outfit"/>
              </a:rPr>
              <a:t>vecinos.</a:t>
            </a:r>
          </a:p>
        </p:txBody>
      </p:sp>
      <p:sp>
        <p:nvSpPr>
          <p:cNvPr id="27" name="Rounded Rectangle 26"/>
          <p:cNvSpPr/>
          <p:nvPr/>
        </p:nvSpPr>
        <p:spPr>
          <a:xfrm>
            <a:off x="9064752" y="3252597"/>
            <a:ext cx="2639568" cy="2861500"/>
          </a:xfrm>
          <a:prstGeom prst="roundRect">
            <a:avLst>
              <a:gd name="adj" fmla="val 2771"/>
            </a:avLst>
          </a:prstGeom>
          <a:solidFill>
            <a:srgbClr val="D8C39C"/>
          </a:solidFill>
          <a:ln>
            <a:noFill/>
          </a:ln>
        </p:spPr>
        <p:txBody>
          <a:bodyPr rtlCol="0" anchor="ctr"/>
          <a:lstStyle/>
          <a:p>
            <a:pPr algn="ctr"/>
          </a:p>
        </p:txBody>
      </p:sp>
      <p:sp>
        <p:nvSpPr>
          <p:cNvPr id="28" name="Rounded Rectangle 27"/>
          <p:cNvSpPr/>
          <p:nvPr/>
        </p:nvSpPr>
        <p:spPr>
          <a:xfrm>
            <a:off x="9070848" y="3222117"/>
            <a:ext cx="2627376" cy="2849308"/>
          </a:xfrm>
          <a:prstGeom prst="roundRect">
            <a:avLst>
              <a:gd name="adj" fmla="val 2552"/>
            </a:avLst>
          </a:prstGeom>
          <a:solidFill>
            <a:srgbClr val="EFE0C2"/>
          </a:solidFill>
          <a:ln w="12192" cap="flat">
            <a:solidFill>
              <a:srgbClr val="D8C39C"/>
            </a:solidFill>
          </a:ln>
        </p:spPr>
        <p:txBody>
          <a:bodyPr rtlCol="0" anchor="ctr"/>
          <a:lstStyle/>
          <a:p>
            <a:pPr algn="ctr"/>
          </a:p>
        </p:txBody>
      </p:sp>
      <p:sp>
        <p:nvSpPr>
          <p:cNvPr id="29" name="Oval 28"/>
          <p:cNvSpPr/>
          <p:nvPr/>
        </p:nvSpPr>
        <p:spPr>
          <a:xfrm>
            <a:off x="9357360" y="3508629"/>
            <a:ext cx="609600" cy="609600"/>
          </a:xfrm>
          <a:prstGeom prst="ellipse">
            <a:avLst/>
          </a:prstGeom>
          <a:solidFill>
            <a:srgbClr val="F3E7D2"/>
          </a:solidFill>
          <a:ln w="24384" cap="flat">
            <a:solidFill>
              <a:srgbClr val="8B5E34"/>
            </a:solidFill>
          </a:ln>
        </p:spPr>
        <p:txBody>
          <a:bodyPr rtlCol="0" anchor="ctr"/>
          <a:lstStyle/>
          <a:p>
            <a:pPr algn="ctr"/>
          </a:p>
        </p:txBody>
      </p:sp>
      <p:pic>
        <p:nvPicPr>
          <p:cNvPr id="30" name="Picture 29" descr="s05_r4.png"/>
          <p:cNvPicPr>
            <a:picLocks noChangeAspect="1"/>
          </p:cNvPicPr>
          <p:nvPr/>
        </p:nvPicPr>
        <p:blipFill>
          <a:blip r:embed="rId6"/>
          <a:stretch>
            <a:fillRect/>
          </a:stretch>
        </p:blipFill>
        <p:spPr>
          <a:xfrm>
            <a:off x="9509760" y="3657600"/>
            <a:ext cx="304800" cy="304800"/>
          </a:xfrm>
          <a:prstGeom prst="rect">
            <a:avLst/>
          </a:prstGeom>
        </p:spPr>
      </p:pic>
      <p:sp>
        <p:nvSpPr>
          <p:cNvPr id="31" name="TextBox 30"/>
          <p:cNvSpPr txBox="1"/>
          <p:nvPr/>
        </p:nvSpPr>
        <p:spPr>
          <a:xfrm>
            <a:off x="9345168" y="4227957"/>
            <a:ext cx="1236764"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Comunidad</a:t>
            </a:r>
          </a:p>
        </p:txBody>
      </p:sp>
      <p:sp>
        <p:nvSpPr>
          <p:cNvPr id="32" name="TextBox 31"/>
          <p:cNvSpPr txBox="1"/>
          <p:nvPr/>
        </p:nvSpPr>
        <p:spPr>
          <a:xfrm>
            <a:off x="9345168" y="4568419"/>
            <a:ext cx="2203460" cy="982675"/>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La plataforma acompaña la</a:t>
            </a:r>
            <a:br/>
            <a:r>
              <a:rPr sz="1250" b="0" i="0" lang="es-CO">
                <a:solidFill>
                  <a:srgbClr val="5B4A38"/>
                </a:solidFill>
                <a:latin typeface="Outfit"/>
              </a:rPr>
              <a:t>vida del barrio y ayuda a</a:t>
            </a:r>
            <a:br/>
            <a:r>
              <a:rPr sz="1250" b="0" i="0" lang="es-CO">
                <a:solidFill>
                  <a:srgbClr val="5B4A38"/>
                </a:solidFill>
                <a:latin typeface="Outfit"/>
              </a:rPr>
              <a:t>descubrir la oferta casera</a:t>
            </a:r>
            <a:br/>
            <a:r>
              <a:rPr sz="1250" b="0" i="0" lang="es-CO">
                <a:solidFill>
                  <a:srgbClr val="5B4A38"/>
                </a:solidFill>
                <a:latin typeface="Outfit"/>
              </a:rPr>
              <a:t>cercana.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1470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04</a:t>
            </a:r>
          </a:p>
        </p:txBody>
      </p:sp>
      <p:sp>
        <p:nvSpPr>
          <p:cNvPr id="5" name="TextBox 4"/>
          <p:cNvSpPr txBox="1"/>
          <p:nvPr/>
        </p:nvSpPr>
        <p:spPr>
          <a:xfrm>
            <a:off x="1265682" y="365760"/>
            <a:ext cx="1539354"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Fundamentos</a:t>
            </a:r>
          </a:p>
        </p:txBody>
      </p:sp>
      <p:sp>
        <p:nvSpPr>
          <p:cNvPr id="6" name="Rounded Rectangle 5"/>
          <p:cNvSpPr/>
          <p:nvPr/>
        </p:nvSpPr>
        <p:spPr>
          <a:xfrm>
            <a:off x="487680" y="975360"/>
            <a:ext cx="5498592" cy="1907096"/>
          </a:xfrm>
          <a:prstGeom prst="roundRect">
            <a:avLst>
              <a:gd name="adj" fmla="val 3835"/>
            </a:avLst>
          </a:prstGeom>
          <a:solidFill>
            <a:srgbClr val="D8C39C"/>
          </a:solidFill>
          <a:ln>
            <a:noFill/>
          </a:ln>
        </p:spPr>
        <p:txBody>
          <a:bodyPr rtlCol="0" anchor="ctr"/>
          <a:lstStyle/>
          <a:p>
            <a:pPr algn="ctr"/>
          </a:p>
        </p:txBody>
      </p:sp>
      <p:sp>
        <p:nvSpPr>
          <p:cNvPr id="7" name="Rounded Rectangle 6"/>
          <p:cNvSpPr/>
          <p:nvPr/>
        </p:nvSpPr>
        <p:spPr>
          <a:xfrm>
            <a:off x="493776" y="944880"/>
            <a:ext cx="5486400"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8" name="TextBox 7"/>
          <p:cNvSpPr txBox="1"/>
          <p:nvPr/>
        </p:nvSpPr>
        <p:spPr>
          <a:xfrm>
            <a:off x="768096" y="1219200"/>
            <a:ext cx="1240326"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Voz de marca</a:t>
            </a:r>
          </a:p>
        </p:txBody>
      </p:sp>
      <p:sp>
        <p:nvSpPr>
          <p:cNvPr id="9" name="TextBox 8"/>
          <p:cNvSpPr txBox="1"/>
          <p:nvPr/>
        </p:nvSpPr>
        <p:spPr>
          <a:xfrm>
            <a:off x="768096" y="1487424"/>
            <a:ext cx="1617307"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Directa y cálida</a:t>
            </a:r>
          </a:p>
        </p:txBody>
      </p:sp>
      <p:sp>
        <p:nvSpPr>
          <p:cNvPr id="10" name="TextBox 9"/>
          <p:cNvSpPr txBox="1"/>
          <p:nvPr/>
        </p:nvSpPr>
        <p:spPr>
          <a:xfrm>
            <a:off x="768096" y="1827886"/>
            <a:ext cx="5234026"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Frases cortas, en español cotidiano, sin jerga corporativa ("apartar</a:t>
            </a:r>
            <a:br/>
            <a:r>
              <a:rPr sz="1250" b="0" i="0" lang="es-CO">
                <a:solidFill>
                  <a:srgbClr val="5B4A38"/>
                </a:solidFill>
                <a:latin typeface="Outfit"/>
              </a:rPr>
              <a:t>porción", no "reservar unidad de inventario").</a:t>
            </a:r>
          </a:p>
        </p:txBody>
      </p:sp>
      <p:sp>
        <p:nvSpPr>
          <p:cNvPr id="11" name="Rounded Rectangle 10"/>
          <p:cNvSpPr/>
          <p:nvPr/>
        </p:nvSpPr>
        <p:spPr>
          <a:xfrm>
            <a:off x="6205728" y="975360"/>
            <a:ext cx="5498592" cy="1907096"/>
          </a:xfrm>
          <a:prstGeom prst="roundRect">
            <a:avLst>
              <a:gd name="adj" fmla="val 3835"/>
            </a:avLst>
          </a:prstGeom>
          <a:solidFill>
            <a:srgbClr val="D8C39C"/>
          </a:solidFill>
          <a:ln>
            <a:noFill/>
          </a:ln>
        </p:spPr>
        <p:txBody>
          <a:bodyPr rtlCol="0" anchor="ctr"/>
          <a:lstStyle/>
          <a:p>
            <a:pPr algn="ctr"/>
          </a:p>
        </p:txBody>
      </p:sp>
      <p:sp>
        <p:nvSpPr>
          <p:cNvPr id="12" name="Rounded Rectangle 11"/>
          <p:cNvSpPr/>
          <p:nvPr/>
        </p:nvSpPr>
        <p:spPr>
          <a:xfrm>
            <a:off x="6211824" y="944880"/>
            <a:ext cx="5486400"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13" name="TextBox 12"/>
          <p:cNvSpPr txBox="1"/>
          <p:nvPr/>
        </p:nvSpPr>
        <p:spPr>
          <a:xfrm>
            <a:off x="6486144" y="1219200"/>
            <a:ext cx="1240326"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Voz de marca</a:t>
            </a:r>
          </a:p>
        </p:txBody>
      </p:sp>
      <p:sp>
        <p:nvSpPr>
          <p:cNvPr id="14" name="TextBox 13"/>
          <p:cNvSpPr txBox="1"/>
          <p:nvPr/>
        </p:nvSpPr>
        <p:spPr>
          <a:xfrm>
            <a:off x="6486144" y="1487424"/>
            <a:ext cx="884492"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Honesta</a:t>
            </a:r>
          </a:p>
        </p:txBody>
      </p:sp>
      <p:sp>
        <p:nvSpPr>
          <p:cNvPr id="15" name="TextBox 14"/>
          <p:cNvSpPr txBox="1"/>
          <p:nvPr/>
        </p:nvSpPr>
        <p:spPr>
          <a:xfrm>
            <a:off x="6486144" y="1827886"/>
            <a:ext cx="5234026" cy="737006"/>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Nunca se promete lo que la app no puede cumplir: precios o</a:t>
            </a:r>
            <a:br/>
            <a:r>
              <a:rPr sz="1250" b="0" i="0" lang="es-CO">
                <a:solidFill>
                  <a:srgbClr val="5B4A38"/>
                </a:solidFill>
                <a:latin typeface="Outfit"/>
              </a:rPr>
              <a:t>disponibilidad garantizados, direcciones exactas antes de confirmar la</a:t>
            </a:r>
            <a:br/>
            <a:r>
              <a:rPr sz="1250" b="0" i="0" lang="es-CO">
                <a:solidFill>
                  <a:srgbClr val="5B4A38"/>
                </a:solidFill>
                <a:latin typeface="Outfit"/>
              </a:rPr>
              <a:t>reserva ni pagos procesados por la plataforma.</a:t>
            </a:r>
          </a:p>
        </p:txBody>
      </p:sp>
      <p:cxnSp>
        <p:nvCxnSpPr>
          <p:cNvPr id="16" name="Connector 15"/>
          <p:cNvCxnSpPr/>
          <p:nvPr/>
        </p:nvCxnSpPr>
        <p:spPr>
          <a:xfrm>
            <a:off x="487680" y="6327648"/>
            <a:ext cx="11216640" cy="0"/>
          </a:xfrm>
          <a:prstGeom prst="line">
            <a:avLst/>
          </a:prstGeom>
          <a:ln w="24384" cap="flat">
            <a:solidFill>
              <a:srgbClr val="D8C39C"/>
            </a:solidFill>
          </a:ln>
        </p:spPr>
      </p:cxnSp>
      <p:sp>
        <p:nvSpPr>
          <p:cNvPr id="17" name="TextBox 16"/>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18" name="TextBox 17"/>
          <p:cNvSpPr txBox="1"/>
          <p:nvPr/>
        </p:nvSpPr>
        <p:spPr>
          <a:xfrm>
            <a:off x="11239310" y="6486144"/>
            <a:ext cx="562546"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04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08229"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05</a:t>
            </a:r>
          </a:p>
        </p:txBody>
      </p:sp>
      <p:sp>
        <p:nvSpPr>
          <p:cNvPr id="5" name="TextBox 4"/>
          <p:cNvSpPr txBox="1"/>
          <p:nvPr/>
        </p:nvSpPr>
        <p:spPr>
          <a:xfrm>
            <a:off x="1259205" y="365760"/>
            <a:ext cx="1901247"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Público Objetivo</a:t>
            </a:r>
          </a:p>
        </p:txBody>
      </p:sp>
      <p:sp>
        <p:nvSpPr>
          <p:cNvPr id="6" name="TextBox 5"/>
          <p:cNvSpPr txBox="1"/>
          <p:nvPr/>
        </p:nvSpPr>
        <p:spPr>
          <a:xfrm>
            <a:off x="487680" y="1357503"/>
            <a:ext cx="2803779"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Publica.</a:t>
            </a:r>
          </a:p>
        </p:txBody>
      </p:sp>
      <p:sp>
        <p:nvSpPr>
          <p:cNvPr id="7" name="TextBox 6"/>
          <p:cNvSpPr txBox="1"/>
          <p:nvPr/>
        </p:nvSpPr>
        <p:spPr>
          <a:xfrm>
            <a:off x="487680" y="2040255"/>
            <a:ext cx="2935167"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Reserva.</a:t>
            </a:r>
          </a:p>
        </p:txBody>
      </p:sp>
      <p:sp>
        <p:nvSpPr>
          <p:cNvPr id="8" name="TextBox 7"/>
          <p:cNvSpPr txBox="1"/>
          <p:nvPr/>
        </p:nvSpPr>
        <p:spPr>
          <a:xfrm>
            <a:off x="487680" y="2723007"/>
            <a:ext cx="3092748"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Disfruta.</a:t>
            </a:r>
          </a:p>
        </p:txBody>
      </p:sp>
      <p:sp>
        <p:nvSpPr>
          <p:cNvPr id="9" name="TextBox 8"/>
          <p:cNvSpPr txBox="1"/>
          <p:nvPr/>
        </p:nvSpPr>
        <p:spPr>
          <a:xfrm>
            <a:off x="487680" y="3606927"/>
            <a:ext cx="2841708"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92">
                <a:solidFill>
                  <a:srgbClr val="4A9C55"/>
                </a:solidFill>
                <a:latin typeface="Outfit"/>
              </a:rPr>
              <a:t>Hiperlocalidad y confianza</a:t>
            </a:r>
          </a:p>
        </p:txBody>
      </p:sp>
      <p:sp>
        <p:nvSpPr>
          <p:cNvPr id="10" name="Rounded Rectangle 9"/>
          <p:cNvSpPr/>
          <p:nvPr/>
        </p:nvSpPr>
        <p:spPr>
          <a:xfrm>
            <a:off x="6931152" y="755904"/>
            <a:ext cx="4773168" cy="1649349"/>
          </a:xfrm>
          <a:prstGeom prst="roundRect">
            <a:avLst>
              <a:gd name="adj" fmla="val 4435"/>
            </a:avLst>
          </a:prstGeom>
          <a:solidFill>
            <a:srgbClr val="D8C39C"/>
          </a:solidFill>
          <a:ln>
            <a:noFill/>
          </a:ln>
        </p:spPr>
        <p:txBody>
          <a:bodyPr rtlCol="0" anchor="ctr"/>
          <a:lstStyle/>
          <a:p>
            <a:pPr algn="ctr"/>
          </a:p>
        </p:txBody>
      </p:sp>
      <p:sp>
        <p:nvSpPr>
          <p:cNvPr id="11" name="Rounded Rectangle 10"/>
          <p:cNvSpPr/>
          <p:nvPr/>
        </p:nvSpPr>
        <p:spPr>
          <a:xfrm>
            <a:off x="6937248" y="725424"/>
            <a:ext cx="4760976" cy="1637157"/>
          </a:xfrm>
          <a:prstGeom prst="roundRect">
            <a:avLst>
              <a:gd name="adj" fmla="val 4095"/>
            </a:avLst>
          </a:prstGeom>
          <a:solidFill>
            <a:srgbClr val="EFE0C2"/>
          </a:solidFill>
          <a:ln w="12192" cap="flat">
            <a:solidFill>
              <a:srgbClr val="D8C39C"/>
            </a:solidFill>
          </a:ln>
        </p:spPr>
        <p:txBody>
          <a:bodyPr rtlCol="0" anchor="ctr"/>
          <a:lstStyle/>
          <a:p>
            <a:pPr algn="ctr"/>
          </a:p>
        </p:txBody>
      </p:sp>
      <p:sp>
        <p:nvSpPr>
          <p:cNvPr id="12" name="Oval 11"/>
          <p:cNvSpPr/>
          <p:nvPr/>
        </p:nvSpPr>
        <p:spPr>
          <a:xfrm>
            <a:off x="7223760" y="1011936"/>
            <a:ext cx="658368" cy="658368"/>
          </a:xfrm>
          <a:prstGeom prst="ellipse">
            <a:avLst/>
          </a:prstGeom>
          <a:noFill/>
          <a:ln w="24384" cap="flat">
            <a:solidFill>
              <a:srgbClr val="8B5E34"/>
            </a:solidFill>
          </a:ln>
        </p:spPr>
        <p:txBody>
          <a:bodyPr rtlCol="0" anchor="ctr"/>
          <a:lstStyle/>
          <a:p>
            <a:pPr algn="ctr"/>
          </a:p>
        </p:txBody>
      </p:sp>
      <p:pic>
        <p:nvPicPr>
          <p:cNvPr id="13" name="Picture 12" descr="cocinera"/>
          <p:cNvPicPr>
            <a:picLocks noChangeAspect="1"/>
          </p:cNvPicPr>
          <p:nvPr/>
        </p:nvPicPr>
        <p:blipFill>
          <a:blip r:embed="rId3"/>
          <a:stretch>
            <a:fillRect/>
          </a:stretch>
        </p:blipFill>
        <p:spPr>
          <a:xfrm>
            <a:off x="7235952" y="1024128"/>
            <a:ext cx="633984" cy="633984"/>
          </a:xfrm>
          <a:prstGeom prst="ellipse">
            <a:avLst/>
          </a:prstGeom>
        </p:spPr>
      </p:pic>
      <p:sp>
        <p:nvSpPr>
          <p:cNvPr id="14" name="TextBox 13"/>
          <p:cNvSpPr txBox="1"/>
          <p:nvPr/>
        </p:nvSpPr>
        <p:spPr>
          <a:xfrm>
            <a:off x="8065008" y="999744"/>
            <a:ext cx="1099090" cy="195072"/>
          </a:xfrm>
          <a:prstGeom prst="rect">
            <a:avLst/>
          </a:prstGeom>
          <a:noFill/>
        </p:spPr>
        <p:txBody>
          <a:bodyPr wrap="none" lIns="0" rIns="0" tIns="0" bIns="0" anchor="t">
            <a:noAutofit/>
          </a:bodyPr>
          <a:lstStyle/>
          <a:p>
            <a:pPr algn="l">
              <a:lnSpc>
                <a:spcPts val="1536"/>
              </a:lnSpc>
              <a:spcBef>
                <a:spcPts val="0"/>
              </a:spcBef>
              <a:spcAft>
                <a:spcPts val="0"/>
              </a:spcAft>
            </a:pPr>
            <a:r>
              <a:rPr sz="1250" b="1" i="0" lang="es-CO">
                <a:solidFill>
                  <a:srgbClr val="D97224"/>
                </a:solidFill>
                <a:latin typeface="Outfit"/>
              </a:rPr>
              <a:t>01 · Cocineras</a:t>
            </a:r>
          </a:p>
        </p:txBody>
      </p:sp>
      <p:sp>
        <p:nvSpPr>
          <p:cNvPr id="15" name="TextBox 14"/>
          <p:cNvSpPr txBox="1"/>
          <p:nvPr/>
        </p:nvSpPr>
        <p:spPr>
          <a:xfrm>
            <a:off x="8065008" y="1193902"/>
            <a:ext cx="3560430"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Personas que cocinan en casa y quieren ofrecer</a:t>
            </a:r>
            <a:br/>
            <a:r>
              <a:rPr sz="1250" b="0" i="0" lang="es-CO">
                <a:solidFill>
                  <a:srgbClr val="5B4A38"/>
                </a:solidFill>
                <a:latin typeface="Outfit"/>
              </a:rPr>
              <a:t>sus platos a vecinos de su zona.</a:t>
            </a:r>
          </a:p>
        </p:txBody>
      </p:sp>
      <p:sp>
        <p:nvSpPr>
          <p:cNvPr id="16" name="Rounded Rectangle 15"/>
          <p:cNvSpPr/>
          <p:nvPr/>
        </p:nvSpPr>
        <p:spPr>
          <a:xfrm>
            <a:off x="8071104" y="1789557"/>
            <a:ext cx="1270064" cy="292608"/>
          </a:xfrm>
          <a:prstGeom prst="roundRect">
            <a:avLst>
              <a:gd name="adj" fmla="val 50000"/>
            </a:avLst>
          </a:prstGeom>
          <a:solidFill>
            <a:srgbClr val="FF6600">
              <a:alpha val="12000"/>
            </a:srgbClr>
          </a:solidFill>
          <a:ln w="12192" cap="flat">
            <a:solidFill>
              <a:srgbClr val="FF6600">
                <a:alpha val="35000"/>
              </a:srgbClr>
            </a:solidFill>
          </a:ln>
        </p:spPr>
        <p:txBody>
          <a:bodyPr rtlCol="0" anchor="ctr"/>
          <a:lstStyle/>
          <a:p>
            <a:pPr algn="ctr"/>
          </a:p>
        </p:txBody>
      </p:sp>
      <p:sp>
        <p:nvSpPr>
          <p:cNvPr id="17" name="TextBox 16"/>
          <p:cNvSpPr txBox="1"/>
          <p:nvPr/>
        </p:nvSpPr>
        <p:spPr>
          <a:xfrm>
            <a:off x="8199120" y="1856613"/>
            <a:ext cx="1115435"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48">
                <a:solidFill>
                  <a:srgbClr val="D97224"/>
                </a:solidFill>
                <a:latin typeface="Outfit"/>
              </a:rPr>
              <a:t>Monetización</a:t>
            </a:r>
          </a:p>
        </p:txBody>
      </p:sp>
      <p:sp>
        <p:nvSpPr>
          <p:cNvPr id="18" name="Rounded Rectangle 17"/>
          <p:cNvSpPr/>
          <p:nvPr/>
        </p:nvSpPr>
        <p:spPr>
          <a:xfrm>
            <a:off x="9402128" y="1789557"/>
            <a:ext cx="1053274" cy="292608"/>
          </a:xfrm>
          <a:prstGeom prst="roundRect">
            <a:avLst>
              <a:gd name="adj" fmla="val 50000"/>
            </a:avLst>
          </a:prstGeom>
          <a:solidFill>
            <a:srgbClr val="FF6600">
              <a:alpha val="12000"/>
            </a:srgbClr>
          </a:solidFill>
          <a:ln w="12192" cap="flat">
            <a:solidFill>
              <a:srgbClr val="FF6600">
                <a:alpha val="35000"/>
              </a:srgbClr>
            </a:solidFill>
          </a:ln>
        </p:spPr>
        <p:txBody>
          <a:bodyPr rtlCol="0" anchor="ctr"/>
          <a:lstStyle/>
          <a:p>
            <a:pPr algn="ctr"/>
          </a:p>
        </p:txBody>
      </p:sp>
      <p:sp>
        <p:nvSpPr>
          <p:cNvPr id="19" name="TextBox 18"/>
          <p:cNvSpPr txBox="1"/>
          <p:nvPr/>
        </p:nvSpPr>
        <p:spPr>
          <a:xfrm>
            <a:off x="9530144" y="1856613"/>
            <a:ext cx="894778"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48">
                <a:solidFill>
                  <a:srgbClr val="D97224"/>
                </a:solidFill>
                <a:latin typeface="Outfit"/>
              </a:rPr>
              <a:t>Sostenible</a:t>
            </a:r>
          </a:p>
        </p:txBody>
      </p:sp>
      <p:sp>
        <p:nvSpPr>
          <p:cNvPr id="20" name="Rounded Rectangle 19"/>
          <p:cNvSpPr/>
          <p:nvPr/>
        </p:nvSpPr>
        <p:spPr>
          <a:xfrm>
            <a:off x="6931152" y="2575941"/>
            <a:ext cx="4773168" cy="1894904"/>
          </a:xfrm>
          <a:prstGeom prst="roundRect">
            <a:avLst>
              <a:gd name="adj" fmla="val 3860"/>
            </a:avLst>
          </a:prstGeom>
          <a:solidFill>
            <a:srgbClr val="D8C39C"/>
          </a:solidFill>
          <a:ln>
            <a:noFill/>
          </a:ln>
        </p:spPr>
        <p:txBody>
          <a:bodyPr rtlCol="0" anchor="ctr"/>
          <a:lstStyle/>
          <a:p>
            <a:pPr algn="ctr"/>
          </a:p>
        </p:txBody>
      </p:sp>
      <p:sp>
        <p:nvSpPr>
          <p:cNvPr id="21" name="Rounded Rectangle 20"/>
          <p:cNvSpPr/>
          <p:nvPr/>
        </p:nvSpPr>
        <p:spPr>
          <a:xfrm>
            <a:off x="6937248" y="2545461"/>
            <a:ext cx="4760976" cy="1882712"/>
          </a:xfrm>
          <a:prstGeom prst="roundRect">
            <a:avLst>
              <a:gd name="adj" fmla="val 3561"/>
            </a:avLst>
          </a:prstGeom>
          <a:solidFill>
            <a:srgbClr val="EFE0C2"/>
          </a:solidFill>
          <a:ln w="12192" cap="flat">
            <a:solidFill>
              <a:srgbClr val="D8C39C"/>
            </a:solidFill>
          </a:ln>
        </p:spPr>
        <p:txBody>
          <a:bodyPr rtlCol="0" anchor="ctr"/>
          <a:lstStyle/>
          <a:p>
            <a:pPr algn="ctr"/>
          </a:p>
        </p:txBody>
      </p:sp>
      <p:sp>
        <p:nvSpPr>
          <p:cNvPr id="22" name="Oval 21"/>
          <p:cNvSpPr/>
          <p:nvPr/>
        </p:nvSpPr>
        <p:spPr>
          <a:xfrm>
            <a:off x="7223760" y="2831973"/>
            <a:ext cx="658368" cy="658368"/>
          </a:xfrm>
          <a:prstGeom prst="ellipse">
            <a:avLst/>
          </a:prstGeom>
          <a:noFill/>
          <a:ln w="24384" cap="flat">
            <a:solidFill>
              <a:srgbClr val="8B5E34"/>
            </a:solidFill>
          </a:ln>
        </p:spPr>
        <p:txBody>
          <a:bodyPr rtlCol="0" anchor="ctr"/>
          <a:lstStyle/>
          <a:p>
            <a:pPr algn="ctr"/>
          </a:p>
        </p:txBody>
      </p:sp>
      <p:pic>
        <p:nvPicPr>
          <p:cNvPr id="23" name="Picture 22" descr="compradora"/>
          <p:cNvPicPr>
            <a:picLocks noChangeAspect="1"/>
          </p:cNvPicPr>
          <p:nvPr/>
        </p:nvPicPr>
        <p:blipFill>
          <a:blip r:embed="rId4"/>
          <a:stretch>
            <a:fillRect/>
          </a:stretch>
        </p:blipFill>
        <p:spPr>
          <a:xfrm>
            <a:off x="7235952" y="2844165"/>
            <a:ext cx="633984" cy="633984"/>
          </a:xfrm>
          <a:prstGeom prst="ellipse">
            <a:avLst/>
          </a:prstGeom>
        </p:spPr>
      </p:pic>
      <p:sp>
        <p:nvSpPr>
          <p:cNvPr id="24" name="TextBox 23"/>
          <p:cNvSpPr txBox="1"/>
          <p:nvPr/>
        </p:nvSpPr>
        <p:spPr>
          <a:xfrm>
            <a:off x="8065008" y="2819781"/>
            <a:ext cx="1433322" cy="195072"/>
          </a:xfrm>
          <a:prstGeom prst="rect">
            <a:avLst/>
          </a:prstGeom>
          <a:noFill/>
        </p:spPr>
        <p:txBody>
          <a:bodyPr wrap="none" lIns="0" rIns="0" tIns="0" bIns="0" anchor="t">
            <a:noAutofit/>
          </a:bodyPr>
          <a:lstStyle/>
          <a:p>
            <a:pPr algn="l">
              <a:lnSpc>
                <a:spcPts val="1536"/>
              </a:lnSpc>
              <a:spcBef>
                <a:spcPts val="0"/>
              </a:spcBef>
              <a:spcAft>
                <a:spcPts val="0"/>
              </a:spcAft>
            </a:pPr>
            <a:r>
              <a:rPr sz="1250" b="1" i="0" lang="es-CO">
                <a:solidFill>
                  <a:srgbClr val="4A9C55"/>
                </a:solidFill>
                <a:latin typeface="Outfit"/>
              </a:rPr>
              <a:t>02 · Compradores</a:t>
            </a:r>
          </a:p>
        </p:txBody>
      </p:sp>
      <p:sp>
        <p:nvSpPr>
          <p:cNvPr id="25" name="TextBox 24"/>
          <p:cNvSpPr txBox="1"/>
          <p:nvPr/>
        </p:nvSpPr>
        <p:spPr>
          <a:xfrm>
            <a:off x="8065008" y="3013939"/>
            <a:ext cx="3560430" cy="737006"/>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Vecinos que buscan comida casera cercana y</a:t>
            </a:r>
            <a:br/>
            <a:r>
              <a:rPr sz="1250" b="0" i="0" lang="es-CO">
                <a:solidFill>
                  <a:srgbClr val="5B4A38"/>
                </a:solidFill>
                <a:latin typeface="Outfit"/>
              </a:rPr>
              <a:t>quieren conocer el plato, el precio y quién lo</a:t>
            </a:r>
            <a:br/>
            <a:r>
              <a:rPr sz="1250" b="0" i="0" lang="es-CO">
                <a:solidFill>
                  <a:srgbClr val="5B4A38"/>
                </a:solidFill>
                <a:latin typeface="Outfit"/>
              </a:rPr>
              <a:t>prepara antes de reservar.</a:t>
            </a:r>
          </a:p>
        </p:txBody>
      </p:sp>
      <p:sp>
        <p:nvSpPr>
          <p:cNvPr id="26" name="Rounded Rectangle 25"/>
          <p:cNvSpPr/>
          <p:nvPr/>
        </p:nvSpPr>
        <p:spPr>
          <a:xfrm>
            <a:off x="8071104" y="3855148"/>
            <a:ext cx="925640" cy="292608"/>
          </a:xfrm>
          <a:prstGeom prst="roundRect">
            <a:avLst>
              <a:gd name="adj" fmla="val 50000"/>
            </a:avLst>
          </a:prstGeom>
          <a:solidFill>
            <a:srgbClr val="4A8C00">
              <a:alpha val="12000"/>
            </a:srgbClr>
          </a:solidFill>
          <a:ln w="12192" cap="flat">
            <a:solidFill>
              <a:srgbClr val="4A8C00">
                <a:alpha val="35000"/>
              </a:srgbClr>
            </a:solidFill>
          </a:ln>
        </p:spPr>
        <p:txBody>
          <a:bodyPr rtlCol="0" anchor="ctr"/>
          <a:lstStyle/>
          <a:p>
            <a:pPr algn="ctr"/>
          </a:p>
        </p:txBody>
      </p:sp>
      <p:sp>
        <p:nvSpPr>
          <p:cNvPr id="27" name="TextBox 26"/>
          <p:cNvSpPr txBox="1"/>
          <p:nvPr/>
        </p:nvSpPr>
        <p:spPr>
          <a:xfrm>
            <a:off x="8199120" y="3922204"/>
            <a:ext cx="767144"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48">
                <a:solidFill>
                  <a:srgbClr val="4A9C55"/>
                </a:solidFill>
                <a:latin typeface="Outfit"/>
              </a:rPr>
              <a:t>Cercanía</a:t>
            </a:r>
          </a:p>
        </p:txBody>
      </p:sp>
      <p:sp>
        <p:nvSpPr>
          <p:cNvPr id="28" name="Rounded Rectangle 27"/>
          <p:cNvSpPr/>
          <p:nvPr/>
        </p:nvSpPr>
        <p:spPr>
          <a:xfrm>
            <a:off x="9057704" y="3855148"/>
            <a:ext cx="1024890" cy="292608"/>
          </a:xfrm>
          <a:prstGeom prst="roundRect">
            <a:avLst>
              <a:gd name="adj" fmla="val 50000"/>
            </a:avLst>
          </a:prstGeom>
          <a:solidFill>
            <a:srgbClr val="4A8C00">
              <a:alpha val="12000"/>
            </a:srgbClr>
          </a:solidFill>
          <a:ln w="12192" cap="flat">
            <a:solidFill>
              <a:srgbClr val="4A8C00">
                <a:alpha val="35000"/>
              </a:srgbClr>
            </a:solidFill>
          </a:ln>
        </p:spPr>
        <p:txBody>
          <a:bodyPr rtlCol="0" anchor="ctr"/>
          <a:lstStyle/>
          <a:p>
            <a:pPr algn="ctr"/>
          </a:p>
        </p:txBody>
      </p:sp>
      <p:sp>
        <p:nvSpPr>
          <p:cNvPr id="29" name="TextBox 28"/>
          <p:cNvSpPr txBox="1"/>
          <p:nvPr/>
        </p:nvSpPr>
        <p:spPr>
          <a:xfrm>
            <a:off x="9185720" y="3922204"/>
            <a:ext cx="866394"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48">
                <a:solidFill>
                  <a:srgbClr val="4A9C55"/>
                </a:solidFill>
                <a:latin typeface="Outfit"/>
              </a:rPr>
              <a:t>Confianza</a:t>
            </a:r>
          </a:p>
        </p:txBody>
      </p:sp>
      <p:cxnSp>
        <p:nvCxnSpPr>
          <p:cNvPr id="30" name="Connector 29"/>
          <p:cNvCxnSpPr/>
          <p:nvPr/>
        </p:nvCxnSpPr>
        <p:spPr>
          <a:xfrm>
            <a:off x="487680" y="6327648"/>
            <a:ext cx="11216640" cy="0"/>
          </a:xfrm>
          <a:prstGeom prst="line">
            <a:avLst/>
          </a:prstGeom>
          <a:ln w="24384" cap="flat">
            <a:solidFill>
              <a:srgbClr val="D8C39C"/>
            </a:solidFill>
          </a:ln>
        </p:spPr>
      </p:cxnSp>
      <p:sp>
        <p:nvSpPr>
          <p:cNvPr id="31" name="TextBox 30"/>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32" name="TextBox 31"/>
          <p:cNvSpPr txBox="1"/>
          <p:nvPr/>
        </p:nvSpPr>
        <p:spPr>
          <a:xfrm>
            <a:off x="11247692" y="6486144"/>
            <a:ext cx="554164"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05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27789" y="385011"/>
            <a:ext cx="278063" cy="32084"/>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812800" y="320842"/>
            <a:ext cx="271713" cy="160421"/>
          </a:xfrm>
          <a:prstGeom prst="rect">
            <a:avLst/>
          </a:prstGeom>
          <a:noFill/>
        </p:spPr>
        <p:txBody>
          <a:bodyPr wrap="none" lIns="0" rIns="0" tIns="0" bIns="0" anchor="t">
            <a:noAutofit/>
          </a:bodyPr>
          <a:lstStyle/>
          <a:p>
            <a:pPr algn="l">
              <a:lnSpc>
                <a:spcPts val="1263"/>
              </a:lnSpc>
              <a:spcBef>
                <a:spcPts val="0"/>
              </a:spcBef>
              <a:spcAft>
                <a:spcPts val="0"/>
              </a:spcAft>
            </a:pPr>
            <a:r>
              <a:rPr sz="1000" b="1" i="0" lang="es-CO" cap="all" spc="101">
                <a:solidFill>
                  <a:srgbClr val="D97224"/>
                </a:solidFill>
                <a:latin typeface="Outfit"/>
              </a:rPr>
              <a:t>06</a:t>
            </a:r>
          </a:p>
        </p:txBody>
      </p:sp>
      <p:sp>
        <p:nvSpPr>
          <p:cNvPr id="5" name="TextBox 4"/>
          <p:cNvSpPr txBox="1"/>
          <p:nvPr/>
        </p:nvSpPr>
        <p:spPr>
          <a:xfrm>
            <a:off x="1105903" y="320842"/>
            <a:ext cx="2057818" cy="160421"/>
          </a:xfrm>
          <a:prstGeom prst="rect">
            <a:avLst/>
          </a:prstGeom>
          <a:noFill/>
        </p:spPr>
        <p:txBody>
          <a:bodyPr wrap="none" lIns="0" rIns="0" tIns="0" bIns="0" anchor="t">
            <a:noAutofit/>
          </a:bodyPr>
          <a:lstStyle/>
          <a:p>
            <a:pPr algn="l">
              <a:lnSpc>
                <a:spcPts val="1263"/>
              </a:lnSpc>
              <a:spcBef>
                <a:spcPts val="0"/>
              </a:spcBef>
              <a:spcAft>
                <a:spcPts val="0"/>
              </a:spcAft>
            </a:pPr>
            <a:r>
              <a:rPr sz="1000" b="1" i="0" lang="es-CO" cap="all" spc="101">
                <a:solidFill>
                  <a:srgbClr val="5B4A38"/>
                </a:solidFill>
                <a:latin typeface="Outfit"/>
              </a:rPr>
              <a:t>/ Sistema del Logotipo</a:t>
            </a:r>
          </a:p>
        </p:txBody>
      </p:sp>
      <p:sp>
        <p:nvSpPr>
          <p:cNvPr id="6" name="TextBox 5"/>
          <p:cNvSpPr txBox="1"/>
          <p:nvPr/>
        </p:nvSpPr>
        <p:spPr>
          <a:xfrm>
            <a:off x="427789" y="626498"/>
            <a:ext cx="2928553"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Sistema.</a:t>
            </a:r>
          </a:p>
        </p:txBody>
      </p:sp>
      <p:sp>
        <p:nvSpPr>
          <p:cNvPr id="7" name="TextBox 6"/>
          <p:cNvSpPr txBox="1"/>
          <p:nvPr/>
        </p:nvSpPr>
        <p:spPr>
          <a:xfrm>
            <a:off x="427789" y="1309290"/>
            <a:ext cx="2343651"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Visual.</a:t>
            </a:r>
          </a:p>
        </p:txBody>
      </p:sp>
      <p:sp>
        <p:nvSpPr>
          <p:cNvPr id="8" name="Rounded Rectangle 7"/>
          <p:cNvSpPr/>
          <p:nvPr/>
        </p:nvSpPr>
        <p:spPr>
          <a:xfrm>
            <a:off x="427789" y="2263942"/>
            <a:ext cx="3650414" cy="2138947"/>
          </a:xfrm>
          <a:prstGeom prst="roundRect">
            <a:avLst>
              <a:gd name="adj" fmla="val 5000"/>
            </a:avLst>
          </a:prstGeom>
          <a:solidFill>
            <a:srgbClr val="5C3A1E"/>
          </a:solidFill>
          <a:ln>
            <a:noFill/>
          </a:ln>
        </p:spPr>
        <p:txBody>
          <a:bodyPr rtlCol="0" anchor="ctr"/>
          <a:lstStyle/>
          <a:p>
            <a:pPr algn="ctr"/>
          </a:p>
        </p:txBody>
      </p:sp>
      <p:sp>
        <p:nvSpPr>
          <p:cNvPr id="9" name="Rounded Rectangle 8"/>
          <p:cNvSpPr/>
          <p:nvPr/>
        </p:nvSpPr>
        <p:spPr>
          <a:xfrm>
            <a:off x="438484" y="2242553"/>
            <a:ext cx="3629025" cy="2117558"/>
          </a:xfrm>
          <a:prstGeom prst="roundRect">
            <a:avLst>
              <a:gd name="adj" fmla="val 4545"/>
            </a:avLst>
          </a:prstGeom>
          <a:solidFill>
            <a:srgbClr val="FFFFFF"/>
          </a:solidFill>
          <a:ln w="21389" cap="flat">
            <a:solidFill>
              <a:srgbClr val="8B5E34"/>
            </a:solidFill>
          </a:ln>
        </p:spPr>
        <p:txBody>
          <a:bodyPr rtlCol="0" anchor="ctr"/>
          <a:lstStyle/>
          <a:p>
            <a:pPr algn="ctr"/>
          </a:p>
        </p:txBody>
      </p:sp>
      <p:pic>
        <p:nvPicPr>
          <p:cNvPr id="10" name="Picture 9" descr="OllaCercana"/>
          <p:cNvPicPr>
            <a:picLocks noChangeAspect="1"/>
          </p:cNvPicPr>
          <p:nvPr/>
        </p:nvPicPr>
        <p:blipFill>
          <a:blip r:embed="rId3"/>
          <a:stretch>
            <a:fillRect/>
          </a:stretch>
        </p:blipFill>
        <p:spPr>
          <a:xfrm>
            <a:off x="996355" y="2769101"/>
            <a:ext cx="2513117" cy="711534"/>
          </a:xfrm>
          <a:prstGeom prst="rect">
            <a:avLst/>
          </a:prstGeom>
        </p:spPr>
      </p:pic>
      <p:sp>
        <p:nvSpPr>
          <p:cNvPr id="11" name="TextBox 10"/>
          <p:cNvSpPr txBox="1"/>
          <p:nvPr/>
        </p:nvSpPr>
        <p:spPr>
          <a:xfrm>
            <a:off x="1439152" y="3694530"/>
            <a:ext cx="1627689" cy="139032"/>
          </a:xfrm>
          <a:prstGeom prst="rect">
            <a:avLst/>
          </a:prstGeom>
          <a:noFill/>
        </p:spPr>
        <p:txBody>
          <a:bodyPr wrap="none" lIns="0" rIns="0" tIns="0" bIns="0" anchor="t">
            <a:noAutofit/>
          </a:bodyPr>
          <a:lstStyle/>
          <a:p>
            <a:pPr algn="ctr">
              <a:lnSpc>
                <a:spcPts val="1094"/>
              </a:lnSpc>
              <a:spcBef>
                <a:spcPts val="0"/>
              </a:spcBef>
              <a:spcAft>
                <a:spcPts val="0"/>
              </a:spcAft>
            </a:pPr>
            <a:r>
              <a:rPr sz="850" b="0" i="0" lang="es-CO" cap="all" spc="84">
                <a:solidFill>
                  <a:srgbClr val="8A7860"/>
                </a:solidFill>
                <a:latin typeface="Outfit"/>
              </a:rPr>
              <a:t>Principal (Full Color)</a:t>
            </a:r>
          </a:p>
        </p:txBody>
      </p:sp>
      <p:sp>
        <p:nvSpPr>
          <p:cNvPr id="12" name="Rounded Rectangle 11"/>
          <p:cNvSpPr/>
          <p:nvPr/>
        </p:nvSpPr>
        <p:spPr>
          <a:xfrm>
            <a:off x="4270709" y="2263942"/>
            <a:ext cx="3650414" cy="2138947"/>
          </a:xfrm>
          <a:prstGeom prst="roundRect">
            <a:avLst>
              <a:gd name="adj" fmla="val 5000"/>
            </a:avLst>
          </a:prstGeom>
          <a:solidFill>
            <a:srgbClr val="5C3A1E"/>
          </a:solidFill>
          <a:ln>
            <a:noFill/>
          </a:ln>
        </p:spPr>
        <p:txBody>
          <a:bodyPr rtlCol="0" anchor="ctr"/>
          <a:lstStyle/>
          <a:p>
            <a:pPr algn="ctr"/>
          </a:p>
        </p:txBody>
      </p:sp>
      <p:sp>
        <p:nvSpPr>
          <p:cNvPr id="13" name="Rounded Rectangle 12"/>
          <p:cNvSpPr/>
          <p:nvPr/>
        </p:nvSpPr>
        <p:spPr>
          <a:xfrm>
            <a:off x="4281404" y="2242553"/>
            <a:ext cx="3629025" cy="2117558"/>
          </a:xfrm>
          <a:prstGeom prst="roundRect">
            <a:avLst>
              <a:gd name="adj" fmla="val 4545"/>
            </a:avLst>
          </a:prstGeom>
          <a:solidFill>
            <a:srgbClr val="FFFFFF"/>
          </a:solidFill>
          <a:ln w="21389" cap="flat">
            <a:solidFill>
              <a:srgbClr val="8B5E34"/>
            </a:solidFill>
          </a:ln>
        </p:spPr>
        <p:txBody>
          <a:bodyPr rtlCol="0" anchor="ctr"/>
          <a:lstStyle/>
          <a:p>
            <a:pPr algn="ctr"/>
          </a:p>
        </p:txBody>
      </p:sp>
      <p:pic>
        <p:nvPicPr>
          <p:cNvPr id="14" name="Picture 13" descr="Isotipo la olla"/>
          <p:cNvPicPr>
            <a:picLocks noChangeAspect="1"/>
          </p:cNvPicPr>
          <p:nvPr/>
        </p:nvPicPr>
        <p:blipFill>
          <a:blip r:embed="rId4"/>
          <a:stretch>
            <a:fillRect/>
          </a:stretch>
        </p:blipFill>
        <p:spPr>
          <a:xfrm>
            <a:off x="5561096" y="2590132"/>
            <a:ext cx="1069474" cy="1069474"/>
          </a:xfrm>
          <a:prstGeom prst="rect">
            <a:avLst/>
          </a:prstGeom>
        </p:spPr>
      </p:pic>
      <p:sp>
        <p:nvSpPr>
          <p:cNvPr id="15" name="TextBox 14"/>
          <p:cNvSpPr txBox="1"/>
          <p:nvPr/>
        </p:nvSpPr>
        <p:spPr>
          <a:xfrm>
            <a:off x="5489232" y="3873500"/>
            <a:ext cx="1213368" cy="139032"/>
          </a:xfrm>
          <a:prstGeom prst="rect">
            <a:avLst/>
          </a:prstGeom>
          <a:noFill/>
        </p:spPr>
        <p:txBody>
          <a:bodyPr wrap="none" lIns="0" rIns="0" tIns="0" bIns="0" anchor="t">
            <a:noAutofit/>
          </a:bodyPr>
          <a:lstStyle/>
          <a:p>
            <a:pPr algn="ctr">
              <a:lnSpc>
                <a:spcPts val="1094"/>
              </a:lnSpc>
              <a:spcBef>
                <a:spcPts val="0"/>
              </a:spcBef>
              <a:spcAft>
                <a:spcPts val="0"/>
              </a:spcAft>
            </a:pPr>
            <a:r>
              <a:rPr sz="850" b="0" i="0" lang="es-CO" cap="all" spc="84">
                <a:solidFill>
                  <a:srgbClr val="8A7860"/>
                </a:solidFill>
                <a:latin typeface="Outfit"/>
              </a:rPr>
              <a:t>Isotipo (La Olla)</a:t>
            </a:r>
          </a:p>
        </p:txBody>
      </p:sp>
      <p:sp>
        <p:nvSpPr>
          <p:cNvPr id="16" name="Rounded Rectangle 15"/>
          <p:cNvSpPr/>
          <p:nvPr/>
        </p:nvSpPr>
        <p:spPr>
          <a:xfrm>
            <a:off x="8113629" y="2263942"/>
            <a:ext cx="3650582" cy="2138947"/>
          </a:xfrm>
          <a:prstGeom prst="roundRect">
            <a:avLst>
              <a:gd name="adj" fmla="val 5000"/>
            </a:avLst>
          </a:prstGeom>
          <a:solidFill>
            <a:srgbClr val="5C3A1E"/>
          </a:solidFill>
          <a:ln>
            <a:noFill/>
          </a:ln>
        </p:spPr>
        <p:txBody>
          <a:bodyPr rtlCol="0" anchor="ctr"/>
          <a:lstStyle/>
          <a:p>
            <a:pPr algn="ctr"/>
          </a:p>
        </p:txBody>
      </p:sp>
      <p:sp>
        <p:nvSpPr>
          <p:cNvPr id="17" name="Rounded Rectangle 16"/>
          <p:cNvSpPr/>
          <p:nvPr/>
        </p:nvSpPr>
        <p:spPr>
          <a:xfrm>
            <a:off x="8124324" y="2242553"/>
            <a:ext cx="3629192" cy="2117558"/>
          </a:xfrm>
          <a:prstGeom prst="roundRect">
            <a:avLst>
              <a:gd name="adj" fmla="val 4545"/>
            </a:avLst>
          </a:prstGeom>
          <a:solidFill>
            <a:srgbClr val="FFFFFF"/>
          </a:solidFill>
          <a:ln w="21389" cap="flat">
            <a:solidFill>
              <a:srgbClr val="8B5E34"/>
            </a:solidFill>
          </a:ln>
        </p:spPr>
        <p:txBody>
          <a:bodyPr rtlCol="0" anchor="ctr"/>
          <a:lstStyle/>
          <a:p>
            <a:pPr algn="ctr"/>
          </a:p>
        </p:txBody>
      </p:sp>
      <p:pic>
        <p:nvPicPr>
          <p:cNvPr id="18" name="Picture 17" descr="s08_r1.png"/>
          <p:cNvPicPr>
            <a:picLocks noChangeAspect="1"/>
          </p:cNvPicPr>
          <p:nvPr/>
        </p:nvPicPr>
        <p:blipFill>
          <a:blip r:embed="rId5"/>
          <a:stretch>
            <a:fillRect/>
          </a:stretch>
        </p:blipFill>
        <p:spPr>
          <a:xfrm>
            <a:off x="8673432" y="2759242"/>
            <a:ext cx="2523958" cy="727242"/>
          </a:xfrm>
          <a:prstGeom prst="rect">
            <a:avLst/>
          </a:prstGeom>
        </p:spPr>
      </p:pic>
      <p:sp>
        <p:nvSpPr>
          <p:cNvPr id="19" name="TextBox 18"/>
          <p:cNvSpPr txBox="1"/>
          <p:nvPr/>
        </p:nvSpPr>
        <p:spPr>
          <a:xfrm>
            <a:off x="9013959" y="3694530"/>
            <a:ext cx="1849922" cy="139032"/>
          </a:xfrm>
          <a:prstGeom prst="rect">
            <a:avLst/>
          </a:prstGeom>
          <a:noFill/>
        </p:spPr>
        <p:txBody>
          <a:bodyPr wrap="none" lIns="0" rIns="0" tIns="0" bIns="0" anchor="t">
            <a:noAutofit/>
          </a:bodyPr>
          <a:lstStyle/>
          <a:p>
            <a:pPr algn="ctr">
              <a:lnSpc>
                <a:spcPts val="1094"/>
              </a:lnSpc>
              <a:spcBef>
                <a:spcPts val="0"/>
              </a:spcBef>
              <a:spcAft>
                <a:spcPts val="0"/>
              </a:spcAft>
            </a:pPr>
            <a:r>
              <a:rPr sz="850" b="0" i="0" lang="es-CO" cap="all" spc="84">
                <a:solidFill>
                  <a:srgbClr val="8A7860"/>
                </a:solidFill>
                <a:latin typeface="Outfit"/>
              </a:rPr>
              <a:t>Monocromático (Escala)</a:t>
            </a:r>
          </a:p>
        </p:txBody>
      </p:sp>
      <p:sp>
        <p:nvSpPr>
          <p:cNvPr id="20" name="Rounded Rectangle 19"/>
          <p:cNvSpPr/>
          <p:nvPr/>
        </p:nvSpPr>
        <p:spPr>
          <a:xfrm>
            <a:off x="427789" y="4595395"/>
            <a:ext cx="5571958" cy="1347537"/>
          </a:xfrm>
          <a:prstGeom prst="roundRect">
            <a:avLst>
              <a:gd name="adj" fmla="val 4761"/>
            </a:avLst>
          </a:prstGeom>
          <a:solidFill>
            <a:srgbClr val="D8C39C"/>
          </a:solidFill>
          <a:ln>
            <a:noFill/>
          </a:ln>
        </p:spPr>
        <p:txBody>
          <a:bodyPr rtlCol="0" anchor="ctr"/>
          <a:lstStyle/>
          <a:p>
            <a:pPr algn="ctr"/>
          </a:p>
        </p:txBody>
      </p:sp>
      <p:sp>
        <p:nvSpPr>
          <p:cNvPr id="21" name="Rounded Rectangle 20"/>
          <p:cNvSpPr/>
          <p:nvPr/>
        </p:nvSpPr>
        <p:spPr>
          <a:xfrm>
            <a:off x="433137" y="4568658"/>
            <a:ext cx="5561263" cy="1336842"/>
          </a:xfrm>
          <a:prstGeom prst="roundRect">
            <a:avLst>
              <a:gd name="adj" fmla="val 4400"/>
            </a:avLst>
          </a:prstGeom>
          <a:solidFill>
            <a:srgbClr val="EFE0C2"/>
          </a:solidFill>
          <a:ln w="10694" cap="flat">
            <a:solidFill>
              <a:srgbClr val="D8C39C"/>
            </a:solidFill>
          </a:ln>
        </p:spPr>
        <p:txBody>
          <a:bodyPr rtlCol="0" anchor="ctr"/>
          <a:lstStyle/>
          <a:p>
            <a:pPr algn="ctr"/>
          </a:p>
        </p:txBody>
      </p:sp>
      <p:sp>
        <p:nvSpPr>
          <p:cNvPr id="22" name="TextBox 21"/>
          <p:cNvSpPr txBox="1"/>
          <p:nvPr/>
        </p:nvSpPr>
        <p:spPr>
          <a:xfrm>
            <a:off x="673768" y="4809289"/>
            <a:ext cx="2383356" cy="149726"/>
          </a:xfrm>
          <a:prstGeom prst="rect">
            <a:avLst/>
          </a:prstGeom>
          <a:noFill/>
        </p:spPr>
        <p:txBody>
          <a:bodyPr wrap="none" lIns="0" rIns="0" tIns="0" bIns="0" anchor="t">
            <a:noAutofit/>
          </a:bodyPr>
          <a:lstStyle/>
          <a:p>
            <a:pPr algn="l">
              <a:lnSpc>
                <a:spcPts val="1178"/>
              </a:lnSpc>
              <a:spcBef>
                <a:spcPts val="0"/>
              </a:spcBef>
              <a:spcAft>
                <a:spcPts val="0"/>
              </a:spcAft>
            </a:pPr>
            <a:r>
              <a:rPr sz="925" b="1" i="0" lang="es-CO" cap="all" spc="74">
                <a:solidFill>
                  <a:srgbClr val="D97224"/>
                </a:solidFill>
                <a:latin typeface="Outfit"/>
              </a:rPr>
              <a:t>Aplicaciones en fondo claro</a:t>
            </a:r>
          </a:p>
        </p:txBody>
      </p:sp>
      <p:sp>
        <p:nvSpPr>
          <p:cNvPr id="23" name="Rounded Rectangle 22"/>
          <p:cNvSpPr/>
          <p:nvPr/>
        </p:nvSpPr>
        <p:spPr>
          <a:xfrm>
            <a:off x="679116" y="5092700"/>
            <a:ext cx="1554246" cy="566821"/>
          </a:xfrm>
          <a:prstGeom prst="roundRect">
            <a:avLst>
              <a:gd name="adj" fmla="val 14150"/>
            </a:avLst>
          </a:prstGeom>
          <a:solidFill>
            <a:srgbClr val="FFFFFF"/>
          </a:solidFill>
          <a:ln w="10694" cap="flat">
            <a:solidFill>
              <a:srgbClr val="D8C39C"/>
            </a:solidFill>
          </a:ln>
        </p:spPr>
        <p:txBody>
          <a:bodyPr rtlCol="0" anchor="ctr"/>
          <a:lstStyle/>
          <a:p>
            <a:pPr algn="ctr"/>
          </a:p>
        </p:txBody>
      </p:sp>
      <p:pic>
        <p:nvPicPr>
          <p:cNvPr id="24" name="Picture 23" descr="wordmark"/>
          <p:cNvPicPr>
            <a:picLocks noChangeAspect="1"/>
          </p:cNvPicPr>
          <p:nvPr/>
        </p:nvPicPr>
        <p:blipFill>
          <a:blip r:embed="rId3"/>
          <a:stretch>
            <a:fillRect/>
          </a:stretch>
        </p:blipFill>
        <p:spPr>
          <a:xfrm>
            <a:off x="1116263" y="5279877"/>
            <a:ext cx="679784" cy="192466"/>
          </a:xfrm>
          <a:prstGeom prst="rect">
            <a:avLst/>
          </a:prstGeom>
        </p:spPr>
      </p:pic>
      <p:sp>
        <p:nvSpPr>
          <p:cNvPr id="25" name="Rounded Rectangle 24"/>
          <p:cNvSpPr/>
          <p:nvPr/>
        </p:nvSpPr>
        <p:spPr>
          <a:xfrm>
            <a:off x="2436562" y="5092700"/>
            <a:ext cx="1554246" cy="566821"/>
          </a:xfrm>
          <a:prstGeom prst="roundRect">
            <a:avLst>
              <a:gd name="adj" fmla="val 14150"/>
            </a:avLst>
          </a:prstGeom>
          <a:solidFill>
            <a:srgbClr val="FFFFFF"/>
          </a:solidFill>
          <a:ln w="10694" cap="flat">
            <a:solidFill>
              <a:srgbClr val="D8C39C"/>
            </a:solidFill>
          </a:ln>
        </p:spPr>
        <p:txBody>
          <a:bodyPr rtlCol="0" anchor="ctr"/>
          <a:lstStyle/>
          <a:p>
            <a:pPr algn="ctr"/>
          </a:p>
        </p:txBody>
      </p:sp>
      <p:pic>
        <p:nvPicPr>
          <p:cNvPr id="26" name="Picture 25" descr="icon"/>
          <p:cNvPicPr>
            <a:picLocks noChangeAspect="1"/>
          </p:cNvPicPr>
          <p:nvPr/>
        </p:nvPicPr>
        <p:blipFill>
          <a:blip r:embed="rId4"/>
          <a:stretch>
            <a:fillRect/>
          </a:stretch>
        </p:blipFill>
        <p:spPr>
          <a:xfrm>
            <a:off x="3063875" y="5226384"/>
            <a:ext cx="299453" cy="299453"/>
          </a:xfrm>
          <a:prstGeom prst="rect">
            <a:avLst/>
          </a:prstGeom>
        </p:spPr>
      </p:pic>
      <p:sp>
        <p:nvSpPr>
          <p:cNvPr id="27" name="Rounded Rectangle 26"/>
          <p:cNvSpPr/>
          <p:nvPr/>
        </p:nvSpPr>
        <p:spPr>
          <a:xfrm>
            <a:off x="4194008" y="5092700"/>
            <a:ext cx="1554246" cy="566821"/>
          </a:xfrm>
          <a:prstGeom prst="roundRect">
            <a:avLst>
              <a:gd name="adj" fmla="val 14150"/>
            </a:avLst>
          </a:prstGeom>
          <a:solidFill>
            <a:srgbClr val="FFFFFF"/>
          </a:solidFill>
          <a:ln w="10694" cap="flat">
            <a:solidFill>
              <a:srgbClr val="D8C39C"/>
            </a:solidFill>
          </a:ln>
        </p:spPr>
        <p:txBody>
          <a:bodyPr rtlCol="0" anchor="ctr"/>
          <a:lstStyle/>
          <a:p>
            <a:pPr algn="ctr"/>
          </a:p>
        </p:txBody>
      </p:sp>
      <p:pic>
        <p:nvPicPr>
          <p:cNvPr id="28" name="Picture 27" descr="favicon"/>
          <p:cNvPicPr>
            <a:picLocks noChangeAspect="1"/>
          </p:cNvPicPr>
          <p:nvPr/>
        </p:nvPicPr>
        <p:blipFill>
          <a:blip r:embed="rId4"/>
          <a:stretch>
            <a:fillRect/>
          </a:stretch>
        </p:blipFill>
        <p:spPr>
          <a:xfrm>
            <a:off x="4874795" y="5279858"/>
            <a:ext cx="192505" cy="192505"/>
          </a:xfrm>
          <a:prstGeom prst="rect">
            <a:avLst/>
          </a:prstGeom>
        </p:spPr>
      </p:pic>
      <p:sp>
        <p:nvSpPr>
          <p:cNvPr id="29" name="Rounded Rectangle 28"/>
          <p:cNvSpPr/>
          <p:nvPr/>
        </p:nvSpPr>
        <p:spPr>
          <a:xfrm>
            <a:off x="6192253" y="4595395"/>
            <a:ext cx="5571958" cy="1347537"/>
          </a:xfrm>
          <a:prstGeom prst="roundRect">
            <a:avLst>
              <a:gd name="adj" fmla="val 4761"/>
            </a:avLst>
          </a:prstGeom>
          <a:solidFill>
            <a:srgbClr val="D8C39C"/>
          </a:solidFill>
          <a:ln>
            <a:noFill/>
          </a:ln>
        </p:spPr>
        <p:txBody>
          <a:bodyPr rtlCol="0" anchor="ctr"/>
          <a:lstStyle/>
          <a:p>
            <a:pPr algn="ctr"/>
          </a:p>
        </p:txBody>
      </p:sp>
      <p:sp>
        <p:nvSpPr>
          <p:cNvPr id="30" name="Rounded Rectangle 29"/>
          <p:cNvSpPr/>
          <p:nvPr/>
        </p:nvSpPr>
        <p:spPr>
          <a:xfrm>
            <a:off x="6197600" y="4568658"/>
            <a:ext cx="5561263" cy="1336842"/>
          </a:xfrm>
          <a:prstGeom prst="roundRect">
            <a:avLst>
              <a:gd name="adj" fmla="val 4400"/>
            </a:avLst>
          </a:prstGeom>
          <a:solidFill>
            <a:srgbClr val="EFE0C2"/>
          </a:solidFill>
          <a:ln w="10694" cap="flat">
            <a:solidFill>
              <a:srgbClr val="D8C39C"/>
            </a:solidFill>
          </a:ln>
        </p:spPr>
        <p:txBody>
          <a:bodyPr rtlCol="0" anchor="ctr"/>
          <a:lstStyle/>
          <a:p>
            <a:pPr algn="ctr"/>
          </a:p>
        </p:txBody>
      </p:sp>
      <p:sp>
        <p:nvSpPr>
          <p:cNvPr id="31" name="TextBox 30"/>
          <p:cNvSpPr txBox="1"/>
          <p:nvPr/>
        </p:nvSpPr>
        <p:spPr>
          <a:xfrm>
            <a:off x="6438232" y="4809289"/>
            <a:ext cx="2499711" cy="149726"/>
          </a:xfrm>
          <a:prstGeom prst="rect">
            <a:avLst/>
          </a:prstGeom>
          <a:noFill/>
        </p:spPr>
        <p:txBody>
          <a:bodyPr wrap="none" lIns="0" rIns="0" tIns="0" bIns="0" anchor="t">
            <a:noAutofit/>
          </a:bodyPr>
          <a:lstStyle/>
          <a:p>
            <a:pPr algn="l">
              <a:lnSpc>
                <a:spcPts val="1178"/>
              </a:lnSpc>
              <a:spcBef>
                <a:spcPts val="0"/>
              </a:spcBef>
              <a:spcAft>
                <a:spcPts val="0"/>
              </a:spcAft>
            </a:pPr>
            <a:r>
              <a:rPr sz="925" b="1" i="0" lang="es-CO" cap="all" spc="74">
                <a:solidFill>
                  <a:srgbClr val="D97224"/>
                </a:solidFill>
                <a:latin typeface="Outfit"/>
              </a:rPr>
              <a:t>Aplicaciones en fondo oscuro</a:t>
            </a:r>
          </a:p>
        </p:txBody>
      </p:sp>
      <p:sp>
        <p:nvSpPr>
          <p:cNvPr id="32" name="Rounded Rectangle 31"/>
          <p:cNvSpPr/>
          <p:nvPr/>
        </p:nvSpPr>
        <p:spPr>
          <a:xfrm>
            <a:off x="6438232" y="5087353"/>
            <a:ext cx="1564941" cy="556126"/>
          </a:xfrm>
          <a:prstGeom prst="roundRect">
            <a:avLst>
              <a:gd name="adj" fmla="val 15384"/>
            </a:avLst>
          </a:prstGeom>
          <a:solidFill>
            <a:srgbClr val="26332A"/>
          </a:solidFill>
          <a:ln>
            <a:noFill/>
          </a:ln>
        </p:spPr>
        <p:txBody>
          <a:bodyPr rtlCol="0" anchor="ctr"/>
          <a:lstStyle/>
          <a:p>
            <a:pPr algn="ctr"/>
          </a:p>
        </p:txBody>
      </p:sp>
      <p:pic>
        <p:nvPicPr>
          <p:cNvPr id="33" name="Picture 32" descr="wordmark"/>
          <p:cNvPicPr>
            <a:picLocks noChangeAspect="1"/>
          </p:cNvPicPr>
          <p:nvPr/>
        </p:nvPicPr>
        <p:blipFill>
          <a:blip r:embed="rId3"/>
          <a:stretch>
            <a:fillRect/>
          </a:stretch>
        </p:blipFill>
        <p:spPr>
          <a:xfrm>
            <a:off x="6880726" y="5269183"/>
            <a:ext cx="679784" cy="192466"/>
          </a:xfrm>
          <a:prstGeom prst="rect">
            <a:avLst/>
          </a:prstGeom>
        </p:spPr>
      </p:pic>
      <p:sp>
        <p:nvSpPr>
          <p:cNvPr id="34" name="Rounded Rectangle 33"/>
          <p:cNvSpPr/>
          <p:nvPr/>
        </p:nvSpPr>
        <p:spPr>
          <a:xfrm>
            <a:off x="8195678" y="5087353"/>
            <a:ext cx="1564941" cy="556126"/>
          </a:xfrm>
          <a:prstGeom prst="roundRect">
            <a:avLst>
              <a:gd name="adj" fmla="val 15384"/>
            </a:avLst>
          </a:prstGeom>
          <a:solidFill>
            <a:srgbClr val="26332A"/>
          </a:solidFill>
          <a:ln>
            <a:noFill/>
          </a:ln>
        </p:spPr>
        <p:txBody>
          <a:bodyPr rtlCol="0" anchor="ctr"/>
          <a:lstStyle/>
          <a:p>
            <a:pPr algn="ctr"/>
          </a:p>
        </p:txBody>
      </p:sp>
      <p:pic>
        <p:nvPicPr>
          <p:cNvPr id="35" name="Picture 34" descr="icon"/>
          <p:cNvPicPr>
            <a:picLocks noChangeAspect="1"/>
          </p:cNvPicPr>
          <p:nvPr/>
        </p:nvPicPr>
        <p:blipFill>
          <a:blip r:embed="rId4"/>
          <a:stretch>
            <a:fillRect/>
          </a:stretch>
        </p:blipFill>
        <p:spPr>
          <a:xfrm>
            <a:off x="8828338" y="5215689"/>
            <a:ext cx="299453" cy="299453"/>
          </a:xfrm>
          <a:prstGeom prst="rect">
            <a:avLst/>
          </a:prstGeom>
        </p:spPr>
      </p:pic>
      <p:sp>
        <p:nvSpPr>
          <p:cNvPr id="36" name="Rounded Rectangle 35"/>
          <p:cNvSpPr/>
          <p:nvPr/>
        </p:nvSpPr>
        <p:spPr>
          <a:xfrm>
            <a:off x="9953124" y="5087353"/>
            <a:ext cx="1564941" cy="556126"/>
          </a:xfrm>
          <a:prstGeom prst="roundRect">
            <a:avLst>
              <a:gd name="adj" fmla="val 15384"/>
            </a:avLst>
          </a:prstGeom>
          <a:solidFill>
            <a:srgbClr val="26332A"/>
          </a:solidFill>
          <a:ln>
            <a:noFill/>
          </a:ln>
        </p:spPr>
        <p:txBody>
          <a:bodyPr rtlCol="0" anchor="ctr"/>
          <a:lstStyle/>
          <a:p>
            <a:pPr algn="ctr"/>
          </a:p>
        </p:txBody>
      </p:sp>
      <p:pic>
        <p:nvPicPr>
          <p:cNvPr id="37" name="Picture 36" descr="favicon"/>
          <p:cNvPicPr>
            <a:picLocks noChangeAspect="1"/>
          </p:cNvPicPr>
          <p:nvPr/>
        </p:nvPicPr>
        <p:blipFill>
          <a:blip r:embed="rId4"/>
          <a:stretch>
            <a:fillRect/>
          </a:stretch>
        </p:blipFill>
        <p:spPr>
          <a:xfrm>
            <a:off x="10639258" y="5269163"/>
            <a:ext cx="192505" cy="192505"/>
          </a:xfrm>
          <a:prstGeom prst="rect">
            <a:avLst/>
          </a:prstGeom>
        </p:spPr>
      </p:pic>
      <p:sp>
        <p:nvSpPr>
          <p:cNvPr id="38" name="TextBox 37"/>
          <p:cNvSpPr txBox="1"/>
          <p:nvPr/>
        </p:nvSpPr>
        <p:spPr>
          <a:xfrm>
            <a:off x="4238725" y="6146132"/>
            <a:ext cx="3714549" cy="139032"/>
          </a:xfrm>
          <a:prstGeom prst="rect">
            <a:avLst/>
          </a:prstGeom>
          <a:noFill/>
        </p:spPr>
        <p:txBody>
          <a:bodyPr wrap="none" lIns="0" rIns="0" tIns="0" bIns="0" anchor="t">
            <a:noAutofit/>
          </a:bodyPr>
          <a:lstStyle/>
          <a:p>
            <a:pPr algn="ctr">
              <a:lnSpc>
                <a:spcPts val="1094"/>
              </a:lnSpc>
              <a:spcBef>
                <a:spcPts val="0"/>
              </a:spcBef>
              <a:spcAft>
                <a:spcPts val="0"/>
              </a:spcAft>
            </a:pPr>
            <a:r>
              <a:rPr sz="850" b="0" i="0" lang="es-CO" cap="all" spc="101">
                <a:solidFill>
                  <a:srgbClr val="8A7860"/>
                </a:solidFill>
                <a:latin typeface="Outfit"/>
              </a:rPr>
              <a:t>— Zona de seguridad · referencia digital: 32 px —</a:t>
            </a:r>
          </a:p>
        </p:txBody>
      </p:sp>
      <p:cxnSp>
        <p:nvCxnSpPr>
          <p:cNvPr id="39" name="Connector 38"/>
          <p:cNvCxnSpPr/>
          <p:nvPr/>
        </p:nvCxnSpPr>
        <p:spPr>
          <a:xfrm>
            <a:off x="427789" y="6395453"/>
            <a:ext cx="11336422" cy="0"/>
          </a:xfrm>
          <a:prstGeom prst="line">
            <a:avLst/>
          </a:prstGeom>
          <a:ln w="21389" cap="flat">
            <a:solidFill>
              <a:srgbClr val="D8C39C"/>
            </a:solidFill>
          </a:ln>
        </p:spPr>
      </p:cxnSp>
      <p:sp>
        <p:nvSpPr>
          <p:cNvPr id="40" name="TextBox 39"/>
          <p:cNvSpPr txBox="1"/>
          <p:nvPr/>
        </p:nvSpPr>
        <p:spPr>
          <a:xfrm>
            <a:off x="427789" y="6534484"/>
            <a:ext cx="2775435" cy="149726"/>
          </a:xfrm>
          <a:prstGeom prst="rect">
            <a:avLst/>
          </a:prstGeom>
          <a:noFill/>
        </p:spPr>
        <p:txBody>
          <a:bodyPr wrap="none" lIns="0" rIns="0" tIns="0" bIns="0" anchor="t">
            <a:noAutofit/>
          </a:bodyPr>
          <a:lstStyle/>
          <a:p>
            <a:pPr algn="l">
              <a:lnSpc>
                <a:spcPts val="1178"/>
              </a:lnSpc>
              <a:spcBef>
                <a:spcPts val="0"/>
              </a:spcBef>
              <a:spcAft>
                <a:spcPts val="0"/>
              </a:spcAft>
            </a:pPr>
            <a:r>
              <a:rPr sz="875" b="0" i="0" lang="es-CO" cap="all" spc="88">
                <a:solidFill>
                  <a:srgbClr val="8A7860"/>
                </a:solidFill>
                <a:latin typeface="Outfit"/>
              </a:rPr>
              <a:t>OllaCercana / Manual de Identidad</a:t>
            </a:r>
          </a:p>
        </p:txBody>
      </p:sp>
      <p:sp>
        <p:nvSpPr>
          <p:cNvPr id="41" name="TextBox 40"/>
          <p:cNvSpPr txBox="1"/>
          <p:nvPr/>
        </p:nvSpPr>
        <p:spPr>
          <a:xfrm>
            <a:off x="11350458" y="6534484"/>
            <a:ext cx="499311" cy="149726"/>
          </a:xfrm>
          <a:prstGeom prst="rect">
            <a:avLst/>
          </a:prstGeom>
          <a:noFill/>
        </p:spPr>
        <p:txBody>
          <a:bodyPr wrap="none" lIns="0" rIns="0" tIns="0" bIns="0" anchor="t">
            <a:noAutofit/>
          </a:bodyPr>
          <a:lstStyle/>
          <a:p>
            <a:pPr algn="l">
              <a:lnSpc>
                <a:spcPts val="1178"/>
              </a:lnSpc>
              <a:spcBef>
                <a:spcPts val="0"/>
              </a:spcBef>
              <a:spcAft>
                <a:spcPts val="0"/>
              </a:spcAft>
            </a:pPr>
            <a:r>
              <a:rPr sz="875" b="1" i="0" lang="es-CO" cap="all" spc="88">
                <a:solidFill>
                  <a:srgbClr val="5C3A1E"/>
                </a:solidFill>
                <a:latin typeface="Playfair Display"/>
              </a:rPr>
              <a:t>06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9927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07</a:t>
            </a:r>
          </a:p>
        </p:txBody>
      </p:sp>
      <p:sp>
        <p:nvSpPr>
          <p:cNvPr id="5" name="TextBox 4"/>
          <p:cNvSpPr txBox="1"/>
          <p:nvPr/>
        </p:nvSpPr>
        <p:spPr>
          <a:xfrm>
            <a:off x="1250252" y="365760"/>
            <a:ext cx="2293944"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Construcción y Usos</a:t>
            </a:r>
          </a:p>
        </p:txBody>
      </p:sp>
      <p:sp>
        <p:nvSpPr>
          <p:cNvPr id="6" name="TextBox 5"/>
          <p:cNvSpPr txBox="1"/>
          <p:nvPr/>
        </p:nvSpPr>
        <p:spPr>
          <a:xfrm>
            <a:off x="487680" y="713232"/>
            <a:ext cx="2607640"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Área de</a:t>
            </a:r>
          </a:p>
        </p:txBody>
      </p:sp>
      <p:sp>
        <p:nvSpPr>
          <p:cNvPr id="7" name="TextBox 6"/>
          <p:cNvSpPr txBox="1"/>
          <p:nvPr/>
        </p:nvSpPr>
        <p:spPr>
          <a:xfrm>
            <a:off x="487680" y="1395984"/>
            <a:ext cx="2755582"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reserva.</a:t>
            </a:r>
          </a:p>
        </p:txBody>
      </p:sp>
      <p:sp>
        <p:nvSpPr>
          <p:cNvPr id="8" name="TextBox 7"/>
          <p:cNvSpPr txBox="1"/>
          <p:nvPr/>
        </p:nvSpPr>
        <p:spPr>
          <a:xfrm>
            <a:off x="487680" y="2301850"/>
            <a:ext cx="8012582" cy="643738"/>
          </a:xfrm>
          <a:prstGeom prst="rect">
            <a:avLst/>
          </a:prstGeom>
          <a:noFill/>
        </p:spPr>
        <p:txBody>
          <a:bodyPr wrap="square" lIns="0" rIns="0" tIns="0" bIns="0" anchor="t">
            <a:noAutofit/>
          </a:bodyPr>
          <a:lstStyle/>
          <a:p>
            <a:pPr algn="l">
              <a:lnSpc>
                <a:spcPts val="2534"/>
              </a:lnSpc>
              <a:spcBef>
                <a:spcPts val="0"/>
              </a:spcBef>
              <a:spcAft>
                <a:spcPts val="0"/>
              </a:spcAft>
            </a:pPr>
            <a:r>
              <a:rPr sz="1525" b="0" i="0" lang="es-CO">
                <a:solidFill>
                  <a:srgbClr val="5B4A38"/>
                </a:solidFill>
                <a:latin typeface="Outfit"/>
              </a:rPr>
              <a:t>El espacio que protege al imagotipo de cualquier otro elemento — y las formas en que</a:t>
            </a:r>
            <a:br/>
            <a:r>
              <a:rPr sz="1525" b="0" i="0" lang="es-CO">
                <a:solidFill>
                  <a:srgbClr val="5B4A38"/>
                </a:solidFill>
                <a:latin typeface="Outfit"/>
              </a:rPr>
              <a:t>nunca debe usarse.</a:t>
            </a:r>
          </a:p>
        </p:txBody>
      </p:sp>
      <p:pic>
        <p:nvPicPr>
          <p:cNvPr id="9" name="Picture 8" descr="Logotipo de OllaCercana en su encabezado, con guías que muestran el área de reserva 1X"/>
          <p:cNvPicPr>
            <a:picLocks noChangeAspect="1"/>
          </p:cNvPicPr>
          <p:nvPr/>
        </p:nvPicPr>
        <p:blipFill>
          <a:blip r:embed="rId3"/>
          <a:stretch>
            <a:fillRect/>
          </a:stretch>
        </p:blipFill>
        <p:spPr>
          <a:xfrm>
            <a:off x="487680" y="3216021"/>
            <a:ext cx="5498592" cy="2199322"/>
          </a:xfrm>
          <a:prstGeom prst="roundRect">
            <a:avLst>
              <a:gd name="adj" fmla="val 4434"/>
            </a:avLst>
          </a:prstGeom>
        </p:spPr>
      </p:pic>
      <p:cxnSp>
        <p:nvCxnSpPr>
          <p:cNvPr id="10" name="Connector 9"/>
          <p:cNvCxnSpPr/>
          <p:nvPr/>
        </p:nvCxnSpPr>
        <p:spPr>
          <a:xfrm>
            <a:off x="6205728" y="3657219"/>
            <a:ext cx="1159002" cy="0"/>
          </a:xfrm>
          <a:prstGeom prst="line">
            <a:avLst/>
          </a:prstGeom>
          <a:ln w="24384" cap="flat">
            <a:solidFill>
              <a:srgbClr val="8B5E34"/>
            </a:solidFill>
          </a:ln>
        </p:spPr>
      </p:cxnSp>
      <p:sp>
        <p:nvSpPr>
          <p:cNvPr id="11" name="TextBox 10"/>
          <p:cNvSpPr txBox="1"/>
          <p:nvPr/>
        </p:nvSpPr>
        <p:spPr>
          <a:xfrm>
            <a:off x="6327648" y="3401187"/>
            <a:ext cx="831723"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Contexto</a:t>
            </a:r>
          </a:p>
        </p:txBody>
      </p:sp>
      <p:cxnSp>
        <p:nvCxnSpPr>
          <p:cNvPr id="12" name="Connector 11"/>
          <p:cNvCxnSpPr/>
          <p:nvPr/>
        </p:nvCxnSpPr>
        <p:spPr>
          <a:xfrm>
            <a:off x="7364730" y="3657219"/>
            <a:ext cx="1807845" cy="0"/>
          </a:xfrm>
          <a:prstGeom prst="line">
            <a:avLst/>
          </a:prstGeom>
          <a:ln w="24384" cap="flat">
            <a:solidFill>
              <a:srgbClr val="8B5E34"/>
            </a:solidFill>
          </a:ln>
        </p:spPr>
      </p:cxnSp>
      <p:sp>
        <p:nvSpPr>
          <p:cNvPr id="13" name="TextBox 12"/>
          <p:cNvSpPr txBox="1"/>
          <p:nvPr/>
        </p:nvSpPr>
        <p:spPr>
          <a:xfrm>
            <a:off x="7486650" y="3401187"/>
            <a:ext cx="681418"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Versión</a:t>
            </a:r>
          </a:p>
        </p:txBody>
      </p:sp>
      <p:cxnSp>
        <p:nvCxnSpPr>
          <p:cNvPr id="14" name="Connector 13"/>
          <p:cNvCxnSpPr/>
          <p:nvPr/>
        </p:nvCxnSpPr>
        <p:spPr>
          <a:xfrm>
            <a:off x="9172575" y="3657219"/>
            <a:ext cx="2531745" cy="0"/>
          </a:xfrm>
          <a:prstGeom prst="line">
            <a:avLst/>
          </a:prstGeom>
          <a:ln w="24384" cap="flat">
            <a:solidFill>
              <a:srgbClr val="8B5E34"/>
            </a:solidFill>
          </a:ln>
        </p:spPr>
      </p:cxnSp>
      <p:sp>
        <p:nvSpPr>
          <p:cNvPr id="15" name="TextBox 14"/>
          <p:cNvSpPr txBox="1"/>
          <p:nvPr/>
        </p:nvSpPr>
        <p:spPr>
          <a:xfrm>
            <a:off x="9294495" y="3401187"/>
            <a:ext cx="2081251"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Referencia recomendada</a:t>
            </a:r>
          </a:p>
        </p:txBody>
      </p:sp>
      <p:cxnSp>
        <p:nvCxnSpPr>
          <p:cNvPr id="16" name="Connector 15"/>
          <p:cNvCxnSpPr/>
          <p:nvPr/>
        </p:nvCxnSpPr>
        <p:spPr>
          <a:xfrm>
            <a:off x="6205728" y="4083939"/>
            <a:ext cx="1159002" cy="0"/>
          </a:xfrm>
          <a:prstGeom prst="line">
            <a:avLst/>
          </a:prstGeom>
          <a:ln w="12192" cap="flat">
            <a:solidFill>
              <a:srgbClr val="D8C39C"/>
            </a:solidFill>
            <a:prstDash val="dash"/>
          </a:ln>
        </p:spPr>
      </p:cxnSp>
      <p:sp>
        <p:nvSpPr>
          <p:cNvPr id="17" name="TextBox 16"/>
          <p:cNvSpPr txBox="1"/>
          <p:nvPr/>
        </p:nvSpPr>
        <p:spPr>
          <a:xfrm>
            <a:off x="6327648" y="3791331"/>
            <a:ext cx="507492"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Digital</a:t>
            </a:r>
          </a:p>
        </p:txBody>
      </p:sp>
      <p:cxnSp>
        <p:nvCxnSpPr>
          <p:cNvPr id="18" name="Connector 17"/>
          <p:cNvCxnSpPr/>
          <p:nvPr/>
        </p:nvCxnSpPr>
        <p:spPr>
          <a:xfrm>
            <a:off x="7364730" y="4083939"/>
            <a:ext cx="1807845" cy="0"/>
          </a:xfrm>
          <a:prstGeom prst="line">
            <a:avLst/>
          </a:prstGeom>
          <a:ln w="12192" cap="flat">
            <a:solidFill>
              <a:srgbClr val="D8C39C"/>
            </a:solidFill>
            <a:prstDash val="dash"/>
          </a:ln>
        </p:spPr>
      </p:cxnSp>
      <p:sp>
        <p:nvSpPr>
          <p:cNvPr id="19" name="TextBox 18"/>
          <p:cNvSpPr txBox="1"/>
          <p:nvPr/>
        </p:nvSpPr>
        <p:spPr>
          <a:xfrm>
            <a:off x="7486650" y="3791331"/>
            <a:ext cx="1382611"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Horizontal completa</a:t>
            </a:r>
          </a:p>
        </p:txBody>
      </p:sp>
      <p:cxnSp>
        <p:nvCxnSpPr>
          <p:cNvPr id="20" name="Connector 19"/>
          <p:cNvCxnSpPr/>
          <p:nvPr/>
        </p:nvCxnSpPr>
        <p:spPr>
          <a:xfrm>
            <a:off x="9172575" y="4083939"/>
            <a:ext cx="2531745" cy="0"/>
          </a:xfrm>
          <a:prstGeom prst="line">
            <a:avLst/>
          </a:prstGeom>
          <a:ln w="12192" cap="flat">
            <a:solidFill>
              <a:srgbClr val="D8C39C"/>
            </a:solidFill>
            <a:prstDash val="dash"/>
          </a:ln>
        </p:spPr>
      </p:cxnSp>
      <p:sp>
        <p:nvSpPr>
          <p:cNvPr id="21" name="TextBox 20"/>
          <p:cNvSpPr txBox="1"/>
          <p:nvPr/>
        </p:nvSpPr>
        <p:spPr>
          <a:xfrm>
            <a:off x="9294495" y="3791331"/>
            <a:ext cx="1709090"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32 px</a:t>
            </a:r>
            <a:r>
              <a:rPr sz="1100" b="0" i="0" lang="es-CO">
                <a:solidFill>
                  <a:srgbClr val="5B4A38"/>
                </a:solidFill>
                <a:latin typeface="Outfit"/>
              </a:rPr>
              <a:t> de alto (referencia)</a:t>
            </a:r>
          </a:p>
        </p:txBody>
      </p:sp>
      <p:cxnSp>
        <p:nvCxnSpPr>
          <p:cNvPr id="22" name="Connector 21"/>
          <p:cNvCxnSpPr/>
          <p:nvPr/>
        </p:nvCxnSpPr>
        <p:spPr>
          <a:xfrm>
            <a:off x="6205728" y="4498467"/>
            <a:ext cx="1159002" cy="0"/>
          </a:xfrm>
          <a:prstGeom prst="line">
            <a:avLst/>
          </a:prstGeom>
          <a:ln w="12192" cap="flat">
            <a:solidFill>
              <a:srgbClr val="D8C39C"/>
            </a:solidFill>
            <a:prstDash val="dash"/>
          </a:ln>
        </p:spPr>
      </p:cxnSp>
      <p:sp>
        <p:nvSpPr>
          <p:cNvPr id="23" name="TextBox 22"/>
          <p:cNvSpPr txBox="1"/>
          <p:nvPr/>
        </p:nvSpPr>
        <p:spPr>
          <a:xfrm>
            <a:off x="6327648" y="4205859"/>
            <a:ext cx="507492"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Digital</a:t>
            </a:r>
          </a:p>
        </p:txBody>
      </p:sp>
      <p:cxnSp>
        <p:nvCxnSpPr>
          <p:cNvPr id="24" name="Connector 23"/>
          <p:cNvCxnSpPr/>
          <p:nvPr/>
        </p:nvCxnSpPr>
        <p:spPr>
          <a:xfrm>
            <a:off x="7364730" y="4498467"/>
            <a:ext cx="1807845" cy="0"/>
          </a:xfrm>
          <a:prstGeom prst="line">
            <a:avLst/>
          </a:prstGeom>
          <a:ln w="12192" cap="flat">
            <a:solidFill>
              <a:srgbClr val="D8C39C"/>
            </a:solidFill>
            <a:prstDash val="dash"/>
          </a:ln>
        </p:spPr>
      </p:cxnSp>
      <p:sp>
        <p:nvSpPr>
          <p:cNvPr id="25" name="TextBox 24"/>
          <p:cNvSpPr txBox="1"/>
          <p:nvPr/>
        </p:nvSpPr>
        <p:spPr>
          <a:xfrm>
            <a:off x="7486650" y="4205859"/>
            <a:ext cx="1409643"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Solo isotipo / favicon</a:t>
            </a:r>
          </a:p>
        </p:txBody>
      </p:sp>
      <p:cxnSp>
        <p:nvCxnSpPr>
          <p:cNvPr id="26" name="Connector 25"/>
          <p:cNvCxnSpPr/>
          <p:nvPr/>
        </p:nvCxnSpPr>
        <p:spPr>
          <a:xfrm>
            <a:off x="9172575" y="4498467"/>
            <a:ext cx="2531745" cy="0"/>
          </a:xfrm>
          <a:prstGeom prst="line">
            <a:avLst/>
          </a:prstGeom>
          <a:ln w="12192" cap="flat">
            <a:solidFill>
              <a:srgbClr val="D8C39C"/>
            </a:solidFill>
            <a:prstDash val="dash"/>
          </a:ln>
        </p:spPr>
      </p:cxnSp>
      <p:sp>
        <p:nvSpPr>
          <p:cNvPr id="27" name="TextBox 26"/>
          <p:cNvSpPr txBox="1"/>
          <p:nvPr/>
        </p:nvSpPr>
        <p:spPr>
          <a:xfrm>
            <a:off x="9294495" y="4205859"/>
            <a:ext cx="1716634"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24 px</a:t>
            </a:r>
            <a:r>
              <a:rPr sz="1100" b="0" i="0" lang="es-CO">
                <a:solidFill>
                  <a:srgbClr val="5B4A38"/>
                </a:solidFill>
                <a:latin typeface="Outfit"/>
              </a:rPr>
              <a:t> de alto (referencia)</a:t>
            </a:r>
          </a:p>
        </p:txBody>
      </p:sp>
      <p:cxnSp>
        <p:nvCxnSpPr>
          <p:cNvPr id="28" name="Connector 27"/>
          <p:cNvCxnSpPr/>
          <p:nvPr/>
        </p:nvCxnSpPr>
        <p:spPr>
          <a:xfrm>
            <a:off x="6205728" y="4912995"/>
            <a:ext cx="1159002" cy="0"/>
          </a:xfrm>
          <a:prstGeom prst="line">
            <a:avLst/>
          </a:prstGeom>
          <a:ln w="12192" cap="flat">
            <a:solidFill>
              <a:srgbClr val="D8C39C"/>
            </a:solidFill>
            <a:prstDash val="dash"/>
          </a:ln>
        </p:spPr>
      </p:cxnSp>
      <p:sp>
        <p:nvSpPr>
          <p:cNvPr id="29" name="TextBox 28"/>
          <p:cNvSpPr txBox="1"/>
          <p:nvPr/>
        </p:nvSpPr>
        <p:spPr>
          <a:xfrm>
            <a:off x="6327648" y="4620387"/>
            <a:ext cx="712089"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Impresión</a:t>
            </a:r>
          </a:p>
        </p:txBody>
      </p:sp>
      <p:cxnSp>
        <p:nvCxnSpPr>
          <p:cNvPr id="30" name="Connector 29"/>
          <p:cNvCxnSpPr/>
          <p:nvPr/>
        </p:nvCxnSpPr>
        <p:spPr>
          <a:xfrm>
            <a:off x="7364730" y="4912995"/>
            <a:ext cx="1807845" cy="0"/>
          </a:xfrm>
          <a:prstGeom prst="line">
            <a:avLst/>
          </a:prstGeom>
          <a:ln w="12192" cap="flat">
            <a:solidFill>
              <a:srgbClr val="D8C39C"/>
            </a:solidFill>
            <a:prstDash val="dash"/>
          </a:ln>
        </p:spPr>
      </p:cxnSp>
      <p:sp>
        <p:nvSpPr>
          <p:cNvPr id="31" name="TextBox 30"/>
          <p:cNvSpPr txBox="1"/>
          <p:nvPr/>
        </p:nvSpPr>
        <p:spPr>
          <a:xfrm>
            <a:off x="7486650" y="4620387"/>
            <a:ext cx="1382611"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Horizontal completa</a:t>
            </a:r>
          </a:p>
        </p:txBody>
      </p:sp>
      <p:cxnSp>
        <p:nvCxnSpPr>
          <p:cNvPr id="32" name="Connector 31"/>
          <p:cNvCxnSpPr/>
          <p:nvPr/>
        </p:nvCxnSpPr>
        <p:spPr>
          <a:xfrm>
            <a:off x="9172575" y="4912995"/>
            <a:ext cx="2531745" cy="0"/>
          </a:xfrm>
          <a:prstGeom prst="line">
            <a:avLst/>
          </a:prstGeom>
          <a:ln w="12192" cap="flat">
            <a:solidFill>
              <a:srgbClr val="D8C39C"/>
            </a:solidFill>
            <a:prstDash val="dash"/>
          </a:ln>
        </p:spPr>
      </p:cxnSp>
      <p:sp>
        <p:nvSpPr>
          <p:cNvPr id="33" name="TextBox 32"/>
          <p:cNvSpPr txBox="1"/>
          <p:nvPr/>
        </p:nvSpPr>
        <p:spPr>
          <a:xfrm>
            <a:off x="9294495" y="4620387"/>
            <a:ext cx="1819523"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15 mm</a:t>
            </a:r>
            <a:r>
              <a:rPr sz="1100" b="0" i="0" lang="es-CO">
                <a:solidFill>
                  <a:srgbClr val="5B4A38"/>
                </a:solidFill>
                <a:latin typeface="Outfit"/>
              </a:rPr>
              <a:t> de alto (orientativo)</a:t>
            </a:r>
          </a:p>
        </p:txBody>
      </p:sp>
      <p:sp>
        <p:nvSpPr>
          <p:cNvPr id="34" name="TextBox 33"/>
          <p:cNvSpPr txBox="1"/>
          <p:nvPr/>
        </p:nvSpPr>
        <p:spPr>
          <a:xfrm>
            <a:off x="6327648" y="5034915"/>
            <a:ext cx="712089"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Impresión</a:t>
            </a:r>
          </a:p>
        </p:txBody>
      </p:sp>
      <p:sp>
        <p:nvSpPr>
          <p:cNvPr id="35" name="TextBox 34"/>
          <p:cNvSpPr txBox="1"/>
          <p:nvPr/>
        </p:nvSpPr>
        <p:spPr>
          <a:xfrm>
            <a:off x="7486650" y="5034915"/>
            <a:ext cx="805815"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Solo isotipo</a:t>
            </a:r>
          </a:p>
        </p:txBody>
      </p:sp>
      <p:sp>
        <p:nvSpPr>
          <p:cNvPr id="36" name="TextBox 35"/>
          <p:cNvSpPr txBox="1"/>
          <p:nvPr/>
        </p:nvSpPr>
        <p:spPr>
          <a:xfrm>
            <a:off x="9294495" y="5034915"/>
            <a:ext cx="1761477"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8 mm</a:t>
            </a:r>
            <a:r>
              <a:rPr sz="1100" b="0" i="0" lang="es-CO">
                <a:solidFill>
                  <a:srgbClr val="5B4A38"/>
                </a:solidFill>
                <a:latin typeface="Outfit"/>
              </a:rPr>
              <a:t> de alto (orientativo)</a:t>
            </a:r>
          </a:p>
        </p:txBody>
      </p:sp>
      <p:sp>
        <p:nvSpPr>
          <p:cNvPr id="37" name="TextBox 36"/>
          <p:cNvSpPr txBox="1"/>
          <p:nvPr/>
        </p:nvSpPr>
        <p:spPr>
          <a:xfrm>
            <a:off x="487680" y="5586032"/>
            <a:ext cx="11889638" cy="341376"/>
          </a:xfrm>
          <a:prstGeom prst="rect">
            <a:avLst/>
          </a:prstGeom>
          <a:noFill/>
        </p:spPr>
        <p:txBody>
          <a:bodyPr wrap="square" lIns="0" rIns="0" tIns="0" bIns="0" anchor="t">
            <a:noAutofit/>
          </a:bodyPr>
          <a:lstStyle/>
          <a:p>
            <a:pPr algn="l">
              <a:lnSpc>
                <a:spcPts val="1344"/>
              </a:lnSpc>
              <a:spcBef>
                <a:spcPts val="0"/>
              </a:spcBef>
              <a:spcAft>
                <a:spcPts val="0"/>
              </a:spcAft>
            </a:pPr>
            <a:r>
              <a:rPr sz="1050" b="0" i="0" lang="es-CO">
                <a:solidFill>
                  <a:srgbClr val="8A7860"/>
                </a:solidFill>
                <a:latin typeface="Outfit"/>
              </a:rPr>
              <a:t>Área de reserva: </a:t>
            </a:r>
            <a:r>
              <a:rPr sz="1050" b="1" i="0" lang="es-CO">
                <a:solidFill>
                  <a:srgbClr val="8A7860"/>
                </a:solidFill>
                <a:latin typeface="Outfit"/>
              </a:rPr>
              <a:t>1X</a:t>
            </a:r>
            <a:r>
              <a:rPr sz="1050" b="0" i="0" lang="es-CO">
                <a:solidFill>
                  <a:srgbClr val="8A7860"/>
                </a:solidFill>
                <a:latin typeface="Outfit"/>
              </a:rPr>
              <a:t> equivale a la altura del isotipo de la olla. Ningún texto ni elemento ajeno debe invadirla. Las medidas de impresión son referencias iniciales; valida legibilidad y</a:t>
            </a:r>
            <a:br/>
            <a:r>
              <a:rPr sz="1050" b="0" i="0" lang="es-CO">
                <a:solidFill>
                  <a:srgbClr val="8A7860"/>
                </a:solidFill>
                <a:latin typeface="Outfit"/>
              </a:rPr>
              <a:t>reproducción con una prueba física.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9927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07</a:t>
            </a:r>
          </a:p>
        </p:txBody>
      </p:sp>
      <p:sp>
        <p:nvSpPr>
          <p:cNvPr id="5" name="TextBox 4"/>
          <p:cNvSpPr txBox="1"/>
          <p:nvPr/>
        </p:nvSpPr>
        <p:spPr>
          <a:xfrm>
            <a:off x="1250252" y="365760"/>
            <a:ext cx="2293944"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Construcción y Usos</a:t>
            </a:r>
          </a:p>
        </p:txBody>
      </p:sp>
      <p:sp>
        <p:nvSpPr>
          <p:cNvPr id="6" name="TextBox 5"/>
          <p:cNvSpPr txBox="1"/>
          <p:nvPr/>
        </p:nvSpPr>
        <p:spPr>
          <a:xfrm>
            <a:off x="487680" y="987552"/>
            <a:ext cx="2715978"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5C3A1E"/>
                </a:solidFill>
                <a:latin typeface="Playfair Display"/>
              </a:rPr>
              <a:t>Lámina de usos incorrectos</a:t>
            </a:r>
          </a:p>
        </p:txBody>
      </p:sp>
      <p:sp>
        <p:nvSpPr>
          <p:cNvPr id="7" name="Rounded Rectangle 6"/>
          <p:cNvSpPr/>
          <p:nvPr/>
        </p:nvSpPr>
        <p:spPr>
          <a:xfrm>
            <a:off x="499872" y="1426464"/>
            <a:ext cx="3600640" cy="902208"/>
          </a:xfrm>
          <a:prstGeom prst="roundRect">
            <a:avLst>
              <a:gd name="adj" fmla="val 9459"/>
            </a:avLst>
          </a:prstGeom>
          <a:solidFill>
            <a:srgbClr val="FFFFFF"/>
          </a:solidFill>
          <a:ln w="24384" cap="flat">
            <a:solidFill>
              <a:srgbClr val="E5484D"/>
            </a:solidFill>
          </a:ln>
        </p:spPr>
        <p:txBody>
          <a:bodyPr rtlCol="0" anchor="ctr"/>
          <a:lstStyle/>
          <a:p>
            <a:pPr algn="ctr"/>
          </a:p>
        </p:txBody>
      </p:sp>
      <p:sp>
        <p:nvSpPr>
          <p:cNvPr id="8" name="Oval 7"/>
          <p:cNvSpPr/>
          <p:nvPr/>
        </p:nvSpPr>
        <p:spPr>
          <a:xfrm>
            <a:off x="3722560" y="1536192"/>
            <a:ext cx="243840" cy="243840"/>
          </a:xfrm>
          <a:prstGeom prst="ellipse">
            <a:avLst/>
          </a:prstGeom>
          <a:solidFill>
            <a:srgbClr val="E5484D"/>
          </a:solidFill>
          <a:ln>
            <a:noFill/>
          </a:ln>
        </p:spPr>
        <p:txBody>
          <a:bodyPr rtlCol="0" anchor="ctr"/>
          <a:lstStyle/>
          <a:p>
            <a:pPr algn="ctr"/>
          </a:p>
        </p:txBody>
      </p:sp>
      <p:sp>
        <p:nvSpPr>
          <p:cNvPr id="9" name="TextBox 8"/>
          <p:cNvSpPr txBox="1"/>
          <p:nvPr/>
        </p:nvSpPr>
        <p:spPr>
          <a:xfrm>
            <a:off x="3734372" y="1566672"/>
            <a:ext cx="220218"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FFFFFF"/>
                </a:solidFill>
                <a:latin typeface="Outfit"/>
              </a:rPr>
              <a:t>✕</a:t>
            </a:r>
          </a:p>
        </p:txBody>
      </p:sp>
      <p:sp>
        <p:nvSpPr>
          <p:cNvPr id="10" name="TextBox 9"/>
          <p:cNvSpPr txBox="1"/>
          <p:nvPr/>
        </p:nvSpPr>
        <p:spPr>
          <a:xfrm>
            <a:off x="1725301" y="1755648"/>
            <a:ext cx="1149591" cy="170688"/>
          </a:xfrm>
          <a:prstGeom prst="rect">
            <a:avLst/>
          </a:prstGeom>
          <a:noFill/>
        </p:spPr>
        <p:txBody>
          <a:bodyPr wrap="none" lIns="0" rIns="0" tIns="0" bIns="0" anchor="t">
            <a:noAutofit/>
          </a:bodyPr>
          <a:lstStyle/>
          <a:p>
            <a:pPr algn="ctr">
              <a:lnSpc>
                <a:spcPts val="1344"/>
              </a:lnSpc>
              <a:spcBef>
                <a:spcPts val="0"/>
              </a:spcBef>
              <a:spcAft>
                <a:spcPts val="0"/>
              </a:spcAft>
            </a:pPr>
            <a:r>
              <a:rPr sz="1050" b="1" i="0" lang="es-CO" cap="all" spc="32">
                <a:solidFill>
                  <a:srgbClr val="E5484D"/>
                </a:solidFill>
                <a:latin typeface="Outfit"/>
              </a:rPr>
              <a:t>Deformación</a:t>
            </a:r>
          </a:p>
        </p:txBody>
      </p:sp>
      <p:sp>
        <p:nvSpPr>
          <p:cNvPr id="11" name="TextBox 10"/>
          <p:cNvSpPr txBox="1"/>
          <p:nvPr/>
        </p:nvSpPr>
        <p:spPr>
          <a:xfrm>
            <a:off x="1044464" y="1975104"/>
            <a:ext cx="2511457" cy="170688"/>
          </a:xfrm>
          <a:prstGeom prst="rect">
            <a:avLst/>
          </a:prstGeom>
          <a:noFill/>
        </p:spPr>
        <p:txBody>
          <a:bodyPr wrap="none" lIns="0" rIns="0" tIns="0" bIns="0" anchor="t">
            <a:noAutofit/>
          </a:bodyPr>
          <a:lstStyle/>
          <a:p>
            <a:pPr algn="ctr">
              <a:lnSpc>
                <a:spcPts val="1344"/>
              </a:lnSpc>
              <a:spcBef>
                <a:spcPts val="0"/>
              </a:spcBef>
              <a:spcAft>
                <a:spcPts val="0"/>
              </a:spcAft>
            </a:pPr>
            <a:r>
              <a:rPr sz="1000" b="0" i="0" lang="es-CO">
                <a:solidFill>
                  <a:srgbClr val="8A7860"/>
                </a:solidFill>
                <a:latin typeface="Outfit"/>
              </a:rPr>
              <a:t>No alterar la escala horizontal o vertical.</a:t>
            </a:r>
          </a:p>
        </p:txBody>
      </p:sp>
      <p:sp>
        <p:nvSpPr>
          <p:cNvPr id="12" name="Rounded Rectangle 11"/>
          <p:cNvSpPr/>
          <p:nvPr/>
        </p:nvSpPr>
        <p:spPr>
          <a:xfrm>
            <a:off x="4295584" y="1426464"/>
            <a:ext cx="3600640" cy="902208"/>
          </a:xfrm>
          <a:prstGeom prst="roundRect">
            <a:avLst>
              <a:gd name="adj" fmla="val 9459"/>
            </a:avLst>
          </a:prstGeom>
          <a:solidFill>
            <a:srgbClr val="FFFFFF"/>
          </a:solidFill>
          <a:ln w="24384" cap="flat">
            <a:solidFill>
              <a:srgbClr val="E5484D"/>
            </a:solidFill>
          </a:ln>
        </p:spPr>
        <p:txBody>
          <a:bodyPr rtlCol="0" anchor="ctr"/>
          <a:lstStyle/>
          <a:p>
            <a:pPr algn="ctr"/>
          </a:p>
        </p:txBody>
      </p:sp>
      <p:sp>
        <p:nvSpPr>
          <p:cNvPr id="13" name="Oval 12"/>
          <p:cNvSpPr/>
          <p:nvPr/>
        </p:nvSpPr>
        <p:spPr>
          <a:xfrm>
            <a:off x="7518273" y="1536192"/>
            <a:ext cx="243840" cy="243840"/>
          </a:xfrm>
          <a:prstGeom prst="ellipse">
            <a:avLst/>
          </a:prstGeom>
          <a:solidFill>
            <a:srgbClr val="E5484D"/>
          </a:solidFill>
          <a:ln>
            <a:noFill/>
          </a:ln>
        </p:spPr>
        <p:txBody>
          <a:bodyPr rtlCol="0" anchor="ctr"/>
          <a:lstStyle/>
          <a:p>
            <a:pPr algn="ctr"/>
          </a:p>
        </p:txBody>
      </p:sp>
      <p:sp>
        <p:nvSpPr>
          <p:cNvPr id="14" name="TextBox 13"/>
          <p:cNvSpPr txBox="1"/>
          <p:nvPr/>
        </p:nvSpPr>
        <p:spPr>
          <a:xfrm>
            <a:off x="7530084" y="1566672"/>
            <a:ext cx="220218"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FFFFFF"/>
                </a:solidFill>
                <a:latin typeface="Outfit"/>
              </a:rPr>
              <a:t>✕</a:t>
            </a:r>
          </a:p>
        </p:txBody>
      </p:sp>
      <p:sp>
        <p:nvSpPr>
          <p:cNvPr id="15" name="TextBox 14"/>
          <p:cNvSpPr txBox="1"/>
          <p:nvPr/>
        </p:nvSpPr>
        <p:spPr>
          <a:xfrm>
            <a:off x="5139204" y="1755648"/>
            <a:ext cx="1913401" cy="170688"/>
          </a:xfrm>
          <a:prstGeom prst="rect">
            <a:avLst/>
          </a:prstGeom>
          <a:noFill/>
        </p:spPr>
        <p:txBody>
          <a:bodyPr wrap="none" lIns="0" rIns="0" tIns="0" bIns="0" anchor="t">
            <a:noAutofit/>
          </a:bodyPr>
          <a:lstStyle/>
          <a:p>
            <a:pPr algn="ctr">
              <a:lnSpc>
                <a:spcPts val="1344"/>
              </a:lnSpc>
              <a:spcBef>
                <a:spcPts val="0"/>
              </a:spcBef>
              <a:spcAft>
                <a:spcPts val="0"/>
              </a:spcAft>
            </a:pPr>
            <a:r>
              <a:rPr sz="1050" b="1" i="0" lang="es-CO" cap="all" spc="32">
                <a:solidFill>
                  <a:srgbClr val="E5484D"/>
                </a:solidFill>
                <a:latin typeface="Outfit"/>
              </a:rPr>
              <a:t>Color fuera de paleta</a:t>
            </a:r>
          </a:p>
        </p:txBody>
      </p:sp>
      <p:sp>
        <p:nvSpPr>
          <p:cNvPr id="16" name="TextBox 15"/>
          <p:cNvSpPr txBox="1"/>
          <p:nvPr/>
        </p:nvSpPr>
        <p:spPr>
          <a:xfrm>
            <a:off x="4705655" y="1975104"/>
            <a:ext cx="2780309" cy="170688"/>
          </a:xfrm>
          <a:prstGeom prst="rect">
            <a:avLst/>
          </a:prstGeom>
          <a:noFill/>
        </p:spPr>
        <p:txBody>
          <a:bodyPr wrap="none" lIns="0" rIns="0" tIns="0" bIns="0" anchor="t">
            <a:noAutofit/>
          </a:bodyPr>
          <a:lstStyle/>
          <a:p>
            <a:pPr algn="ctr">
              <a:lnSpc>
                <a:spcPts val="1344"/>
              </a:lnSpc>
              <a:spcBef>
                <a:spcPts val="0"/>
              </a:spcBef>
              <a:spcAft>
                <a:spcPts val="0"/>
              </a:spcAft>
            </a:pPr>
            <a:r>
              <a:rPr sz="1000" b="0" i="0" lang="es-CO">
                <a:solidFill>
                  <a:srgbClr val="8A7860"/>
                </a:solidFill>
                <a:latin typeface="Outfit"/>
              </a:rPr>
              <a:t>No usar tonos ni degradados no autorizados.</a:t>
            </a:r>
          </a:p>
        </p:txBody>
      </p:sp>
      <p:sp>
        <p:nvSpPr>
          <p:cNvPr id="17" name="Rounded Rectangle 16"/>
          <p:cNvSpPr/>
          <p:nvPr/>
        </p:nvSpPr>
        <p:spPr>
          <a:xfrm>
            <a:off x="8091297" y="1426464"/>
            <a:ext cx="3600831" cy="902208"/>
          </a:xfrm>
          <a:prstGeom prst="roundRect">
            <a:avLst>
              <a:gd name="adj" fmla="val 9459"/>
            </a:avLst>
          </a:prstGeom>
          <a:solidFill>
            <a:srgbClr val="FFFFFF"/>
          </a:solidFill>
          <a:ln w="24384" cap="flat">
            <a:solidFill>
              <a:srgbClr val="E5484D"/>
            </a:solidFill>
          </a:ln>
        </p:spPr>
        <p:txBody>
          <a:bodyPr rtlCol="0" anchor="ctr"/>
          <a:lstStyle/>
          <a:p>
            <a:pPr algn="ctr"/>
          </a:p>
        </p:txBody>
      </p:sp>
      <p:sp>
        <p:nvSpPr>
          <p:cNvPr id="18" name="Oval 17"/>
          <p:cNvSpPr/>
          <p:nvPr/>
        </p:nvSpPr>
        <p:spPr>
          <a:xfrm>
            <a:off x="11314176" y="1536192"/>
            <a:ext cx="243840" cy="243840"/>
          </a:xfrm>
          <a:prstGeom prst="ellipse">
            <a:avLst/>
          </a:prstGeom>
          <a:solidFill>
            <a:srgbClr val="E5484D"/>
          </a:solidFill>
          <a:ln>
            <a:noFill/>
          </a:ln>
        </p:spPr>
        <p:txBody>
          <a:bodyPr rtlCol="0" anchor="ctr"/>
          <a:lstStyle/>
          <a:p>
            <a:pPr algn="ctr"/>
          </a:p>
        </p:txBody>
      </p:sp>
      <p:sp>
        <p:nvSpPr>
          <p:cNvPr id="19" name="TextBox 18"/>
          <p:cNvSpPr txBox="1"/>
          <p:nvPr/>
        </p:nvSpPr>
        <p:spPr>
          <a:xfrm>
            <a:off x="11325987" y="1566672"/>
            <a:ext cx="220218"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FFFFFF"/>
                </a:solidFill>
                <a:latin typeface="Outfit"/>
              </a:rPr>
              <a:t>✕</a:t>
            </a:r>
          </a:p>
        </p:txBody>
      </p:sp>
      <p:sp>
        <p:nvSpPr>
          <p:cNvPr id="20" name="TextBox 19"/>
          <p:cNvSpPr txBox="1"/>
          <p:nvPr/>
        </p:nvSpPr>
        <p:spPr>
          <a:xfrm>
            <a:off x="9529762" y="1755648"/>
            <a:ext cx="723900" cy="170688"/>
          </a:xfrm>
          <a:prstGeom prst="rect">
            <a:avLst/>
          </a:prstGeom>
          <a:noFill/>
        </p:spPr>
        <p:txBody>
          <a:bodyPr wrap="none" lIns="0" rIns="0" tIns="0" bIns="0" anchor="t">
            <a:noAutofit/>
          </a:bodyPr>
          <a:lstStyle/>
          <a:p>
            <a:pPr algn="ctr">
              <a:lnSpc>
                <a:spcPts val="1344"/>
              </a:lnSpc>
              <a:spcBef>
                <a:spcPts val="0"/>
              </a:spcBef>
              <a:spcAft>
                <a:spcPts val="0"/>
              </a:spcAft>
            </a:pPr>
            <a:r>
              <a:rPr sz="1050" b="1" i="0" lang="es-CO" cap="all" spc="32">
                <a:solidFill>
                  <a:srgbClr val="E5484D"/>
                </a:solidFill>
                <a:latin typeface="Outfit"/>
              </a:rPr>
              <a:t>Efectos</a:t>
            </a:r>
          </a:p>
        </p:txBody>
      </p:sp>
      <p:sp>
        <p:nvSpPr>
          <p:cNvPr id="21" name="TextBox 20"/>
          <p:cNvSpPr txBox="1"/>
          <p:nvPr/>
        </p:nvSpPr>
        <p:spPr>
          <a:xfrm>
            <a:off x="8276292" y="1975104"/>
            <a:ext cx="3230842" cy="170688"/>
          </a:xfrm>
          <a:prstGeom prst="rect">
            <a:avLst/>
          </a:prstGeom>
          <a:noFill/>
        </p:spPr>
        <p:txBody>
          <a:bodyPr wrap="none" lIns="0" rIns="0" tIns="0" bIns="0" anchor="t">
            <a:noAutofit/>
          </a:bodyPr>
          <a:lstStyle/>
          <a:p>
            <a:pPr algn="ctr">
              <a:lnSpc>
                <a:spcPts val="1344"/>
              </a:lnSpc>
              <a:spcBef>
                <a:spcPts val="0"/>
              </a:spcBef>
              <a:spcAft>
                <a:spcPts val="0"/>
              </a:spcAft>
            </a:pPr>
            <a:r>
              <a:rPr sz="1000" b="0" i="0" lang="es-CO">
                <a:solidFill>
                  <a:srgbClr val="8A7860"/>
                </a:solidFill>
                <a:latin typeface="Outfit"/>
              </a:rPr>
              <a:t>Evita sombras y degradados que alteren el logotipo.</a:t>
            </a:r>
          </a:p>
        </p:txBody>
      </p:sp>
      <p:sp>
        <p:nvSpPr>
          <p:cNvPr id="22" name="Rounded Rectangle 21"/>
          <p:cNvSpPr/>
          <p:nvPr/>
        </p:nvSpPr>
        <p:spPr>
          <a:xfrm>
            <a:off x="499872" y="2523744"/>
            <a:ext cx="3600640" cy="1072896"/>
          </a:xfrm>
          <a:prstGeom prst="roundRect">
            <a:avLst>
              <a:gd name="adj" fmla="val 7954"/>
            </a:avLst>
          </a:prstGeom>
          <a:solidFill>
            <a:srgbClr val="FFFFFF"/>
          </a:solidFill>
          <a:ln w="24384" cap="flat">
            <a:solidFill>
              <a:srgbClr val="E5484D"/>
            </a:solidFill>
          </a:ln>
        </p:spPr>
        <p:txBody>
          <a:bodyPr rtlCol="0" anchor="ctr"/>
          <a:lstStyle/>
          <a:p>
            <a:pPr algn="ctr"/>
          </a:p>
        </p:txBody>
      </p:sp>
      <p:sp>
        <p:nvSpPr>
          <p:cNvPr id="23" name="Oval 22"/>
          <p:cNvSpPr/>
          <p:nvPr/>
        </p:nvSpPr>
        <p:spPr>
          <a:xfrm>
            <a:off x="3722560" y="2633472"/>
            <a:ext cx="243840" cy="243840"/>
          </a:xfrm>
          <a:prstGeom prst="ellipse">
            <a:avLst/>
          </a:prstGeom>
          <a:solidFill>
            <a:srgbClr val="E5484D"/>
          </a:solidFill>
          <a:ln>
            <a:noFill/>
          </a:ln>
        </p:spPr>
        <p:txBody>
          <a:bodyPr rtlCol="0" anchor="ctr"/>
          <a:lstStyle/>
          <a:p>
            <a:pPr algn="ctr"/>
          </a:p>
        </p:txBody>
      </p:sp>
      <p:sp>
        <p:nvSpPr>
          <p:cNvPr id="24" name="TextBox 23"/>
          <p:cNvSpPr txBox="1"/>
          <p:nvPr/>
        </p:nvSpPr>
        <p:spPr>
          <a:xfrm>
            <a:off x="3734372" y="2663952"/>
            <a:ext cx="220218"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FFFFFF"/>
                </a:solidFill>
                <a:latin typeface="Outfit"/>
              </a:rPr>
              <a:t>✕</a:t>
            </a:r>
          </a:p>
        </p:txBody>
      </p:sp>
      <p:sp>
        <p:nvSpPr>
          <p:cNvPr id="25" name="TextBox 24"/>
          <p:cNvSpPr txBox="1"/>
          <p:nvPr/>
        </p:nvSpPr>
        <p:spPr>
          <a:xfrm>
            <a:off x="1573997" y="2852928"/>
            <a:ext cx="1452391" cy="170688"/>
          </a:xfrm>
          <a:prstGeom prst="rect">
            <a:avLst/>
          </a:prstGeom>
          <a:noFill/>
        </p:spPr>
        <p:txBody>
          <a:bodyPr wrap="none" lIns="0" rIns="0" tIns="0" bIns="0" anchor="t">
            <a:noAutofit/>
          </a:bodyPr>
          <a:lstStyle/>
          <a:p>
            <a:pPr algn="ctr">
              <a:lnSpc>
                <a:spcPts val="1344"/>
              </a:lnSpc>
              <a:spcBef>
                <a:spcPts val="0"/>
              </a:spcBef>
              <a:spcAft>
                <a:spcPts val="0"/>
              </a:spcAft>
            </a:pPr>
            <a:r>
              <a:rPr sz="1050" b="1" i="0" lang="es-CO" cap="all" spc="32">
                <a:solidFill>
                  <a:srgbClr val="E5484D"/>
                </a:solidFill>
                <a:latin typeface="Outfit"/>
              </a:rPr>
              <a:t>Reordenamiento</a:t>
            </a:r>
          </a:p>
        </p:txBody>
      </p:sp>
      <p:sp>
        <p:nvSpPr>
          <p:cNvPr id="26" name="TextBox 25"/>
          <p:cNvSpPr txBox="1"/>
          <p:nvPr/>
        </p:nvSpPr>
        <p:spPr>
          <a:xfrm>
            <a:off x="772887" y="3072384"/>
            <a:ext cx="3054610" cy="170688"/>
          </a:xfrm>
          <a:prstGeom prst="rect">
            <a:avLst/>
          </a:prstGeom>
          <a:noFill/>
        </p:spPr>
        <p:txBody>
          <a:bodyPr wrap="none" lIns="0" rIns="0" tIns="0" bIns="0" anchor="t">
            <a:noAutofit/>
          </a:bodyPr>
          <a:lstStyle/>
          <a:p>
            <a:pPr algn="ctr">
              <a:lnSpc>
                <a:spcPts val="1344"/>
              </a:lnSpc>
              <a:spcBef>
                <a:spcPts val="0"/>
              </a:spcBef>
              <a:spcAft>
                <a:spcPts val="0"/>
              </a:spcAft>
            </a:pPr>
            <a:r>
              <a:rPr sz="1000" b="0" i="0" lang="es-CO">
                <a:solidFill>
                  <a:srgbClr val="8A7860"/>
                </a:solidFill>
                <a:latin typeface="Outfit"/>
              </a:rPr>
              <a:t>No cambies la posición del isotipo ni la tipografía.</a:t>
            </a:r>
          </a:p>
        </p:txBody>
      </p:sp>
      <p:sp>
        <p:nvSpPr>
          <p:cNvPr id="27" name="Rounded Rectangle 26"/>
          <p:cNvSpPr/>
          <p:nvPr/>
        </p:nvSpPr>
        <p:spPr>
          <a:xfrm>
            <a:off x="4295584" y="2523744"/>
            <a:ext cx="3600640" cy="1072896"/>
          </a:xfrm>
          <a:prstGeom prst="roundRect">
            <a:avLst>
              <a:gd name="adj" fmla="val 7954"/>
            </a:avLst>
          </a:prstGeom>
          <a:solidFill>
            <a:srgbClr val="FFFFFF"/>
          </a:solidFill>
          <a:ln w="24384" cap="flat">
            <a:solidFill>
              <a:srgbClr val="E5484D"/>
            </a:solidFill>
          </a:ln>
        </p:spPr>
        <p:txBody>
          <a:bodyPr rtlCol="0" anchor="ctr"/>
          <a:lstStyle/>
          <a:p>
            <a:pPr algn="ctr"/>
          </a:p>
        </p:txBody>
      </p:sp>
      <p:sp>
        <p:nvSpPr>
          <p:cNvPr id="28" name="Oval 27"/>
          <p:cNvSpPr/>
          <p:nvPr/>
        </p:nvSpPr>
        <p:spPr>
          <a:xfrm>
            <a:off x="7518273" y="2633472"/>
            <a:ext cx="243840" cy="243840"/>
          </a:xfrm>
          <a:prstGeom prst="ellipse">
            <a:avLst/>
          </a:prstGeom>
          <a:solidFill>
            <a:srgbClr val="E5484D"/>
          </a:solidFill>
          <a:ln>
            <a:noFill/>
          </a:ln>
        </p:spPr>
        <p:txBody>
          <a:bodyPr rtlCol="0" anchor="ctr"/>
          <a:lstStyle/>
          <a:p>
            <a:pPr algn="ctr"/>
          </a:p>
        </p:txBody>
      </p:sp>
      <p:sp>
        <p:nvSpPr>
          <p:cNvPr id="29" name="TextBox 28"/>
          <p:cNvSpPr txBox="1"/>
          <p:nvPr/>
        </p:nvSpPr>
        <p:spPr>
          <a:xfrm>
            <a:off x="7530084" y="2663952"/>
            <a:ext cx="220218"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FFFFFF"/>
                </a:solidFill>
                <a:latin typeface="Outfit"/>
              </a:rPr>
              <a:t>✕</a:t>
            </a:r>
          </a:p>
        </p:txBody>
      </p:sp>
      <p:sp>
        <p:nvSpPr>
          <p:cNvPr id="30" name="TextBox 29"/>
          <p:cNvSpPr txBox="1"/>
          <p:nvPr/>
        </p:nvSpPr>
        <p:spPr>
          <a:xfrm>
            <a:off x="5411410" y="2852928"/>
            <a:ext cx="1368990" cy="170688"/>
          </a:xfrm>
          <a:prstGeom prst="rect">
            <a:avLst/>
          </a:prstGeom>
          <a:noFill/>
        </p:spPr>
        <p:txBody>
          <a:bodyPr wrap="none" lIns="0" rIns="0" tIns="0" bIns="0" anchor="t">
            <a:noAutofit/>
          </a:bodyPr>
          <a:lstStyle/>
          <a:p>
            <a:pPr algn="ctr">
              <a:lnSpc>
                <a:spcPts val="1344"/>
              </a:lnSpc>
              <a:spcBef>
                <a:spcPts val="0"/>
              </a:spcBef>
              <a:spcAft>
                <a:spcPts val="0"/>
              </a:spcAft>
            </a:pPr>
            <a:r>
              <a:rPr sz="1050" b="1" i="0" lang="es-CO" cap="all" spc="32">
                <a:solidFill>
                  <a:srgbClr val="E5484D"/>
                </a:solidFill>
                <a:latin typeface="Outfit"/>
              </a:rPr>
              <a:t>Bajo contraste</a:t>
            </a:r>
          </a:p>
        </p:txBody>
      </p:sp>
      <p:sp>
        <p:nvSpPr>
          <p:cNvPr id="31" name="TextBox 30"/>
          <p:cNvSpPr txBox="1"/>
          <p:nvPr/>
        </p:nvSpPr>
        <p:spPr>
          <a:xfrm>
            <a:off x="4381418" y="3072384"/>
            <a:ext cx="3428973" cy="341376"/>
          </a:xfrm>
          <a:prstGeom prst="rect">
            <a:avLst/>
          </a:prstGeom>
          <a:noFill/>
        </p:spPr>
        <p:txBody>
          <a:bodyPr wrap="square" lIns="0" rIns="0" tIns="0" bIns="0" anchor="t">
            <a:noAutofit/>
          </a:bodyPr>
          <a:lstStyle/>
          <a:p>
            <a:pPr algn="ctr">
              <a:lnSpc>
                <a:spcPts val="1344"/>
              </a:lnSpc>
              <a:spcBef>
                <a:spcPts val="0"/>
              </a:spcBef>
              <a:spcAft>
                <a:spcPts val="0"/>
              </a:spcAft>
            </a:pPr>
            <a:r>
              <a:rPr sz="1000" b="0" i="0" lang="es-CO">
                <a:solidFill>
                  <a:srgbClr val="8A7860"/>
                </a:solidFill>
                <a:latin typeface="Outfit"/>
              </a:rPr>
              <a:t>No uses la versión a color sobre fondos que dificulten su</a:t>
            </a:r>
            <a:br/>
            <a:r>
              <a:rPr sz="1000" b="0" i="0" lang="es-CO">
                <a:solidFill>
                  <a:srgbClr val="8A7860"/>
                </a:solidFill>
                <a:latin typeface="Outfit"/>
              </a:rPr>
              <a:t>lectura.</a:t>
            </a:r>
          </a:p>
        </p:txBody>
      </p:sp>
      <p:sp>
        <p:nvSpPr>
          <p:cNvPr id="32" name="Rounded Rectangle 31"/>
          <p:cNvSpPr/>
          <p:nvPr/>
        </p:nvSpPr>
        <p:spPr>
          <a:xfrm>
            <a:off x="8091297" y="2523744"/>
            <a:ext cx="3600831" cy="1072896"/>
          </a:xfrm>
          <a:prstGeom prst="roundRect">
            <a:avLst>
              <a:gd name="adj" fmla="val 7954"/>
            </a:avLst>
          </a:prstGeom>
          <a:solidFill>
            <a:srgbClr val="FFFFFF"/>
          </a:solidFill>
          <a:ln w="24384" cap="flat">
            <a:solidFill>
              <a:srgbClr val="E5484D"/>
            </a:solidFill>
          </a:ln>
        </p:spPr>
        <p:txBody>
          <a:bodyPr rtlCol="0" anchor="ctr"/>
          <a:lstStyle/>
          <a:p>
            <a:pPr algn="ctr"/>
          </a:p>
        </p:txBody>
      </p:sp>
      <p:sp>
        <p:nvSpPr>
          <p:cNvPr id="33" name="Oval 32"/>
          <p:cNvSpPr/>
          <p:nvPr/>
        </p:nvSpPr>
        <p:spPr>
          <a:xfrm>
            <a:off x="11314176" y="2633472"/>
            <a:ext cx="243840" cy="243840"/>
          </a:xfrm>
          <a:prstGeom prst="ellipse">
            <a:avLst/>
          </a:prstGeom>
          <a:solidFill>
            <a:srgbClr val="E5484D"/>
          </a:solidFill>
          <a:ln>
            <a:noFill/>
          </a:ln>
        </p:spPr>
        <p:txBody>
          <a:bodyPr rtlCol="0" anchor="ctr"/>
          <a:lstStyle/>
          <a:p>
            <a:pPr algn="ctr"/>
          </a:p>
        </p:txBody>
      </p:sp>
      <p:sp>
        <p:nvSpPr>
          <p:cNvPr id="34" name="TextBox 33"/>
          <p:cNvSpPr txBox="1"/>
          <p:nvPr/>
        </p:nvSpPr>
        <p:spPr>
          <a:xfrm>
            <a:off x="11325987" y="2663952"/>
            <a:ext cx="220218"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FFFFFF"/>
                </a:solidFill>
                <a:latin typeface="Outfit"/>
              </a:rPr>
              <a:t>✕</a:t>
            </a:r>
          </a:p>
        </p:txBody>
      </p:sp>
      <p:sp>
        <p:nvSpPr>
          <p:cNvPr id="35" name="TextBox 34"/>
          <p:cNvSpPr txBox="1"/>
          <p:nvPr/>
        </p:nvSpPr>
        <p:spPr>
          <a:xfrm>
            <a:off x="8980170" y="2852928"/>
            <a:ext cx="1823085" cy="170688"/>
          </a:xfrm>
          <a:prstGeom prst="rect">
            <a:avLst/>
          </a:prstGeom>
          <a:noFill/>
        </p:spPr>
        <p:txBody>
          <a:bodyPr wrap="none" lIns="0" rIns="0" tIns="0" bIns="0" anchor="t">
            <a:noAutofit/>
          </a:bodyPr>
          <a:lstStyle/>
          <a:p>
            <a:pPr algn="ctr">
              <a:lnSpc>
                <a:spcPts val="1344"/>
              </a:lnSpc>
              <a:spcBef>
                <a:spcPts val="0"/>
              </a:spcBef>
              <a:spcAft>
                <a:spcPts val="0"/>
              </a:spcAft>
            </a:pPr>
            <a:r>
              <a:rPr sz="1050" b="1" i="0" lang="es-CO" cap="all" spc="32">
                <a:solidFill>
                  <a:srgbClr val="E5484D"/>
                </a:solidFill>
                <a:latin typeface="Outfit"/>
              </a:rPr>
              <a:t>Aislamiento erróneo</a:t>
            </a:r>
          </a:p>
        </p:txBody>
      </p:sp>
      <p:sp>
        <p:nvSpPr>
          <p:cNvPr id="36" name="TextBox 35"/>
          <p:cNvSpPr txBox="1"/>
          <p:nvPr/>
        </p:nvSpPr>
        <p:spPr>
          <a:xfrm>
            <a:off x="8177125" y="3072384"/>
            <a:ext cx="3429175" cy="341376"/>
          </a:xfrm>
          <a:prstGeom prst="rect">
            <a:avLst/>
          </a:prstGeom>
          <a:noFill/>
        </p:spPr>
        <p:txBody>
          <a:bodyPr wrap="square" lIns="0" rIns="0" tIns="0" bIns="0" anchor="t">
            <a:noAutofit/>
          </a:bodyPr>
          <a:lstStyle/>
          <a:p>
            <a:pPr algn="ctr">
              <a:lnSpc>
                <a:spcPts val="1344"/>
              </a:lnSpc>
              <a:spcBef>
                <a:spcPts val="0"/>
              </a:spcBef>
              <a:spcAft>
                <a:spcPts val="0"/>
              </a:spcAft>
            </a:pPr>
            <a:r>
              <a:rPr sz="1000" b="0" i="0" lang="es-CO">
                <a:solidFill>
                  <a:srgbClr val="8A7860"/>
                </a:solidFill>
                <a:latin typeface="Outfit"/>
              </a:rPr>
              <a:t>No separes la olla del nombre fuera de las variantes</a:t>
            </a:r>
            <a:br/>
            <a:r>
              <a:rPr sz="1000" b="0" i="0" lang="es-CO">
                <a:solidFill>
                  <a:srgbClr val="8A7860"/>
                </a:solidFill>
                <a:latin typeface="Outfit"/>
              </a:rPr>
              <a:t>oficiales.</a:t>
            </a:r>
          </a:p>
        </p:txBody>
      </p:sp>
      <p:cxnSp>
        <p:nvCxnSpPr>
          <p:cNvPr id="37" name="Connector 36"/>
          <p:cNvCxnSpPr/>
          <p:nvPr/>
        </p:nvCxnSpPr>
        <p:spPr>
          <a:xfrm>
            <a:off x="487680" y="6327648"/>
            <a:ext cx="11216640" cy="0"/>
          </a:xfrm>
          <a:prstGeom prst="line">
            <a:avLst/>
          </a:prstGeom>
          <a:ln w="24384" cap="flat">
            <a:solidFill>
              <a:srgbClr val="D8C39C"/>
            </a:solidFill>
          </a:ln>
        </p:spPr>
      </p:cxnSp>
      <p:sp>
        <p:nvSpPr>
          <p:cNvPr id="38" name="TextBox 37"/>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39" name="TextBox 38"/>
          <p:cNvSpPr txBox="1"/>
          <p:nvPr/>
        </p:nvSpPr>
        <p:spPr>
          <a:xfrm>
            <a:off x="11248834" y="6486144"/>
            <a:ext cx="553022"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07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13288" y="371959"/>
            <a:ext cx="268637" cy="30997"/>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785247" y="309966"/>
            <a:ext cx="261211" cy="154983"/>
          </a:xfrm>
          <a:prstGeom prst="rect">
            <a:avLst/>
          </a:prstGeom>
          <a:noFill/>
        </p:spPr>
        <p:txBody>
          <a:bodyPr wrap="none" lIns="0" rIns="0" tIns="0" bIns="0" anchor="t">
            <a:noAutofit/>
          </a:bodyPr>
          <a:lstStyle/>
          <a:p>
            <a:pPr algn="l">
              <a:lnSpc>
                <a:spcPts val="1220"/>
              </a:lnSpc>
              <a:spcBef>
                <a:spcPts val="0"/>
              </a:spcBef>
              <a:spcAft>
                <a:spcPts val="0"/>
              </a:spcAft>
            </a:pPr>
            <a:r>
              <a:rPr sz="975" b="1" i="0" lang="es-CO" cap="all" spc="98">
                <a:solidFill>
                  <a:srgbClr val="D97224"/>
                </a:solidFill>
                <a:latin typeface="Outfit"/>
              </a:rPr>
              <a:t>08</a:t>
            </a:r>
          </a:p>
        </p:txBody>
      </p:sp>
      <p:sp>
        <p:nvSpPr>
          <p:cNvPr id="5" name="TextBox 4"/>
          <p:cNvSpPr txBox="1"/>
          <p:nvPr/>
        </p:nvSpPr>
        <p:spPr>
          <a:xfrm>
            <a:off x="1067123" y="309966"/>
            <a:ext cx="1591514" cy="154983"/>
          </a:xfrm>
          <a:prstGeom prst="rect">
            <a:avLst/>
          </a:prstGeom>
          <a:noFill/>
        </p:spPr>
        <p:txBody>
          <a:bodyPr wrap="none" lIns="0" rIns="0" tIns="0" bIns="0" anchor="t">
            <a:noAutofit/>
          </a:bodyPr>
          <a:lstStyle/>
          <a:p>
            <a:pPr algn="l">
              <a:lnSpc>
                <a:spcPts val="1220"/>
              </a:lnSpc>
              <a:spcBef>
                <a:spcPts val="0"/>
              </a:spcBef>
              <a:spcAft>
                <a:spcPts val="0"/>
              </a:spcAft>
            </a:pPr>
            <a:r>
              <a:rPr sz="975" b="1" i="0" lang="es-CO" cap="all" spc="98">
                <a:solidFill>
                  <a:srgbClr val="5B4A38"/>
                </a:solidFill>
                <a:latin typeface="Outfit"/>
              </a:rPr>
              <a:t>/ Identidad Visual</a:t>
            </a:r>
          </a:p>
        </p:txBody>
      </p:sp>
      <p:sp>
        <p:nvSpPr>
          <p:cNvPr id="6" name="TextBox 5"/>
          <p:cNvSpPr txBox="1"/>
          <p:nvPr/>
        </p:nvSpPr>
        <p:spPr>
          <a:xfrm>
            <a:off x="413288" y="609187"/>
            <a:ext cx="3725018"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Sistema de</a:t>
            </a:r>
          </a:p>
        </p:txBody>
      </p:sp>
      <p:sp>
        <p:nvSpPr>
          <p:cNvPr id="7" name="TextBox 6"/>
          <p:cNvSpPr txBox="1"/>
          <p:nvPr/>
        </p:nvSpPr>
        <p:spPr>
          <a:xfrm>
            <a:off x="413288" y="1291919"/>
            <a:ext cx="1963910"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color.</a:t>
            </a:r>
          </a:p>
        </p:txBody>
      </p:sp>
      <p:sp>
        <p:nvSpPr>
          <p:cNvPr id="8" name="TextBox 7"/>
          <p:cNvSpPr txBox="1"/>
          <p:nvPr/>
        </p:nvSpPr>
        <p:spPr>
          <a:xfrm>
            <a:off x="413288" y="2158978"/>
            <a:ext cx="6790324" cy="818311"/>
          </a:xfrm>
          <a:prstGeom prst="rect">
            <a:avLst/>
          </a:prstGeom>
          <a:noFill/>
        </p:spPr>
        <p:txBody>
          <a:bodyPr wrap="square" lIns="0" rIns="0" tIns="0" bIns="0" anchor="t">
            <a:noAutofit/>
          </a:bodyPr>
          <a:lstStyle/>
          <a:p>
            <a:pPr algn="l">
              <a:lnSpc>
                <a:spcPts val="2147"/>
              </a:lnSpc>
              <a:spcBef>
                <a:spcPts val="0"/>
              </a:spcBef>
              <a:spcAft>
                <a:spcPts val="0"/>
              </a:spcAft>
            </a:pPr>
            <a:r>
              <a:rPr sz="1300" b="0" i="0" lang="es-CO">
                <a:solidFill>
                  <a:srgbClr val="5B4A38"/>
                </a:solidFill>
                <a:latin typeface="Outfit"/>
              </a:rPr>
              <a:t>Paleta de identidad y acentos de marca. Más abajo se documentan también los tonos</a:t>
            </a:r>
            <a:br/>
            <a:r>
              <a:rPr sz="1300" b="0" i="0" lang="es-CO">
                <a:solidFill>
                  <a:srgbClr val="5B4A38"/>
                </a:solidFill>
                <a:latin typeface="Outfit"/>
              </a:rPr>
              <a:t>de interfaz observables en las vistas actuales: fondos, superficies, texto, bordes y</a:t>
            </a:r>
            <a:br/>
            <a:r>
              <a:rPr sz="1300" b="0" i="0" lang="es-CO">
                <a:solidFill>
                  <a:srgbClr val="5B4A38"/>
                </a:solidFill>
                <a:latin typeface="Outfit"/>
              </a:rPr>
              <a:t>estados.</a:t>
            </a:r>
          </a:p>
        </p:txBody>
      </p:sp>
      <p:sp>
        <p:nvSpPr>
          <p:cNvPr id="9" name="Rectangle 8"/>
          <p:cNvSpPr/>
          <p:nvPr/>
        </p:nvSpPr>
        <p:spPr>
          <a:xfrm>
            <a:off x="454617" y="4818197"/>
            <a:ext cx="2619214" cy="30997"/>
          </a:xfrm>
          <a:prstGeom prst="rect">
            <a:avLst/>
          </a:prstGeom>
          <a:solidFill>
            <a:srgbClr val="5C3A1E"/>
          </a:solidFill>
          <a:ln>
            <a:noFill/>
          </a:ln>
        </p:spPr>
        <p:txBody>
          <a:bodyPr rtlCol="0" anchor="ctr"/>
          <a:lstStyle/>
          <a:p>
            <a:pPr algn="ctr"/>
          </a:p>
        </p:txBody>
      </p:sp>
      <p:sp>
        <p:nvSpPr>
          <p:cNvPr id="10" name="Rounded Rectangle 9"/>
          <p:cNvSpPr/>
          <p:nvPr/>
        </p:nvSpPr>
        <p:spPr>
          <a:xfrm>
            <a:off x="423620" y="3216706"/>
            <a:ext cx="2681207" cy="1591159"/>
          </a:xfrm>
          <a:prstGeom prst="roundRect">
            <a:avLst>
              <a:gd name="adj" fmla="val 4545"/>
            </a:avLst>
          </a:prstGeom>
          <a:noFill/>
          <a:ln w="20664" cap="flat">
            <a:solidFill>
              <a:srgbClr val="8B5E34"/>
            </a:solidFill>
          </a:ln>
        </p:spPr>
        <p:txBody>
          <a:bodyPr rtlCol="0" anchor="ctr"/>
          <a:lstStyle/>
          <a:p>
            <a:pPr algn="ctr"/>
          </a:p>
        </p:txBody>
      </p:sp>
      <p:sp>
        <p:nvSpPr>
          <p:cNvPr id="11" name="Round Same Side Corner Rectangle 10"/>
          <p:cNvSpPr/>
          <p:nvPr/>
        </p:nvSpPr>
        <p:spPr>
          <a:xfrm>
            <a:off x="433953" y="3227038"/>
            <a:ext cx="2660542" cy="909234"/>
          </a:xfrm>
          <a:prstGeom prst="round2SameRect">
            <a:avLst>
              <a:gd name="adj1" fmla="val 6818"/>
              <a:gd name="adj2" fmla="val 0"/>
            </a:avLst>
          </a:prstGeom>
          <a:solidFill>
            <a:srgbClr val="F0822D"/>
          </a:solidFill>
          <a:ln>
            <a:noFill/>
          </a:ln>
        </p:spPr>
        <p:txBody>
          <a:bodyPr rtlCol="0" anchor="ctr"/>
          <a:lstStyle/>
          <a:p>
            <a:pPr algn="ctr"/>
          </a:p>
        </p:txBody>
      </p:sp>
      <p:sp>
        <p:nvSpPr>
          <p:cNvPr id="12" name="Rectangle 11"/>
          <p:cNvSpPr/>
          <p:nvPr/>
        </p:nvSpPr>
        <p:spPr>
          <a:xfrm>
            <a:off x="433953" y="4136272"/>
            <a:ext cx="2660542" cy="661261"/>
          </a:xfrm>
          <a:prstGeom prst="rect">
            <a:avLst/>
          </a:prstGeom>
          <a:solidFill>
            <a:srgbClr val="EFE0C2"/>
          </a:solidFill>
          <a:ln>
            <a:noFill/>
          </a:ln>
        </p:spPr>
        <p:txBody>
          <a:bodyPr rtlCol="0" anchor="ctr"/>
          <a:lstStyle/>
          <a:p>
            <a:pPr algn="ctr"/>
          </a:p>
        </p:txBody>
      </p:sp>
      <p:sp>
        <p:nvSpPr>
          <p:cNvPr id="13" name="TextBox 12"/>
          <p:cNvSpPr txBox="1"/>
          <p:nvPr/>
        </p:nvSpPr>
        <p:spPr>
          <a:xfrm>
            <a:off x="578603" y="4280922"/>
            <a:ext cx="987194"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Naranja Olla</a:t>
            </a:r>
          </a:p>
        </p:txBody>
      </p:sp>
      <p:sp>
        <p:nvSpPr>
          <p:cNvPr id="14" name="TextBox 13"/>
          <p:cNvSpPr txBox="1"/>
          <p:nvPr/>
        </p:nvSpPr>
        <p:spPr>
          <a:xfrm>
            <a:off x="578603" y="4508231"/>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#F0822D</a:t>
            </a:r>
          </a:p>
        </p:txBody>
      </p:sp>
      <p:sp>
        <p:nvSpPr>
          <p:cNvPr id="15" name="Rectangle 14"/>
          <p:cNvSpPr/>
          <p:nvPr/>
        </p:nvSpPr>
        <p:spPr>
          <a:xfrm>
            <a:off x="3342468" y="4818197"/>
            <a:ext cx="2619214" cy="30997"/>
          </a:xfrm>
          <a:prstGeom prst="rect">
            <a:avLst/>
          </a:prstGeom>
          <a:solidFill>
            <a:srgbClr val="5C3A1E"/>
          </a:solidFill>
          <a:ln>
            <a:noFill/>
          </a:ln>
        </p:spPr>
        <p:txBody>
          <a:bodyPr rtlCol="0" anchor="ctr"/>
          <a:lstStyle/>
          <a:p>
            <a:pPr algn="ctr"/>
          </a:p>
        </p:txBody>
      </p:sp>
      <p:sp>
        <p:nvSpPr>
          <p:cNvPr id="16" name="Rounded Rectangle 15"/>
          <p:cNvSpPr/>
          <p:nvPr/>
        </p:nvSpPr>
        <p:spPr>
          <a:xfrm>
            <a:off x="3311471" y="3216706"/>
            <a:ext cx="2681207" cy="1591159"/>
          </a:xfrm>
          <a:prstGeom prst="roundRect">
            <a:avLst>
              <a:gd name="adj" fmla="val 4545"/>
            </a:avLst>
          </a:prstGeom>
          <a:noFill/>
          <a:ln w="20664" cap="flat">
            <a:solidFill>
              <a:srgbClr val="8B5E34"/>
            </a:solidFill>
          </a:ln>
        </p:spPr>
        <p:txBody>
          <a:bodyPr rtlCol="0" anchor="ctr"/>
          <a:lstStyle/>
          <a:p>
            <a:pPr algn="ctr"/>
          </a:p>
        </p:txBody>
      </p:sp>
      <p:sp>
        <p:nvSpPr>
          <p:cNvPr id="17" name="Round Same Side Corner Rectangle 16"/>
          <p:cNvSpPr/>
          <p:nvPr/>
        </p:nvSpPr>
        <p:spPr>
          <a:xfrm>
            <a:off x="3321803" y="3227038"/>
            <a:ext cx="2660542" cy="909234"/>
          </a:xfrm>
          <a:prstGeom prst="round2SameRect">
            <a:avLst>
              <a:gd name="adj1" fmla="val 6818"/>
              <a:gd name="adj2" fmla="val 0"/>
            </a:avLst>
          </a:prstGeom>
          <a:solidFill>
            <a:srgbClr val="62B869"/>
          </a:solidFill>
          <a:ln>
            <a:noFill/>
          </a:ln>
        </p:spPr>
        <p:txBody>
          <a:bodyPr rtlCol="0" anchor="ctr"/>
          <a:lstStyle/>
          <a:p>
            <a:pPr algn="ctr"/>
          </a:p>
        </p:txBody>
      </p:sp>
      <p:sp>
        <p:nvSpPr>
          <p:cNvPr id="18" name="Rectangle 17"/>
          <p:cNvSpPr/>
          <p:nvPr/>
        </p:nvSpPr>
        <p:spPr>
          <a:xfrm>
            <a:off x="3321803" y="4136272"/>
            <a:ext cx="2660542" cy="661261"/>
          </a:xfrm>
          <a:prstGeom prst="rect">
            <a:avLst/>
          </a:prstGeom>
          <a:solidFill>
            <a:srgbClr val="EFE0C2"/>
          </a:solidFill>
          <a:ln>
            <a:noFill/>
          </a:ln>
        </p:spPr>
        <p:txBody>
          <a:bodyPr rtlCol="0" anchor="ctr"/>
          <a:lstStyle/>
          <a:p>
            <a:pPr algn="ctr"/>
          </a:p>
        </p:txBody>
      </p:sp>
      <p:sp>
        <p:nvSpPr>
          <p:cNvPr id="19" name="TextBox 18"/>
          <p:cNvSpPr txBox="1"/>
          <p:nvPr/>
        </p:nvSpPr>
        <p:spPr>
          <a:xfrm>
            <a:off x="3466454" y="4280922"/>
            <a:ext cx="1140627"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Verde Cercana</a:t>
            </a:r>
          </a:p>
        </p:txBody>
      </p:sp>
      <p:sp>
        <p:nvSpPr>
          <p:cNvPr id="20" name="TextBox 19"/>
          <p:cNvSpPr txBox="1"/>
          <p:nvPr/>
        </p:nvSpPr>
        <p:spPr>
          <a:xfrm>
            <a:off x="3466454" y="4508231"/>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#62B869</a:t>
            </a:r>
          </a:p>
        </p:txBody>
      </p:sp>
      <p:sp>
        <p:nvSpPr>
          <p:cNvPr id="21" name="Rectangle 20"/>
          <p:cNvSpPr/>
          <p:nvPr/>
        </p:nvSpPr>
        <p:spPr>
          <a:xfrm>
            <a:off x="6230319" y="4818197"/>
            <a:ext cx="2619214" cy="30997"/>
          </a:xfrm>
          <a:prstGeom prst="rect">
            <a:avLst/>
          </a:prstGeom>
          <a:solidFill>
            <a:srgbClr val="5C3A1E"/>
          </a:solidFill>
          <a:ln>
            <a:noFill/>
          </a:ln>
        </p:spPr>
        <p:txBody>
          <a:bodyPr rtlCol="0" anchor="ctr"/>
          <a:lstStyle/>
          <a:p>
            <a:pPr algn="ctr"/>
          </a:p>
        </p:txBody>
      </p:sp>
      <p:sp>
        <p:nvSpPr>
          <p:cNvPr id="22" name="Rounded Rectangle 21"/>
          <p:cNvSpPr/>
          <p:nvPr/>
        </p:nvSpPr>
        <p:spPr>
          <a:xfrm>
            <a:off x="6199322" y="3216706"/>
            <a:ext cx="2681207" cy="1591159"/>
          </a:xfrm>
          <a:prstGeom prst="roundRect">
            <a:avLst>
              <a:gd name="adj" fmla="val 4545"/>
            </a:avLst>
          </a:prstGeom>
          <a:noFill/>
          <a:ln w="20664" cap="flat">
            <a:solidFill>
              <a:srgbClr val="8B5E34"/>
            </a:solidFill>
          </a:ln>
        </p:spPr>
        <p:txBody>
          <a:bodyPr rtlCol="0" anchor="ctr"/>
          <a:lstStyle/>
          <a:p>
            <a:pPr algn="ctr"/>
          </a:p>
        </p:txBody>
      </p:sp>
      <p:sp>
        <p:nvSpPr>
          <p:cNvPr id="23" name="Round Same Side Corner Rectangle 22"/>
          <p:cNvSpPr/>
          <p:nvPr/>
        </p:nvSpPr>
        <p:spPr>
          <a:xfrm>
            <a:off x="6209654" y="3227038"/>
            <a:ext cx="2660542" cy="909234"/>
          </a:xfrm>
          <a:prstGeom prst="round2SameRect">
            <a:avLst>
              <a:gd name="adj1" fmla="val 6818"/>
              <a:gd name="adj2" fmla="val 0"/>
            </a:avLst>
          </a:prstGeom>
          <a:solidFill>
            <a:srgbClr val="F4C430"/>
          </a:solidFill>
          <a:ln>
            <a:noFill/>
          </a:ln>
        </p:spPr>
        <p:txBody>
          <a:bodyPr rtlCol="0" anchor="ctr"/>
          <a:lstStyle/>
          <a:p>
            <a:pPr algn="ctr"/>
          </a:p>
        </p:txBody>
      </p:sp>
      <p:sp>
        <p:nvSpPr>
          <p:cNvPr id="24" name="Rectangle 23"/>
          <p:cNvSpPr/>
          <p:nvPr/>
        </p:nvSpPr>
        <p:spPr>
          <a:xfrm>
            <a:off x="6209654" y="4136272"/>
            <a:ext cx="2660542" cy="661261"/>
          </a:xfrm>
          <a:prstGeom prst="rect">
            <a:avLst/>
          </a:prstGeom>
          <a:solidFill>
            <a:srgbClr val="EFE0C2"/>
          </a:solidFill>
          <a:ln>
            <a:noFill/>
          </a:ln>
        </p:spPr>
        <p:txBody>
          <a:bodyPr rtlCol="0" anchor="ctr"/>
          <a:lstStyle/>
          <a:p>
            <a:pPr algn="ctr"/>
          </a:p>
        </p:txBody>
      </p:sp>
      <p:sp>
        <p:nvSpPr>
          <p:cNvPr id="25" name="TextBox 24"/>
          <p:cNvSpPr txBox="1"/>
          <p:nvPr/>
        </p:nvSpPr>
        <p:spPr>
          <a:xfrm>
            <a:off x="6354305" y="4280922"/>
            <a:ext cx="1244691"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Amarillo Cálido</a:t>
            </a:r>
          </a:p>
        </p:txBody>
      </p:sp>
      <p:sp>
        <p:nvSpPr>
          <p:cNvPr id="26" name="TextBox 25"/>
          <p:cNvSpPr txBox="1"/>
          <p:nvPr/>
        </p:nvSpPr>
        <p:spPr>
          <a:xfrm>
            <a:off x="6354305" y="4508231"/>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#F4C430</a:t>
            </a:r>
          </a:p>
        </p:txBody>
      </p:sp>
      <p:sp>
        <p:nvSpPr>
          <p:cNvPr id="27" name="Rectangle 26"/>
          <p:cNvSpPr/>
          <p:nvPr/>
        </p:nvSpPr>
        <p:spPr>
          <a:xfrm>
            <a:off x="9118169" y="4818197"/>
            <a:ext cx="2619214" cy="30997"/>
          </a:xfrm>
          <a:prstGeom prst="rect">
            <a:avLst/>
          </a:prstGeom>
          <a:solidFill>
            <a:srgbClr val="5C3A1E"/>
          </a:solidFill>
          <a:ln>
            <a:noFill/>
          </a:ln>
        </p:spPr>
        <p:txBody>
          <a:bodyPr rtlCol="0" anchor="ctr"/>
          <a:lstStyle/>
          <a:p>
            <a:pPr algn="ctr"/>
          </a:p>
        </p:txBody>
      </p:sp>
      <p:sp>
        <p:nvSpPr>
          <p:cNvPr id="28" name="Rounded Rectangle 27"/>
          <p:cNvSpPr/>
          <p:nvPr/>
        </p:nvSpPr>
        <p:spPr>
          <a:xfrm>
            <a:off x="9087173" y="3216706"/>
            <a:ext cx="2681207" cy="1591159"/>
          </a:xfrm>
          <a:prstGeom prst="roundRect">
            <a:avLst>
              <a:gd name="adj" fmla="val 4545"/>
            </a:avLst>
          </a:prstGeom>
          <a:noFill/>
          <a:ln w="20664" cap="flat">
            <a:solidFill>
              <a:srgbClr val="8B5E34"/>
            </a:solidFill>
          </a:ln>
        </p:spPr>
        <p:txBody>
          <a:bodyPr rtlCol="0" anchor="ctr"/>
          <a:lstStyle/>
          <a:p>
            <a:pPr algn="ctr"/>
          </a:p>
        </p:txBody>
      </p:sp>
      <p:sp>
        <p:nvSpPr>
          <p:cNvPr id="29" name="Round Same Side Corner Rectangle 28"/>
          <p:cNvSpPr/>
          <p:nvPr/>
        </p:nvSpPr>
        <p:spPr>
          <a:xfrm>
            <a:off x="9097505" y="3227038"/>
            <a:ext cx="2660542" cy="909234"/>
          </a:xfrm>
          <a:prstGeom prst="round2SameRect">
            <a:avLst>
              <a:gd name="adj1" fmla="val 6818"/>
              <a:gd name="adj2" fmla="val 0"/>
            </a:avLst>
          </a:prstGeom>
          <a:solidFill>
            <a:srgbClr val="901C21"/>
          </a:solidFill>
          <a:ln>
            <a:noFill/>
          </a:ln>
        </p:spPr>
        <p:txBody>
          <a:bodyPr rtlCol="0" anchor="ctr"/>
          <a:lstStyle/>
          <a:p>
            <a:pPr algn="ctr"/>
          </a:p>
        </p:txBody>
      </p:sp>
      <p:sp>
        <p:nvSpPr>
          <p:cNvPr id="30" name="Rectangle 29"/>
          <p:cNvSpPr/>
          <p:nvPr/>
        </p:nvSpPr>
        <p:spPr>
          <a:xfrm>
            <a:off x="9097505" y="4136272"/>
            <a:ext cx="2660542" cy="661261"/>
          </a:xfrm>
          <a:prstGeom prst="rect">
            <a:avLst/>
          </a:prstGeom>
          <a:solidFill>
            <a:srgbClr val="EFE0C2"/>
          </a:solidFill>
          <a:ln>
            <a:noFill/>
          </a:ln>
        </p:spPr>
        <p:txBody>
          <a:bodyPr rtlCol="0" anchor="ctr"/>
          <a:lstStyle/>
          <a:p>
            <a:pPr algn="ctr"/>
          </a:p>
        </p:txBody>
      </p:sp>
      <p:sp>
        <p:nvSpPr>
          <p:cNvPr id="31" name="TextBox 30"/>
          <p:cNvSpPr txBox="1"/>
          <p:nvPr/>
        </p:nvSpPr>
        <p:spPr>
          <a:xfrm>
            <a:off x="9242156" y="4280922"/>
            <a:ext cx="941022"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Vino Abuela</a:t>
            </a:r>
          </a:p>
        </p:txBody>
      </p:sp>
      <p:sp>
        <p:nvSpPr>
          <p:cNvPr id="32" name="TextBox 31"/>
          <p:cNvSpPr txBox="1"/>
          <p:nvPr/>
        </p:nvSpPr>
        <p:spPr>
          <a:xfrm>
            <a:off x="9242156" y="4508231"/>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#901C21</a:t>
            </a:r>
          </a:p>
        </p:txBody>
      </p:sp>
      <p:sp>
        <p:nvSpPr>
          <p:cNvPr id="33" name="Rectangle 32"/>
          <p:cNvSpPr/>
          <p:nvPr/>
        </p:nvSpPr>
        <p:spPr>
          <a:xfrm>
            <a:off x="454617" y="6616000"/>
            <a:ext cx="3581723" cy="30997"/>
          </a:xfrm>
          <a:prstGeom prst="rect">
            <a:avLst/>
          </a:prstGeom>
          <a:solidFill>
            <a:srgbClr val="5C3A1E"/>
          </a:solidFill>
          <a:ln>
            <a:noFill/>
          </a:ln>
        </p:spPr>
        <p:txBody>
          <a:bodyPr rtlCol="0" anchor="ctr"/>
          <a:lstStyle/>
          <a:p>
            <a:pPr algn="ctr"/>
          </a:p>
        </p:txBody>
      </p:sp>
      <p:sp>
        <p:nvSpPr>
          <p:cNvPr id="34" name="Rounded Rectangle 33"/>
          <p:cNvSpPr/>
          <p:nvPr/>
        </p:nvSpPr>
        <p:spPr>
          <a:xfrm>
            <a:off x="423620" y="5014509"/>
            <a:ext cx="3643716" cy="1591159"/>
          </a:xfrm>
          <a:prstGeom prst="roundRect">
            <a:avLst>
              <a:gd name="adj" fmla="val 4545"/>
            </a:avLst>
          </a:prstGeom>
          <a:noFill/>
          <a:ln w="20664" cap="flat">
            <a:solidFill>
              <a:srgbClr val="8B5E34"/>
            </a:solidFill>
          </a:ln>
        </p:spPr>
        <p:txBody>
          <a:bodyPr rtlCol="0" anchor="ctr"/>
          <a:lstStyle/>
          <a:p>
            <a:pPr algn="ctr"/>
          </a:p>
        </p:txBody>
      </p:sp>
      <p:sp>
        <p:nvSpPr>
          <p:cNvPr id="35" name="Round Same Side Corner Rectangle 34"/>
          <p:cNvSpPr/>
          <p:nvPr/>
        </p:nvSpPr>
        <p:spPr>
          <a:xfrm>
            <a:off x="433953" y="5024841"/>
            <a:ext cx="3623052" cy="909234"/>
          </a:xfrm>
          <a:prstGeom prst="round2SameRect">
            <a:avLst>
              <a:gd name="adj1" fmla="val 6818"/>
              <a:gd name="adj2" fmla="val 0"/>
            </a:avLst>
          </a:prstGeom>
          <a:solidFill>
            <a:srgbClr val="8B5E34"/>
          </a:solidFill>
          <a:ln>
            <a:noFill/>
          </a:ln>
        </p:spPr>
        <p:txBody>
          <a:bodyPr rtlCol="0" anchor="ctr"/>
          <a:lstStyle/>
          <a:p>
            <a:pPr algn="ctr"/>
          </a:p>
        </p:txBody>
      </p:sp>
      <p:sp>
        <p:nvSpPr>
          <p:cNvPr id="36" name="Rectangle 35"/>
          <p:cNvSpPr/>
          <p:nvPr/>
        </p:nvSpPr>
        <p:spPr>
          <a:xfrm>
            <a:off x="433953" y="5934075"/>
            <a:ext cx="3623052" cy="661261"/>
          </a:xfrm>
          <a:prstGeom prst="rect">
            <a:avLst/>
          </a:prstGeom>
          <a:solidFill>
            <a:srgbClr val="EFE0C2"/>
          </a:solidFill>
          <a:ln>
            <a:noFill/>
          </a:ln>
        </p:spPr>
        <p:txBody>
          <a:bodyPr rtlCol="0" anchor="ctr"/>
          <a:lstStyle/>
          <a:p>
            <a:pPr algn="ctr"/>
          </a:p>
        </p:txBody>
      </p:sp>
      <p:sp>
        <p:nvSpPr>
          <p:cNvPr id="37" name="TextBox 36"/>
          <p:cNvSpPr txBox="1"/>
          <p:nvPr/>
        </p:nvSpPr>
        <p:spPr>
          <a:xfrm>
            <a:off x="578603" y="6078726"/>
            <a:ext cx="1144534"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Madera Cálida</a:t>
            </a:r>
          </a:p>
        </p:txBody>
      </p:sp>
      <p:sp>
        <p:nvSpPr>
          <p:cNvPr id="38" name="TextBox 37"/>
          <p:cNvSpPr txBox="1"/>
          <p:nvPr/>
        </p:nvSpPr>
        <p:spPr>
          <a:xfrm>
            <a:off x="578603" y="6306034"/>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#8B5E34</a:t>
            </a:r>
          </a:p>
        </p:txBody>
      </p:sp>
      <p:sp>
        <p:nvSpPr>
          <p:cNvPr id="39" name="Rectangle 38"/>
          <p:cNvSpPr/>
          <p:nvPr/>
        </p:nvSpPr>
        <p:spPr>
          <a:xfrm>
            <a:off x="4304977" y="6616000"/>
            <a:ext cx="3581884" cy="30997"/>
          </a:xfrm>
          <a:prstGeom prst="rect">
            <a:avLst/>
          </a:prstGeom>
          <a:solidFill>
            <a:srgbClr val="5C3A1E"/>
          </a:solidFill>
          <a:ln>
            <a:noFill/>
          </a:ln>
        </p:spPr>
        <p:txBody>
          <a:bodyPr rtlCol="0" anchor="ctr"/>
          <a:lstStyle/>
          <a:p>
            <a:pPr algn="ctr"/>
          </a:p>
        </p:txBody>
      </p:sp>
      <p:sp>
        <p:nvSpPr>
          <p:cNvPr id="40" name="Rounded Rectangle 39"/>
          <p:cNvSpPr/>
          <p:nvPr/>
        </p:nvSpPr>
        <p:spPr>
          <a:xfrm>
            <a:off x="4273981" y="5014509"/>
            <a:ext cx="3643878" cy="1591159"/>
          </a:xfrm>
          <a:prstGeom prst="roundRect">
            <a:avLst>
              <a:gd name="adj" fmla="val 4545"/>
            </a:avLst>
          </a:prstGeom>
          <a:noFill/>
          <a:ln w="20664" cap="flat">
            <a:solidFill>
              <a:srgbClr val="8B5E34"/>
            </a:solidFill>
          </a:ln>
        </p:spPr>
        <p:txBody>
          <a:bodyPr rtlCol="0" anchor="ctr"/>
          <a:lstStyle/>
          <a:p>
            <a:pPr algn="ctr"/>
          </a:p>
        </p:txBody>
      </p:sp>
      <p:sp>
        <p:nvSpPr>
          <p:cNvPr id="41" name="Round Same Side Corner Rectangle 40"/>
          <p:cNvSpPr/>
          <p:nvPr/>
        </p:nvSpPr>
        <p:spPr>
          <a:xfrm>
            <a:off x="4284313" y="5024841"/>
            <a:ext cx="3623213" cy="909234"/>
          </a:xfrm>
          <a:prstGeom prst="round2SameRect">
            <a:avLst>
              <a:gd name="adj1" fmla="val 6818"/>
              <a:gd name="adj2" fmla="val 0"/>
            </a:avLst>
          </a:prstGeom>
          <a:solidFill>
            <a:srgbClr val="C84B31"/>
          </a:solidFill>
          <a:ln>
            <a:noFill/>
          </a:ln>
        </p:spPr>
        <p:txBody>
          <a:bodyPr rtlCol="0" anchor="ctr"/>
          <a:lstStyle/>
          <a:p>
            <a:pPr algn="ctr"/>
          </a:p>
        </p:txBody>
      </p:sp>
      <p:sp>
        <p:nvSpPr>
          <p:cNvPr id="42" name="Rectangle 41"/>
          <p:cNvSpPr/>
          <p:nvPr/>
        </p:nvSpPr>
        <p:spPr>
          <a:xfrm>
            <a:off x="4284313" y="5934075"/>
            <a:ext cx="3623213" cy="661261"/>
          </a:xfrm>
          <a:prstGeom prst="rect">
            <a:avLst/>
          </a:prstGeom>
          <a:solidFill>
            <a:srgbClr val="EFE0C2"/>
          </a:solidFill>
          <a:ln>
            <a:noFill/>
          </a:ln>
        </p:spPr>
        <p:txBody>
          <a:bodyPr rtlCol="0" anchor="ctr"/>
          <a:lstStyle/>
          <a:p>
            <a:pPr algn="ctr"/>
          </a:p>
        </p:txBody>
      </p:sp>
      <p:sp>
        <p:nvSpPr>
          <p:cNvPr id="43" name="TextBox 42"/>
          <p:cNvSpPr txBox="1"/>
          <p:nvPr/>
        </p:nvSpPr>
        <p:spPr>
          <a:xfrm>
            <a:off x="4428964" y="6078726"/>
            <a:ext cx="1356570"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Terracota Buscar</a:t>
            </a:r>
          </a:p>
        </p:txBody>
      </p:sp>
      <p:sp>
        <p:nvSpPr>
          <p:cNvPr id="44" name="TextBox 43"/>
          <p:cNvSpPr txBox="1"/>
          <p:nvPr/>
        </p:nvSpPr>
        <p:spPr>
          <a:xfrm>
            <a:off x="4428964" y="6306034"/>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#C84B31</a:t>
            </a:r>
          </a:p>
        </p:txBody>
      </p:sp>
      <p:sp>
        <p:nvSpPr>
          <p:cNvPr id="45" name="Rectangle 44"/>
          <p:cNvSpPr/>
          <p:nvPr/>
        </p:nvSpPr>
        <p:spPr>
          <a:xfrm>
            <a:off x="8155499" y="6616000"/>
            <a:ext cx="3581723" cy="30997"/>
          </a:xfrm>
          <a:prstGeom prst="rect">
            <a:avLst/>
          </a:prstGeom>
          <a:solidFill>
            <a:srgbClr val="5C3A1E"/>
          </a:solidFill>
          <a:ln>
            <a:noFill/>
          </a:ln>
        </p:spPr>
        <p:txBody>
          <a:bodyPr rtlCol="0" anchor="ctr"/>
          <a:lstStyle/>
          <a:p>
            <a:pPr algn="ctr"/>
          </a:p>
        </p:txBody>
      </p:sp>
      <p:sp>
        <p:nvSpPr>
          <p:cNvPr id="46" name="Rounded Rectangle 45"/>
          <p:cNvSpPr/>
          <p:nvPr/>
        </p:nvSpPr>
        <p:spPr>
          <a:xfrm>
            <a:off x="8124502" y="5014509"/>
            <a:ext cx="3643716" cy="1591159"/>
          </a:xfrm>
          <a:prstGeom prst="roundRect">
            <a:avLst>
              <a:gd name="adj" fmla="val 4545"/>
            </a:avLst>
          </a:prstGeom>
          <a:noFill/>
          <a:ln w="20664" cap="flat">
            <a:solidFill>
              <a:srgbClr val="8B5E34"/>
            </a:solidFill>
          </a:ln>
        </p:spPr>
        <p:txBody>
          <a:bodyPr rtlCol="0" anchor="ctr"/>
          <a:lstStyle/>
          <a:p>
            <a:pPr algn="ctr"/>
          </a:p>
        </p:txBody>
      </p:sp>
      <p:sp>
        <p:nvSpPr>
          <p:cNvPr id="47" name="Round Same Side Corner Rectangle 46"/>
          <p:cNvSpPr/>
          <p:nvPr/>
        </p:nvSpPr>
        <p:spPr>
          <a:xfrm>
            <a:off x="8134834" y="5024841"/>
            <a:ext cx="3623052" cy="909234"/>
          </a:xfrm>
          <a:prstGeom prst="round2SameRect">
            <a:avLst>
              <a:gd name="adj1" fmla="val 6818"/>
              <a:gd name="adj2" fmla="val 0"/>
            </a:avLst>
          </a:prstGeom>
          <a:solidFill>
            <a:srgbClr val="A855F7"/>
          </a:solidFill>
          <a:ln>
            <a:noFill/>
          </a:ln>
        </p:spPr>
        <p:txBody>
          <a:bodyPr rtlCol="0" anchor="ctr"/>
          <a:lstStyle/>
          <a:p>
            <a:pPr algn="ctr"/>
          </a:p>
        </p:txBody>
      </p:sp>
      <p:sp>
        <p:nvSpPr>
          <p:cNvPr id="48" name="Rectangle 47"/>
          <p:cNvSpPr/>
          <p:nvPr/>
        </p:nvSpPr>
        <p:spPr>
          <a:xfrm>
            <a:off x="8134834" y="5934075"/>
            <a:ext cx="3623052" cy="661261"/>
          </a:xfrm>
          <a:prstGeom prst="rect">
            <a:avLst/>
          </a:prstGeom>
          <a:solidFill>
            <a:srgbClr val="EFE0C2"/>
          </a:solidFill>
          <a:ln>
            <a:noFill/>
          </a:ln>
        </p:spPr>
        <p:txBody>
          <a:bodyPr rtlCol="0" anchor="ctr"/>
          <a:lstStyle/>
          <a:p>
            <a:pPr algn="ctr"/>
          </a:p>
        </p:txBody>
      </p:sp>
      <p:sp>
        <p:nvSpPr>
          <p:cNvPr id="49" name="TextBox 48"/>
          <p:cNvSpPr txBox="1"/>
          <p:nvPr/>
        </p:nvSpPr>
        <p:spPr>
          <a:xfrm>
            <a:off x="8279485" y="6078726"/>
            <a:ext cx="1226400" cy="206644"/>
          </a:xfrm>
          <a:prstGeom prst="rect">
            <a:avLst/>
          </a:prstGeom>
          <a:noFill/>
        </p:spPr>
        <p:txBody>
          <a:bodyPr wrap="none" lIns="0" rIns="0" tIns="0" bIns="0" anchor="t">
            <a:noAutofit/>
          </a:bodyPr>
          <a:lstStyle/>
          <a:p>
            <a:pPr algn="l">
              <a:lnSpc>
                <a:spcPts val="1627"/>
              </a:lnSpc>
              <a:spcBef>
                <a:spcPts val="0"/>
              </a:spcBef>
              <a:spcAft>
                <a:spcPts val="0"/>
              </a:spcAft>
            </a:pPr>
            <a:r>
              <a:rPr sz="1225" b="1" i="0" lang="es-CO">
                <a:solidFill>
                  <a:srgbClr val="5C3A1E"/>
                </a:solidFill>
                <a:latin typeface="Playfair Display"/>
              </a:rPr>
              <a:t>Púrpura Admin</a:t>
            </a:r>
          </a:p>
        </p:txBody>
      </p:sp>
      <p:sp>
        <p:nvSpPr>
          <p:cNvPr id="50" name="TextBox 49"/>
          <p:cNvSpPr txBox="1"/>
          <p:nvPr/>
        </p:nvSpPr>
        <p:spPr>
          <a:xfrm>
            <a:off x="8279485" y="6306034"/>
            <a:ext cx="605241" cy="144651"/>
          </a:xfrm>
          <a:prstGeom prst="rect">
            <a:avLst/>
          </a:prstGeom>
          <a:noFill/>
        </p:spPr>
        <p:txBody>
          <a:bodyPr wrap="none" lIns="0" rIns="0" tIns="0" bIns="0" anchor="t">
            <a:noAutofit/>
          </a:bodyPr>
          <a:lstStyle/>
          <a:p>
            <a:pPr algn="l">
              <a:lnSpc>
                <a:spcPts val="1138"/>
              </a:lnSpc>
              <a:spcBef>
                <a:spcPts val="0"/>
              </a:spcBef>
              <a:spcAft>
                <a:spcPts val="0"/>
              </a:spcAft>
            </a:pPr>
            <a:r>
              <a:rPr sz="975" b="0" i="0" lang="es-CO">
                <a:solidFill>
                  <a:srgbClr val="5B4A38"/>
                </a:solidFill>
                <a:latin typeface="Consolas"/>
              </a:rPr>
              <a:t>#A855F7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06400" y="365760"/>
            <a:ext cx="264160" cy="30480"/>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772160" y="304800"/>
            <a:ext cx="256858" cy="152400"/>
          </a:xfrm>
          <a:prstGeom prst="rect">
            <a:avLst/>
          </a:prstGeom>
          <a:noFill/>
        </p:spPr>
        <p:txBody>
          <a:bodyPr wrap="none" lIns="0" rIns="0" tIns="0" bIns="0" anchor="t">
            <a:noAutofit/>
          </a:bodyPr>
          <a:lstStyle/>
          <a:p>
            <a:pPr algn="l">
              <a:lnSpc>
                <a:spcPts val="1200"/>
              </a:lnSpc>
              <a:spcBef>
                <a:spcPts val="0"/>
              </a:spcBef>
              <a:spcAft>
                <a:spcPts val="0"/>
              </a:spcAft>
            </a:pPr>
            <a:r>
              <a:rPr sz="950" b="1" i="0" lang="es-CO" cap="all" spc="96">
                <a:solidFill>
                  <a:srgbClr val="D97224"/>
                </a:solidFill>
                <a:latin typeface="Outfit"/>
              </a:rPr>
              <a:t>08</a:t>
            </a:r>
          </a:p>
        </p:txBody>
      </p:sp>
      <p:sp>
        <p:nvSpPr>
          <p:cNvPr id="5" name="TextBox 4"/>
          <p:cNvSpPr txBox="1"/>
          <p:nvPr/>
        </p:nvSpPr>
        <p:spPr>
          <a:xfrm>
            <a:off x="1049338" y="304800"/>
            <a:ext cx="1564989" cy="152400"/>
          </a:xfrm>
          <a:prstGeom prst="rect">
            <a:avLst/>
          </a:prstGeom>
          <a:noFill/>
        </p:spPr>
        <p:txBody>
          <a:bodyPr wrap="none" lIns="0" rIns="0" tIns="0" bIns="0" anchor="t">
            <a:noAutofit/>
          </a:bodyPr>
          <a:lstStyle/>
          <a:p>
            <a:pPr algn="l">
              <a:lnSpc>
                <a:spcPts val="1200"/>
              </a:lnSpc>
              <a:spcBef>
                <a:spcPts val="0"/>
              </a:spcBef>
              <a:spcAft>
                <a:spcPts val="0"/>
              </a:spcAft>
            </a:pPr>
            <a:r>
              <a:rPr sz="950" b="1" i="0" lang="es-CO" cap="all" spc="96">
                <a:solidFill>
                  <a:srgbClr val="5B4A38"/>
                </a:solidFill>
                <a:latin typeface="Outfit"/>
              </a:rPr>
              <a:t>/ Identidad Visual</a:t>
            </a:r>
          </a:p>
        </p:txBody>
      </p:sp>
      <p:sp>
        <p:nvSpPr>
          <p:cNvPr id="6" name="Rounded Rectangle 5"/>
          <p:cNvSpPr/>
          <p:nvPr/>
        </p:nvSpPr>
        <p:spPr>
          <a:xfrm>
            <a:off x="447040" y="944880"/>
            <a:ext cx="11297920" cy="5750560"/>
          </a:xfrm>
          <a:prstGeom prst="roundRect">
            <a:avLst>
              <a:gd name="adj" fmla="val 1060"/>
            </a:avLst>
          </a:prstGeom>
          <a:solidFill>
            <a:srgbClr val="5C3A1E"/>
          </a:solidFill>
          <a:ln>
            <a:noFill/>
          </a:ln>
        </p:spPr>
        <p:txBody>
          <a:bodyPr rtlCol="0" anchor="ctr"/>
          <a:lstStyle/>
          <a:p>
            <a:pPr algn="ctr"/>
          </a:p>
        </p:txBody>
      </p:sp>
      <p:pic>
        <p:nvPicPr>
          <p:cNvPr id="7" name="Picture 6" descr="s12_r1.png"/>
          <p:cNvPicPr>
            <a:picLocks noChangeAspect="1"/>
          </p:cNvPicPr>
          <p:nvPr/>
        </p:nvPicPr>
        <p:blipFill>
          <a:blip r:embed="rId3"/>
          <a:stretch>
            <a:fillRect/>
          </a:stretch>
        </p:blipFill>
        <p:spPr>
          <a:xfrm>
            <a:off x="406400" y="802640"/>
            <a:ext cx="11379200" cy="5831840"/>
          </a:xfrm>
          <a:prstGeom prst="rect">
            <a:avLst/>
          </a:prstGeom>
          <a:effectLst>
            <a:outerShdw blurRad="243840" dist="142240" dir="5400000" algn="ctr" rotWithShape="0">
              <a:srgbClr val="000000">
                <a:alpha val="25000"/>
              </a:srgbClr>
            </a:outerShdw>
          </a:effectLst>
        </p:spPr>
      </p:pic>
      <p:cxnSp>
        <p:nvCxnSpPr>
          <p:cNvPr id="8" name="Connector 7"/>
          <p:cNvCxnSpPr/>
          <p:nvPr/>
        </p:nvCxnSpPr>
        <p:spPr>
          <a:xfrm>
            <a:off x="772160" y="1666240"/>
            <a:ext cx="10647680" cy="0"/>
          </a:xfrm>
          <a:prstGeom prst="line">
            <a:avLst/>
          </a:prstGeom>
          <a:ln w="20320" cap="flat">
            <a:solidFill>
              <a:srgbClr val="3C4C40"/>
            </a:solidFill>
            <a:prstDash val="dash"/>
          </a:ln>
        </p:spPr>
      </p:cxnSp>
      <p:sp>
        <p:nvSpPr>
          <p:cNvPr id="9" name="TextBox 8"/>
          <p:cNvSpPr txBox="1"/>
          <p:nvPr/>
        </p:nvSpPr>
        <p:spPr>
          <a:xfrm>
            <a:off x="772160" y="1168400"/>
            <a:ext cx="1803876" cy="386080"/>
          </a:xfrm>
          <a:prstGeom prst="rect">
            <a:avLst/>
          </a:prstGeom>
          <a:noFill/>
        </p:spPr>
        <p:txBody>
          <a:bodyPr wrap="none" lIns="0" rIns="0" tIns="0" bIns="0" anchor="t">
            <a:noAutofit/>
          </a:bodyPr>
          <a:lstStyle/>
          <a:p>
            <a:pPr algn="l">
              <a:lnSpc>
                <a:spcPts val="3040"/>
              </a:lnSpc>
              <a:spcBef>
                <a:spcPts val="0"/>
              </a:spcBef>
              <a:spcAft>
                <a:spcPts val="0"/>
              </a:spcAft>
            </a:pPr>
            <a:r>
              <a:rPr sz="2400" b="1" i="0" lang="es-CO">
                <a:solidFill>
                  <a:srgbClr val="F5F1E4"/>
                </a:solidFill>
                <a:latin typeface="Caveat"/>
              </a:rPr>
              <a:t>Pizarra de color</a:t>
            </a:r>
          </a:p>
        </p:txBody>
      </p:sp>
      <p:cxnSp>
        <p:nvCxnSpPr>
          <p:cNvPr id="10" name="Connector 9"/>
          <p:cNvCxnSpPr/>
          <p:nvPr/>
        </p:nvCxnSpPr>
        <p:spPr>
          <a:xfrm>
            <a:off x="772160" y="2311400"/>
            <a:ext cx="10647680" cy="0"/>
          </a:xfrm>
          <a:prstGeom prst="line">
            <a:avLst/>
          </a:prstGeom>
          <a:ln w="10160" cap="flat">
            <a:solidFill>
              <a:srgbClr val="3C4C40"/>
            </a:solidFill>
            <a:prstDash val="dash"/>
          </a:ln>
        </p:spPr>
      </p:cxnSp>
      <p:sp>
        <p:nvSpPr>
          <p:cNvPr id="11" name="TextBox 10"/>
          <p:cNvSpPr txBox="1"/>
          <p:nvPr/>
        </p:nvSpPr>
        <p:spPr>
          <a:xfrm>
            <a:off x="772160" y="1920240"/>
            <a:ext cx="1080405"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Naranja Olla</a:t>
            </a:r>
          </a:p>
        </p:txBody>
      </p:sp>
      <p:sp>
        <p:nvSpPr>
          <p:cNvPr id="12" name="TextBox 11"/>
          <p:cNvSpPr txBox="1"/>
          <p:nvPr/>
        </p:nvSpPr>
        <p:spPr>
          <a:xfrm>
            <a:off x="10359866" y="2052320"/>
            <a:ext cx="1165971"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#F0822D · acción</a:t>
            </a:r>
          </a:p>
        </p:txBody>
      </p:sp>
      <p:cxnSp>
        <p:nvCxnSpPr>
          <p:cNvPr id="13" name="Connector 12"/>
          <p:cNvCxnSpPr/>
          <p:nvPr/>
        </p:nvCxnSpPr>
        <p:spPr>
          <a:xfrm>
            <a:off x="772160" y="2809240"/>
            <a:ext cx="10647680" cy="0"/>
          </a:xfrm>
          <a:prstGeom prst="line">
            <a:avLst/>
          </a:prstGeom>
          <a:ln w="10160" cap="flat">
            <a:solidFill>
              <a:srgbClr val="3C4C40"/>
            </a:solidFill>
            <a:prstDash val="dash"/>
          </a:ln>
        </p:spPr>
      </p:cxnSp>
      <p:sp>
        <p:nvSpPr>
          <p:cNvPr id="14" name="TextBox 13"/>
          <p:cNvSpPr txBox="1"/>
          <p:nvPr/>
        </p:nvSpPr>
        <p:spPr>
          <a:xfrm>
            <a:off x="772160" y="2418080"/>
            <a:ext cx="1208580"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Verde Cercana</a:t>
            </a:r>
          </a:p>
        </p:txBody>
      </p:sp>
      <p:sp>
        <p:nvSpPr>
          <p:cNvPr id="15" name="TextBox 14"/>
          <p:cNvSpPr txBox="1"/>
          <p:nvPr/>
        </p:nvSpPr>
        <p:spPr>
          <a:xfrm>
            <a:off x="10426065" y="2550160"/>
            <a:ext cx="1093152"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#62B869 · éxito</a:t>
            </a:r>
          </a:p>
        </p:txBody>
      </p:sp>
      <p:cxnSp>
        <p:nvCxnSpPr>
          <p:cNvPr id="16" name="Connector 15"/>
          <p:cNvCxnSpPr/>
          <p:nvPr/>
        </p:nvCxnSpPr>
        <p:spPr>
          <a:xfrm>
            <a:off x="772160" y="3307080"/>
            <a:ext cx="10647680" cy="0"/>
          </a:xfrm>
          <a:prstGeom prst="line">
            <a:avLst/>
          </a:prstGeom>
          <a:ln w="10160" cap="flat">
            <a:solidFill>
              <a:srgbClr val="3C4C40"/>
            </a:solidFill>
            <a:prstDash val="dash"/>
          </a:ln>
        </p:spPr>
      </p:cxnSp>
      <p:sp>
        <p:nvSpPr>
          <p:cNvPr id="17" name="TextBox 16"/>
          <p:cNvSpPr txBox="1"/>
          <p:nvPr/>
        </p:nvSpPr>
        <p:spPr>
          <a:xfrm>
            <a:off x="772160" y="2915920"/>
            <a:ext cx="1226915"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Amarillo Cálido</a:t>
            </a:r>
          </a:p>
        </p:txBody>
      </p:sp>
      <p:sp>
        <p:nvSpPr>
          <p:cNvPr id="18" name="TextBox 17"/>
          <p:cNvSpPr txBox="1"/>
          <p:nvPr/>
        </p:nvSpPr>
        <p:spPr>
          <a:xfrm>
            <a:off x="10161111" y="3048000"/>
            <a:ext cx="1384602"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#F4C430 · confianza</a:t>
            </a:r>
          </a:p>
        </p:txBody>
      </p:sp>
      <p:cxnSp>
        <p:nvCxnSpPr>
          <p:cNvPr id="19" name="Connector 18"/>
          <p:cNvCxnSpPr/>
          <p:nvPr/>
        </p:nvCxnSpPr>
        <p:spPr>
          <a:xfrm>
            <a:off x="772160" y="3804920"/>
            <a:ext cx="10647680" cy="0"/>
          </a:xfrm>
          <a:prstGeom prst="line">
            <a:avLst/>
          </a:prstGeom>
          <a:ln w="10160" cap="flat">
            <a:solidFill>
              <a:srgbClr val="3C4C40"/>
            </a:solidFill>
            <a:prstDash val="dash"/>
          </a:ln>
        </p:spPr>
      </p:cxnSp>
      <p:sp>
        <p:nvSpPr>
          <p:cNvPr id="20" name="TextBox 19"/>
          <p:cNvSpPr txBox="1"/>
          <p:nvPr/>
        </p:nvSpPr>
        <p:spPr>
          <a:xfrm>
            <a:off x="772160" y="3413760"/>
            <a:ext cx="964978"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Vino Abuela</a:t>
            </a:r>
          </a:p>
        </p:txBody>
      </p:sp>
      <p:sp>
        <p:nvSpPr>
          <p:cNvPr id="21" name="TextBox 20"/>
          <p:cNvSpPr txBox="1"/>
          <p:nvPr/>
        </p:nvSpPr>
        <p:spPr>
          <a:xfrm>
            <a:off x="10161111" y="3545840"/>
            <a:ext cx="1384602"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#901C21 · personaje</a:t>
            </a:r>
          </a:p>
        </p:txBody>
      </p:sp>
      <p:cxnSp>
        <p:nvCxnSpPr>
          <p:cNvPr id="22" name="Connector 21"/>
          <p:cNvCxnSpPr/>
          <p:nvPr/>
        </p:nvCxnSpPr>
        <p:spPr>
          <a:xfrm>
            <a:off x="772160" y="4302760"/>
            <a:ext cx="10647680" cy="0"/>
          </a:xfrm>
          <a:prstGeom prst="line">
            <a:avLst/>
          </a:prstGeom>
          <a:ln w="10160" cap="flat">
            <a:solidFill>
              <a:srgbClr val="3C4C40"/>
            </a:solidFill>
            <a:prstDash val="dash"/>
          </a:ln>
        </p:spPr>
      </p:cxnSp>
      <p:sp>
        <p:nvSpPr>
          <p:cNvPr id="23" name="TextBox 22"/>
          <p:cNvSpPr txBox="1"/>
          <p:nvPr/>
        </p:nvSpPr>
        <p:spPr>
          <a:xfrm>
            <a:off x="772160" y="3911600"/>
            <a:ext cx="1216088"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Madera Cálida</a:t>
            </a:r>
          </a:p>
        </p:txBody>
      </p:sp>
      <p:sp>
        <p:nvSpPr>
          <p:cNvPr id="24" name="TextBox 23"/>
          <p:cNvSpPr txBox="1"/>
          <p:nvPr/>
        </p:nvSpPr>
        <p:spPr>
          <a:xfrm>
            <a:off x="10227310" y="4043680"/>
            <a:ext cx="1311783"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#8B5E34 · tarjetas</a:t>
            </a:r>
          </a:p>
        </p:txBody>
      </p:sp>
      <p:cxnSp>
        <p:nvCxnSpPr>
          <p:cNvPr id="25" name="Connector 24"/>
          <p:cNvCxnSpPr/>
          <p:nvPr/>
        </p:nvCxnSpPr>
        <p:spPr>
          <a:xfrm>
            <a:off x="772160" y="4800600"/>
            <a:ext cx="10647680" cy="0"/>
          </a:xfrm>
          <a:prstGeom prst="line">
            <a:avLst/>
          </a:prstGeom>
          <a:ln w="10160" cap="flat">
            <a:solidFill>
              <a:srgbClr val="3C4C40"/>
            </a:solidFill>
            <a:prstDash val="dash"/>
          </a:ln>
        </p:spPr>
      </p:cxnSp>
      <p:sp>
        <p:nvSpPr>
          <p:cNvPr id="26" name="TextBox 25"/>
          <p:cNvSpPr txBox="1"/>
          <p:nvPr/>
        </p:nvSpPr>
        <p:spPr>
          <a:xfrm>
            <a:off x="772160" y="4409440"/>
            <a:ext cx="1456722"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Terracota Buscar</a:t>
            </a:r>
          </a:p>
        </p:txBody>
      </p:sp>
      <p:sp>
        <p:nvSpPr>
          <p:cNvPr id="27" name="TextBox 26"/>
          <p:cNvSpPr txBox="1"/>
          <p:nvPr/>
        </p:nvSpPr>
        <p:spPr>
          <a:xfrm>
            <a:off x="10492264" y="4541520"/>
            <a:ext cx="1020334"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#C84B31 · foco</a:t>
            </a:r>
          </a:p>
        </p:txBody>
      </p:sp>
      <p:cxnSp>
        <p:nvCxnSpPr>
          <p:cNvPr id="28" name="Connector 27"/>
          <p:cNvCxnSpPr/>
          <p:nvPr/>
        </p:nvCxnSpPr>
        <p:spPr>
          <a:xfrm>
            <a:off x="772160" y="5298440"/>
            <a:ext cx="10647680" cy="0"/>
          </a:xfrm>
          <a:prstGeom prst="line">
            <a:avLst/>
          </a:prstGeom>
          <a:ln w="10160" cap="flat">
            <a:solidFill>
              <a:srgbClr val="3C4C40"/>
            </a:solidFill>
            <a:prstDash val="dash"/>
          </a:ln>
        </p:spPr>
      </p:cxnSp>
      <p:sp>
        <p:nvSpPr>
          <p:cNvPr id="29" name="TextBox 28"/>
          <p:cNvSpPr txBox="1"/>
          <p:nvPr/>
        </p:nvSpPr>
        <p:spPr>
          <a:xfrm>
            <a:off x="772160" y="4907280"/>
            <a:ext cx="1251363"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Púrpura Admin</a:t>
            </a:r>
          </a:p>
        </p:txBody>
      </p:sp>
      <p:sp>
        <p:nvSpPr>
          <p:cNvPr id="30" name="TextBox 29"/>
          <p:cNvSpPr txBox="1"/>
          <p:nvPr/>
        </p:nvSpPr>
        <p:spPr>
          <a:xfrm>
            <a:off x="10161111" y="5039360"/>
            <a:ext cx="1384602"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#A855F7 · rol admin</a:t>
            </a:r>
          </a:p>
        </p:txBody>
      </p:sp>
      <p:cxnSp>
        <p:nvCxnSpPr>
          <p:cNvPr id="31" name="Connector 30"/>
          <p:cNvCxnSpPr/>
          <p:nvPr/>
        </p:nvCxnSpPr>
        <p:spPr>
          <a:xfrm>
            <a:off x="772160" y="5796280"/>
            <a:ext cx="10647680" cy="0"/>
          </a:xfrm>
          <a:prstGeom prst="line">
            <a:avLst/>
          </a:prstGeom>
          <a:ln w="10160" cap="flat">
            <a:solidFill>
              <a:srgbClr val="3C4C40"/>
            </a:solidFill>
            <a:prstDash val="dash"/>
          </a:ln>
        </p:spPr>
      </p:cxnSp>
      <p:sp>
        <p:nvSpPr>
          <p:cNvPr id="32" name="TextBox 31"/>
          <p:cNvSpPr txBox="1"/>
          <p:nvPr/>
        </p:nvSpPr>
        <p:spPr>
          <a:xfrm>
            <a:off x="772160" y="5405120"/>
            <a:ext cx="519906" cy="284480"/>
          </a:xfrm>
          <a:prstGeom prst="rect">
            <a:avLst/>
          </a:prstGeom>
          <a:noFill/>
        </p:spPr>
        <p:txBody>
          <a:bodyPr wrap="none" lIns="0" rIns="0" tIns="0" bIns="0" anchor="t">
            <a:noAutofit/>
          </a:bodyPr>
          <a:lstStyle/>
          <a:p>
            <a:pPr algn="l">
              <a:lnSpc>
                <a:spcPts val="2240"/>
              </a:lnSpc>
              <a:spcBef>
                <a:spcPts val="0"/>
              </a:spcBef>
              <a:spcAft>
                <a:spcPts val="0"/>
              </a:spcAft>
            </a:pPr>
            <a:r>
              <a:rPr sz="1750" b="0" i="0" lang="es-CO">
                <a:solidFill>
                  <a:srgbClr val="F5F1E4"/>
                </a:solidFill>
                <a:latin typeface="Caveat"/>
              </a:rPr>
              <a:t>Error</a:t>
            </a:r>
          </a:p>
        </p:txBody>
      </p:sp>
      <p:sp>
        <p:nvSpPr>
          <p:cNvPr id="33" name="TextBox 32"/>
          <p:cNvSpPr txBox="1"/>
          <p:nvPr/>
        </p:nvSpPr>
        <p:spPr>
          <a:xfrm>
            <a:off x="10955972" y="5537200"/>
            <a:ext cx="545148" cy="111760"/>
          </a:xfrm>
          <a:prstGeom prst="rect">
            <a:avLst/>
          </a:prstGeom>
          <a:noFill/>
        </p:spPr>
        <p:txBody>
          <a:bodyPr wrap="none" lIns="0" rIns="0" tIns="0" bIns="0" anchor="t">
            <a:noAutofit/>
          </a:bodyPr>
          <a:lstStyle/>
          <a:p>
            <a:pPr algn="l">
              <a:lnSpc>
                <a:spcPts val="880"/>
              </a:lnSpc>
              <a:spcBef>
                <a:spcPts val="0"/>
              </a:spcBef>
              <a:spcAft>
                <a:spcPts val="0"/>
              </a:spcAft>
            </a:pPr>
            <a:r>
              <a:rPr sz="800" b="0" i="0" lang="es-CO" spc="40">
                <a:solidFill>
                  <a:srgbClr val="F5F1E4"/>
                </a:solidFill>
                <a:latin typeface="Consolas"/>
              </a:rPr>
              <a:t>#E5484D</a:t>
            </a:r>
          </a:p>
        </p:txBody>
      </p:sp>
      <p:sp>
        <p:nvSpPr>
          <p:cNvPr id="34" name="Rounded Rectangle 33"/>
          <p:cNvSpPr/>
          <p:nvPr/>
        </p:nvSpPr>
        <p:spPr>
          <a:xfrm>
            <a:off x="772160" y="5943600"/>
            <a:ext cx="907256" cy="325120"/>
          </a:xfrm>
          <a:prstGeom prst="roundRect">
            <a:avLst>
              <a:gd name="adj" fmla="val 50000"/>
            </a:avLst>
          </a:prstGeom>
          <a:solidFill>
            <a:srgbClr val="F0822D"/>
          </a:solidFill>
          <a:ln>
            <a:noFill/>
          </a:ln>
        </p:spPr>
        <p:txBody>
          <a:bodyPr rtlCol="0" anchor="ctr"/>
          <a:lstStyle/>
          <a:p>
            <a:pPr algn="ctr"/>
          </a:p>
        </p:txBody>
      </p:sp>
      <p:sp>
        <p:nvSpPr>
          <p:cNvPr id="35" name="TextBox 34"/>
          <p:cNvSpPr txBox="1"/>
          <p:nvPr/>
        </p:nvSpPr>
        <p:spPr>
          <a:xfrm>
            <a:off x="934720" y="6035040"/>
            <a:ext cx="663416" cy="142240"/>
          </a:xfrm>
          <a:prstGeom prst="rect">
            <a:avLst/>
          </a:prstGeom>
          <a:noFill/>
        </p:spPr>
        <p:txBody>
          <a:bodyPr wrap="none" lIns="0" rIns="0" tIns="0" bIns="0" anchor="t">
            <a:noAutofit/>
          </a:bodyPr>
          <a:lstStyle/>
          <a:p>
            <a:pPr algn="l">
              <a:lnSpc>
                <a:spcPts val="1120"/>
              </a:lnSpc>
              <a:spcBef>
                <a:spcPts val="0"/>
              </a:spcBef>
              <a:spcAft>
                <a:spcPts val="0"/>
              </a:spcAft>
            </a:pPr>
            <a:r>
              <a:rPr sz="875" b="1" i="0" lang="es-CO" cap="all" spc="18">
                <a:solidFill>
                  <a:srgbClr val="FFFFFF"/>
                </a:solidFill>
                <a:latin typeface="Outfit"/>
              </a:rPr>
              <a:t>Reservar</a:t>
            </a:r>
          </a:p>
        </p:txBody>
      </p:sp>
      <p:sp>
        <p:nvSpPr>
          <p:cNvPr id="36" name="Rounded Rectangle 35"/>
          <p:cNvSpPr/>
          <p:nvPr/>
        </p:nvSpPr>
        <p:spPr>
          <a:xfrm>
            <a:off x="1781016" y="5943600"/>
            <a:ext cx="1006634" cy="325120"/>
          </a:xfrm>
          <a:prstGeom prst="roundRect">
            <a:avLst>
              <a:gd name="adj" fmla="val 50000"/>
            </a:avLst>
          </a:prstGeom>
          <a:solidFill>
            <a:srgbClr val="4A9C55"/>
          </a:solidFill>
          <a:ln>
            <a:noFill/>
          </a:ln>
        </p:spPr>
        <p:txBody>
          <a:bodyPr rtlCol="0" anchor="ctr"/>
          <a:lstStyle/>
          <a:p>
            <a:pPr algn="ctr"/>
          </a:p>
        </p:txBody>
      </p:sp>
      <p:sp>
        <p:nvSpPr>
          <p:cNvPr id="37" name="TextBox 36"/>
          <p:cNvSpPr txBox="1"/>
          <p:nvPr/>
        </p:nvSpPr>
        <p:spPr>
          <a:xfrm>
            <a:off x="1943576" y="6035040"/>
            <a:ext cx="762794" cy="142240"/>
          </a:xfrm>
          <a:prstGeom prst="rect">
            <a:avLst/>
          </a:prstGeom>
          <a:noFill/>
        </p:spPr>
        <p:txBody>
          <a:bodyPr wrap="none" lIns="0" rIns="0" tIns="0" bIns="0" anchor="t">
            <a:noAutofit/>
          </a:bodyPr>
          <a:lstStyle/>
          <a:p>
            <a:pPr algn="l">
              <a:lnSpc>
                <a:spcPts val="1120"/>
              </a:lnSpc>
              <a:spcBef>
                <a:spcPts val="0"/>
              </a:spcBef>
              <a:spcAft>
                <a:spcPts val="0"/>
              </a:spcAft>
            </a:pPr>
            <a:r>
              <a:rPr sz="875" b="1" i="0" lang="es-CO" cap="all" spc="18">
                <a:solidFill>
                  <a:srgbClr val="FFFFFF"/>
                </a:solidFill>
                <a:latin typeface="Outfit"/>
              </a:rPr>
              <a:t>Disponible</a:t>
            </a:r>
          </a:p>
        </p:txBody>
      </p:sp>
      <p:sp>
        <p:nvSpPr>
          <p:cNvPr id="38" name="Rounded Rectangle 37"/>
          <p:cNvSpPr/>
          <p:nvPr/>
        </p:nvSpPr>
        <p:spPr>
          <a:xfrm>
            <a:off x="2889250" y="5943600"/>
            <a:ext cx="632301" cy="325120"/>
          </a:xfrm>
          <a:prstGeom prst="roundRect">
            <a:avLst>
              <a:gd name="adj" fmla="val 50000"/>
            </a:avLst>
          </a:prstGeom>
          <a:solidFill>
            <a:srgbClr val="F4C430"/>
          </a:solidFill>
          <a:ln>
            <a:noFill/>
          </a:ln>
        </p:spPr>
        <p:txBody>
          <a:bodyPr rtlCol="0" anchor="ctr"/>
          <a:lstStyle/>
          <a:p>
            <a:pPr algn="ctr"/>
          </a:p>
        </p:txBody>
      </p:sp>
      <p:sp>
        <p:nvSpPr>
          <p:cNvPr id="39" name="TextBox 38"/>
          <p:cNvSpPr txBox="1"/>
          <p:nvPr/>
        </p:nvSpPr>
        <p:spPr>
          <a:xfrm>
            <a:off x="3051810" y="6035040"/>
            <a:ext cx="388461" cy="142240"/>
          </a:xfrm>
          <a:prstGeom prst="rect">
            <a:avLst/>
          </a:prstGeom>
          <a:noFill/>
        </p:spPr>
        <p:txBody>
          <a:bodyPr wrap="none" lIns="0" rIns="0" tIns="0" bIns="0" anchor="t">
            <a:noAutofit/>
          </a:bodyPr>
          <a:lstStyle/>
          <a:p>
            <a:pPr algn="l">
              <a:lnSpc>
                <a:spcPts val="1120"/>
              </a:lnSpc>
              <a:spcBef>
                <a:spcPts val="0"/>
              </a:spcBef>
              <a:spcAft>
                <a:spcPts val="0"/>
              </a:spcAft>
            </a:pPr>
            <a:r>
              <a:rPr sz="875" b="1" i="0" lang="es-CO" cap="all" spc="18">
                <a:solidFill>
                  <a:srgbClr val="4A3600"/>
                </a:solidFill>
                <a:latin typeface="Outfit"/>
              </a:rPr>
              <a:t>4.9 ★</a:t>
            </a:r>
          </a:p>
        </p:txBody>
      </p:sp>
      <p:sp>
        <p:nvSpPr>
          <p:cNvPr id="40" name="Rounded Rectangle 39"/>
          <p:cNvSpPr/>
          <p:nvPr/>
        </p:nvSpPr>
        <p:spPr>
          <a:xfrm>
            <a:off x="3628231" y="5948680"/>
            <a:ext cx="720408" cy="314960"/>
          </a:xfrm>
          <a:prstGeom prst="roundRect">
            <a:avLst>
              <a:gd name="adj" fmla="val 50000"/>
            </a:avLst>
          </a:prstGeom>
          <a:noFill/>
          <a:ln w="10160" cap="flat">
            <a:solidFill>
              <a:srgbClr val="E5484D"/>
            </a:solidFill>
          </a:ln>
        </p:spPr>
        <p:txBody>
          <a:bodyPr rtlCol="0" anchor="ctr"/>
          <a:lstStyle/>
          <a:p>
            <a:pPr algn="ctr"/>
          </a:p>
        </p:txBody>
      </p:sp>
      <p:sp>
        <p:nvSpPr>
          <p:cNvPr id="41" name="TextBox 40"/>
          <p:cNvSpPr txBox="1"/>
          <p:nvPr/>
        </p:nvSpPr>
        <p:spPr>
          <a:xfrm>
            <a:off x="3795871" y="6035040"/>
            <a:ext cx="466408" cy="142240"/>
          </a:xfrm>
          <a:prstGeom prst="rect">
            <a:avLst/>
          </a:prstGeom>
          <a:noFill/>
        </p:spPr>
        <p:txBody>
          <a:bodyPr wrap="none" lIns="0" rIns="0" tIns="0" bIns="0" anchor="t">
            <a:noAutofit/>
          </a:bodyPr>
          <a:lstStyle/>
          <a:p>
            <a:pPr algn="l">
              <a:lnSpc>
                <a:spcPts val="1120"/>
              </a:lnSpc>
              <a:spcBef>
                <a:spcPts val="0"/>
              </a:spcBef>
              <a:spcAft>
                <a:spcPts val="0"/>
              </a:spcAft>
            </a:pPr>
            <a:r>
              <a:rPr sz="875" b="1" i="0" lang="es-CO" cap="all" spc="18">
                <a:solidFill>
                  <a:srgbClr val="E5484D"/>
                </a:solidFill>
                <a:latin typeface="Outfit"/>
              </a:rPr>
              <a:t>Error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08229"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08</a:t>
            </a:r>
          </a:p>
        </p:txBody>
      </p:sp>
      <p:sp>
        <p:nvSpPr>
          <p:cNvPr id="5" name="TextBox 4"/>
          <p:cNvSpPr txBox="1"/>
          <p:nvPr/>
        </p:nvSpPr>
        <p:spPr>
          <a:xfrm>
            <a:off x="1259205" y="365760"/>
            <a:ext cx="1877987"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Identidad Visual</a:t>
            </a:r>
          </a:p>
        </p:txBody>
      </p:sp>
      <p:cxnSp>
        <p:nvCxnSpPr>
          <p:cNvPr id="6" name="Connector 5"/>
          <p:cNvCxnSpPr/>
          <p:nvPr/>
        </p:nvCxnSpPr>
        <p:spPr>
          <a:xfrm>
            <a:off x="487680" y="1341120"/>
            <a:ext cx="3377946" cy="0"/>
          </a:xfrm>
          <a:prstGeom prst="line">
            <a:avLst/>
          </a:prstGeom>
          <a:ln w="24384" cap="flat">
            <a:solidFill>
              <a:srgbClr val="8B5E34"/>
            </a:solidFill>
          </a:ln>
        </p:spPr>
      </p:cxnSp>
      <p:sp>
        <p:nvSpPr>
          <p:cNvPr id="7" name="TextBox 6"/>
          <p:cNvSpPr txBox="1"/>
          <p:nvPr/>
        </p:nvSpPr>
        <p:spPr>
          <a:xfrm>
            <a:off x="609600" y="1085088"/>
            <a:ext cx="554546"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Color</a:t>
            </a:r>
          </a:p>
        </p:txBody>
      </p:sp>
      <p:cxnSp>
        <p:nvCxnSpPr>
          <p:cNvPr id="8" name="Connector 7"/>
          <p:cNvCxnSpPr/>
          <p:nvPr/>
        </p:nvCxnSpPr>
        <p:spPr>
          <a:xfrm>
            <a:off x="3865626" y="1341120"/>
            <a:ext cx="1428940" cy="0"/>
          </a:xfrm>
          <a:prstGeom prst="line">
            <a:avLst/>
          </a:prstGeom>
          <a:ln w="24384" cap="flat">
            <a:solidFill>
              <a:srgbClr val="8B5E34"/>
            </a:solidFill>
          </a:ln>
        </p:spPr>
      </p:cxnSp>
      <p:sp>
        <p:nvSpPr>
          <p:cNvPr id="9" name="TextBox 8"/>
          <p:cNvSpPr txBox="1"/>
          <p:nvPr/>
        </p:nvSpPr>
        <p:spPr>
          <a:xfrm>
            <a:off x="3987546" y="1085088"/>
            <a:ext cx="370904"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RGB</a:t>
            </a:r>
          </a:p>
        </p:txBody>
      </p:sp>
      <p:cxnSp>
        <p:nvCxnSpPr>
          <p:cNvPr id="10" name="Connector 9"/>
          <p:cNvCxnSpPr/>
          <p:nvPr/>
        </p:nvCxnSpPr>
        <p:spPr>
          <a:xfrm>
            <a:off x="5294566" y="1341120"/>
            <a:ext cx="1936052" cy="0"/>
          </a:xfrm>
          <a:prstGeom prst="line">
            <a:avLst/>
          </a:prstGeom>
          <a:ln w="24384" cap="flat">
            <a:solidFill>
              <a:srgbClr val="8B5E34"/>
            </a:solidFill>
          </a:ln>
        </p:spPr>
      </p:cxnSp>
      <p:sp>
        <p:nvSpPr>
          <p:cNvPr id="11" name="TextBox 10"/>
          <p:cNvSpPr txBox="1"/>
          <p:nvPr/>
        </p:nvSpPr>
        <p:spPr>
          <a:xfrm>
            <a:off x="5416486" y="1085088"/>
            <a:ext cx="1107053"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CMYK (offset)</a:t>
            </a:r>
          </a:p>
        </p:txBody>
      </p:sp>
      <p:cxnSp>
        <p:nvCxnSpPr>
          <p:cNvPr id="12" name="Connector 11"/>
          <p:cNvCxnSpPr/>
          <p:nvPr/>
        </p:nvCxnSpPr>
        <p:spPr>
          <a:xfrm>
            <a:off x="7230618" y="1341120"/>
            <a:ext cx="2359914" cy="0"/>
          </a:xfrm>
          <a:prstGeom prst="line">
            <a:avLst/>
          </a:prstGeom>
          <a:ln w="24384" cap="flat">
            <a:solidFill>
              <a:srgbClr val="8B5E34"/>
            </a:solidFill>
          </a:ln>
        </p:spPr>
      </p:cxnSp>
      <p:sp>
        <p:nvSpPr>
          <p:cNvPr id="13" name="TextBox 12"/>
          <p:cNvSpPr txBox="1"/>
          <p:nvPr/>
        </p:nvSpPr>
        <p:spPr>
          <a:xfrm>
            <a:off x="7352538" y="1085088"/>
            <a:ext cx="1408176"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Pantone® Coated</a:t>
            </a:r>
          </a:p>
        </p:txBody>
      </p:sp>
      <p:cxnSp>
        <p:nvCxnSpPr>
          <p:cNvPr id="14" name="Connector 13"/>
          <p:cNvCxnSpPr/>
          <p:nvPr/>
        </p:nvCxnSpPr>
        <p:spPr>
          <a:xfrm>
            <a:off x="9590532" y="1341120"/>
            <a:ext cx="2113788" cy="0"/>
          </a:xfrm>
          <a:prstGeom prst="line">
            <a:avLst/>
          </a:prstGeom>
          <a:ln w="24384" cap="flat">
            <a:solidFill>
              <a:srgbClr val="8B5E34"/>
            </a:solidFill>
          </a:ln>
        </p:spPr>
      </p:cxnSp>
      <p:sp>
        <p:nvSpPr>
          <p:cNvPr id="15" name="TextBox 14"/>
          <p:cNvSpPr txBox="1"/>
          <p:nvPr/>
        </p:nvSpPr>
        <p:spPr>
          <a:xfrm>
            <a:off x="9712452" y="1085088"/>
            <a:ext cx="374332"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58">
                <a:solidFill>
                  <a:srgbClr val="8A7860"/>
                </a:solidFill>
                <a:latin typeface="Outfit"/>
              </a:rPr>
              <a:t>Uso</a:t>
            </a:r>
          </a:p>
        </p:txBody>
      </p:sp>
      <p:cxnSp>
        <p:nvCxnSpPr>
          <p:cNvPr id="16" name="Connector 15"/>
          <p:cNvCxnSpPr/>
          <p:nvPr/>
        </p:nvCxnSpPr>
        <p:spPr>
          <a:xfrm>
            <a:off x="487680" y="1767840"/>
            <a:ext cx="3377946" cy="0"/>
          </a:xfrm>
          <a:prstGeom prst="line">
            <a:avLst/>
          </a:prstGeom>
          <a:ln w="12192" cap="flat">
            <a:solidFill>
              <a:srgbClr val="D8C39C"/>
            </a:solidFill>
            <a:prstDash val="dash"/>
          </a:ln>
        </p:spPr>
      </p:cxnSp>
      <p:sp>
        <p:nvSpPr>
          <p:cNvPr id="17" name="Rounded Rectangle 16"/>
          <p:cNvSpPr/>
          <p:nvPr/>
        </p:nvSpPr>
        <p:spPr>
          <a:xfrm>
            <a:off x="615696" y="1481328"/>
            <a:ext cx="158496" cy="158496"/>
          </a:xfrm>
          <a:prstGeom prst="roundRect">
            <a:avLst>
              <a:gd name="adj" fmla="val 26923"/>
            </a:avLst>
          </a:prstGeom>
          <a:solidFill>
            <a:srgbClr val="F0822D"/>
          </a:solidFill>
          <a:ln w="12192" cap="flat">
            <a:solidFill>
              <a:srgbClr val="000000">
                <a:alpha val="15000"/>
              </a:srgbClr>
            </a:solidFill>
          </a:ln>
        </p:spPr>
        <p:txBody>
          <a:bodyPr rtlCol="0" anchor="ctr"/>
          <a:lstStyle/>
          <a:p>
            <a:pPr algn="ctr"/>
          </a:p>
        </p:txBody>
      </p:sp>
      <p:sp>
        <p:nvSpPr>
          <p:cNvPr id="18" name="TextBox 17"/>
          <p:cNvSpPr txBox="1"/>
          <p:nvPr/>
        </p:nvSpPr>
        <p:spPr>
          <a:xfrm>
            <a:off x="853440" y="1475232"/>
            <a:ext cx="1592790"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Naranja Olla</a:t>
            </a:r>
            <a:r>
              <a:rPr sz="1100" b="0" i="0" lang="es-CO">
                <a:solidFill>
                  <a:srgbClr val="5B4A38"/>
                </a:solidFill>
                <a:latin typeface="Outfit"/>
              </a:rPr>
              <a:t> #F0822D</a:t>
            </a:r>
          </a:p>
        </p:txBody>
      </p:sp>
      <p:cxnSp>
        <p:nvCxnSpPr>
          <p:cNvPr id="19" name="Connector 18"/>
          <p:cNvCxnSpPr/>
          <p:nvPr/>
        </p:nvCxnSpPr>
        <p:spPr>
          <a:xfrm>
            <a:off x="3865626" y="1767840"/>
            <a:ext cx="1428940" cy="0"/>
          </a:xfrm>
          <a:prstGeom prst="line">
            <a:avLst/>
          </a:prstGeom>
          <a:ln w="12192" cap="flat">
            <a:solidFill>
              <a:srgbClr val="D8C39C"/>
            </a:solidFill>
            <a:prstDash val="dash"/>
          </a:ln>
        </p:spPr>
      </p:cxnSp>
      <p:sp>
        <p:nvSpPr>
          <p:cNvPr id="20" name="TextBox 19"/>
          <p:cNvSpPr txBox="1"/>
          <p:nvPr/>
        </p:nvSpPr>
        <p:spPr>
          <a:xfrm>
            <a:off x="3987546" y="1475232"/>
            <a:ext cx="776478"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240,130,45</a:t>
            </a:r>
          </a:p>
        </p:txBody>
      </p:sp>
      <p:cxnSp>
        <p:nvCxnSpPr>
          <p:cNvPr id="21" name="Connector 20"/>
          <p:cNvCxnSpPr/>
          <p:nvPr/>
        </p:nvCxnSpPr>
        <p:spPr>
          <a:xfrm>
            <a:off x="5294566" y="1767840"/>
            <a:ext cx="1936052" cy="0"/>
          </a:xfrm>
          <a:prstGeom prst="line">
            <a:avLst/>
          </a:prstGeom>
          <a:ln w="12192" cap="flat">
            <a:solidFill>
              <a:srgbClr val="D8C39C"/>
            </a:solidFill>
            <a:prstDash val="dash"/>
          </a:ln>
        </p:spPr>
      </p:cxnSp>
      <p:sp>
        <p:nvSpPr>
          <p:cNvPr id="22" name="TextBox 21"/>
          <p:cNvSpPr txBox="1"/>
          <p:nvPr/>
        </p:nvSpPr>
        <p:spPr>
          <a:xfrm>
            <a:off x="5416486" y="1475232"/>
            <a:ext cx="702564"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0,58,90,0</a:t>
            </a:r>
          </a:p>
        </p:txBody>
      </p:sp>
      <p:cxnSp>
        <p:nvCxnSpPr>
          <p:cNvPr id="23" name="Connector 22"/>
          <p:cNvCxnSpPr/>
          <p:nvPr/>
        </p:nvCxnSpPr>
        <p:spPr>
          <a:xfrm>
            <a:off x="7230618" y="1767840"/>
            <a:ext cx="2359914" cy="0"/>
          </a:xfrm>
          <a:prstGeom prst="line">
            <a:avLst/>
          </a:prstGeom>
          <a:ln w="12192" cap="flat">
            <a:solidFill>
              <a:srgbClr val="D8C39C"/>
            </a:solidFill>
            <a:prstDash val="dash"/>
          </a:ln>
        </p:spPr>
      </p:cxnSp>
      <p:sp>
        <p:nvSpPr>
          <p:cNvPr id="24" name="TextBox 23"/>
          <p:cNvSpPr txBox="1"/>
          <p:nvPr/>
        </p:nvSpPr>
        <p:spPr>
          <a:xfrm>
            <a:off x="7352538" y="1475232"/>
            <a:ext cx="702754"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151 C</a:t>
            </a:r>
          </a:p>
        </p:txBody>
      </p:sp>
      <p:cxnSp>
        <p:nvCxnSpPr>
          <p:cNvPr id="25" name="Connector 24"/>
          <p:cNvCxnSpPr/>
          <p:nvPr/>
        </p:nvCxnSpPr>
        <p:spPr>
          <a:xfrm>
            <a:off x="9590532" y="1767840"/>
            <a:ext cx="2113788" cy="0"/>
          </a:xfrm>
          <a:prstGeom prst="line">
            <a:avLst/>
          </a:prstGeom>
          <a:ln w="12192" cap="flat">
            <a:solidFill>
              <a:srgbClr val="D8C39C"/>
            </a:solidFill>
            <a:prstDash val="dash"/>
          </a:ln>
        </p:spPr>
      </p:cxnSp>
      <p:sp>
        <p:nvSpPr>
          <p:cNvPr id="26" name="TextBox 25"/>
          <p:cNvSpPr txBox="1"/>
          <p:nvPr/>
        </p:nvSpPr>
        <p:spPr>
          <a:xfrm>
            <a:off x="9712452" y="1475232"/>
            <a:ext cx="1016889"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Primario / CTA</a:t>
            </a:r>
          </a:p>
        </p:txBody>
      </p:sp>
      <p:cxnSp>
        <p:nvCxnSpPr>
          <p:cNvPr id="27" name="Connector 26"/>
          <p:cNvCxnSpPr/>
          <p:nvPr/>
        </p:nvCxnSpPr>
        <p:spPr>
          <a:xfrm>
            <a:off x="487680" y="2182368"/>
            <a:ext cx="3377946" cy="0"/>
          </a:xfrm>
          <a:prstGeom prst="line">
            <a:avLst/>
          </a:prstGeom>
          <a:ln w="12192" cap="flat">
            <a:solidFill>
              <a:srgbClr val="D8C39C"/>
            </a:solidFill>
            <a:prstDash val="dash"/>
          </a:ln>
        </p:spPr>
      </p:cxnSp>
      <p:sp>
        <p:nvSpPr>
          <p:cNvPr id="28" name="Rounded Rectangle 27"/>
          <p:cNvSpPr/>
          <p:nvPr/>
        </p:nvSpPr>
        <p:spPr>
          <a:xfrm>
            <a:off x="615696" y="1895856"/>
            <a:ext cx="158496" cy="158496"/>
          </a:xfrm>
          <a:prstGeom prst="roundRect">
            <a:avLst>
              <a:gd name="adj" fmla="val 26923"/>
            </a:avLst>
          </a:prstGeom>
          <a:solidFill>
            <a:srgbClr val="62B869"/>
          </a:solidFill>
          <a:ln w="12192" cap="flat">
            <a:solidFill>
              <a:srgbClr val="000000">
                <a:alpha val="15000"/>
              </a:srgbClr>
            </a:solidFill>
          </a:ln>
        </p:spPr>
        <p:txBody>
          <a:bodyPr rtlCol="0" anchor="ctr"/>
          <a:lstStyle/>
          <a:p>
            <a:pPr algn="ctr"/>
          </a:p>
        </p:txBody>
      </p:sp>
      <p:sp>
        <p:nvSpPr>
          <p:cNvPr id="29" name="TextBox 28"/>
          <p:cNvSpPr txBox="1"/>
          <p:nvPr/>
        </p:nvSpPr>
        <p:spPr>
          <a:xfrm>
            <a:off x="853440" y="1889760"/>
            <a:ext cx="1701965"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Verde Cercana</a:t>
            </a:r>
            <a:r>
              <a:rPr sz="1100" b="0" i="0" lang="es-CO">
                <a:solidFill>
                  <a:srgbClr val="5B4A38"/>
                </a:solidFill>
                <a:latin typeface="Outfit"/>
              </a:rPr>
              <a:t> #62B869</a:t>
            </a:r>
          </a:p>
        </p:txBody>
      </p:sp>
      <p:cxnSp>
        <p:nvCxnSpPr>
          <p:cNvPr id="30" name="Connector 29"/>
          <p:cNvCxnSpPr/>
          <p:nvPr/>
        </p:nvCxnSpPr>
        <p:spPr>
          <a:xfrm>
            <a:off x="3865626" y="2182368"/>
            <a:ext cx="1428940" cy="0"/>
          </a:xfrm>
          <a:prstGeom prst="line">
            <a:avLst/>
          </a:prstGeom>
          <a:ln w="12192" cap="flat">
            <a:solidFill>
              <a:srgbClr val="D8C39C"/>
            </a:solidFill>
            <a:prstDash val="dash"/>
          </a:ln>
        </p:spPr>
      </p:cxnSp>
      <p:sp>
        <p:nvSpPr>
          <p:cNvPr id="31" name="TextBox 30"/>
          <p:cNvSpPr txBox="1"/>
          <p:nvPr/>
        </p:nvSpPr>
        <p:spPr>
          <a:xfrm>
            <a:off x="3987546" y="1889760"/>
            <a:ext cx="725805"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98,184,105</a:t>
            </a:r>
          </a:p>
        </p:txBody>
      </p:sp>
      <p:cxnSp>
        <p:nvCxnSpPr>
          <p:cNvPr id="32" name="Connector 31"/>
          <p:cNvCxnSpPr/>
          <p:nvPr/>
        </p:nvCxnSpPr>
        <p:spPr>
          <a:xfrm>
            <a:off x="5294566" y="2182368"/>
            <a:ext cx="1936052" cy="0"/>
          </a:xfrm>
          <a:prstGeom prst="line">
            <a:avLst/>
          </a:prstGeom>
          <a:ln w="12192" cap="flat">
            <a:solidFill>
              <a:srgbClr val="D8C39C"/>
            </a:solidFill>
            <a:prstDash val="dash"/>
          </a:ln>
        </p:spPr>
      </p:cxnSp>
      <p:sp>
        <p:nvSpPr>
          <p:cNvPr id="33" name="TextBox 32"/>
          <p:cNvSpPr txBox="1"/>
          <p:nvPr/>
        </p:nvSpPr>
        <p:spPr>
          <a:xfrm>
            <a:off x="5416486" y="1889760"/>
            <a:ext cx="682371"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64,0,76,0</a:t>
            </a:r>
          </a:p>
        </p:txBody>
      </p:sp>
      <p:cxnSp>
        <p:nvCxnSpPr>
          <p:cNvPr id="34" name="Connector 33"/>
          <p:cNvCxnSpPr/>
          <p:nvPr/>
        </p:nvCxnSpPr>
        <p:spPr>
          <a:xfrm>
            <a:off x="7230618" y="2182368"/>
            <a:ext cx="2359914" cy="0"/>
          </a:xfrm>
          <a:prstGeom prst="line">
            <a:avLst/>
          </a:prstGeom>
          <a:ln w="12192" cap="flat">
            <a:solidFill>
              <a:srgbClr val="D8C39C"/>
            </a:solidFill>
            <a:prstDash val="dash"/>
          </a:ln>
        </p:spPr>
      </p:cxnSp>
      <p:sp>
        <p:nvSpPr>
          <p:cNvPr id="35" name="TextBox 34"/>
          <p:cNvSpPr txBox="1"/>
          <p:nvPr/>
        </p:nvSpPr>
        <p:spPr>
          <a:xfrm>
            <a:off x="7352538" y="1889760"/>
            <a:ext cx="835914"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7488 C</a:t>
            </a:r>
          </a:p>
        </p:txBody>
      </p:sp>
      <p:cxnSp>
        <p:nvCxnSpPr>
          <p:cNvPr id="36" name="Connector 35"/>
          <p:cNvCxnSpPr/>
          <p:nvPr/>
        </p:nvCxnSpPr>
        <p:spPr>
          <a:xfrm>
            <a:off x="9590532" y="2182368"/>
            <a:ext cx="2113788" cy="0"/>
          </a:xfrm>
          <a:prstGeom prst="line">
            <a:avLst/>
          </a:prstGeom>
          <a:ln w="12192" cap="flat">
            <a:solidFill>
              <a:srgbClr val="D8C39C"/>
            </a:solidFill>
            <a:prstDash val="dash"/>
          </a:ln>
        </p:spPr>
      </p:cxnSp>
      <p:sp>
        <p:nvSpPr>
          <p:cNvPr id="37" name="TextBox 36"/>
          <p:cNvSpPr txBox="1"/>
          <p:nvPr/>
        </p:nvSpPr>
        <p:spPr>
          <a:xfrm>
            <a:off x="9712452" y="1889760"/>
            <a:ext cx="1162374"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Éxito / disponible</a:t>
            </a:r>
          </a:p>
        </p:txBody>
      </p:sp>
      <p:cxnSp>
        <p:nvCxnSpPr>
          <p:cNvPr id="38" name="Connector 37"/>
          <p:cNvCxnSpPr/>
          <p:nvPr/>
        </p:nvCxnSpPr>
        <p:spPr>
          <a:xfrm>
            <a:off x="487680" y="2596896"/>
            <a:ext cx="3377946" cy="0"/>
          </a:xfrm>
          <a:prstGeom prst="line">
            <a:avLst/>
          </a:prstGeom>
          <a:ln w="12192" cap="flat">
            <a:solidFill>
              <a:srgbClr val="D8C39C"/>
            </a:solidFill>
            <a:prstDash val="dash"/>
          </a:ln>
        </p:spPr>
      </p:cxnSp>
      <p:sp>
        <p:nvSpPr>
          <p:cNvPr id="39" name="Rounded Rectangle 38"/>
          <p:cNvSpPr/>
          <p:nvPr/>
        </p:nvSpPr>
        <p:spPr>
          <a:xfrm>
            <a:off x="615696" y="2310384"/>
            <a:ext cx="158496" cy="158496"/>
          </a:xfrm>
          <a:prstGeom prst="roundRect">
            <a:avLst>
              <a:gd name="adj" fmla="val 26923"/>
            </a:avLst>
          </a:prstGeom>
          <a:solidFill>
            <a:srgbClr val="F4C430"/>
          </a:solidFill>
          <a:ln w="12192" cap="flat">
            <a:solidFill>
              <a:srgbClr val="000000">
                <a:alpha val="15000"/>
              </a:srgbClr>
            </a:solidFill>
          </a:ln>
        </p:spPr>
        <p:txBody>
          <a:bodyPr rtlCol="0" anchor="ctr"/>
          <a:lstStyle/>
          <a:p>
            <a:pPr algn="ctr"/>
          </a:p>
        </p:txBody>
      </p:sp>
      <p:sp>
        <p:nvSpPr>
          <p:cNvPr id="40" name="TextBox 39"/>
          <p:cNvSpPr txBox="1"/>
          <p:nvPr/>
        </p:nvSpPr>
        <p:spPr>
          <a:xfrm>
            <a:off x="853440" y="2304288"/>
            <a:ext cx="1793958"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Amarillo Cálido</a:t>
            </a:r>
            <a:r>
              <a:rPr sz="1100" b="0" i="0" lang="es-CO">
                <a:solidFill>
                  <a:srgbClr val="5B4A38"/>
                </a:solidFill>
                <a:latin typeface="Outfit"/>
              </a:rPr>
              <a:t> #F4C430</a:t>
            </a:r>
          </a:p>
        </p:txBody>
      </p:sp>
      <p:cxnSp>
        <p:nvCxnSpPr>
          <p:cNvPr id="41" name="Connector 40"/>
          <p:cNvCxnSpPr/>
          <p:nvPr/>
        </p:nvCxnSpPr>
        <p:spPr>
          <a:xfrm>
            <a:off x="3865626" y="2596896"/>
            <a:ext cx="1428940" cy="0"/>
          </a:xfrm>
          <a:prstGeom prst="line">
            <a:avLst/>
          </a:prstGeom>
          <a:ln w="12192" cap="flat">
            <a:solidFill>
              <a:srgbClr val="D8C39C"/>
            </a:solidFill>
            <a:prstDash val="dash"/>
          </a:ln>
        </p:spPr>
      </p:cxnSp>
      <p:sp>
        <p:nvSpPr>
          <p:cNvPr id="42" name="TextBox 41"/>
          <p:cNvSpPr txBox="1"/>
          <p:nvPr/>
        </p:nvSpPr>
        <p:spPr>
          <a:xfrm>
            <a:off x="3987546" y="2304288"/>
            <a:ext cx="757238"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244,196,48</a:t>
            </a:r>
          </a:p>
        </p:txBody>
      </p:sp>
      <p:cxnSp>
        <p:nvCxnSpPr>
          <p:cNvPr id="43" name="Connector 42"/>
          <p:cNvCxnSpPr/>
          <p:nvPr/>
        </p:nvCxnSpPr>
        <p:spPr>
          <a:xfrm>
            <a:off x="5294566" y="2596896"/>
            <a:ext cx="1936052" cy="0"/>
          </a:xfrm>
          <a:prstGeom prst="line">
            <a:avLst/>
          </a:prstGeom>
          <a:ln w="12192" cap="flat">
            <a:solidFill>
              <a:srgbClr val="D8C39C"/>
            </a:solidFill>
            <a:prstDash val="dash"/>
          </a:ln>
        </p:spPr>
      </p:cxnSp>
      <p:sp>
        <p:nvSpPr>
          <p:cNvPr id="44" name="TextBox 43"/>
          <p:cNvSpPr txBox="1"/>
          <p:nvPr/>
        </p:nvSpPr>
        <p:spPr>
          <a:xfrm>
            <a:off x="5416486" y="2304288"/>
            <a:ext cx="677418"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4,22,92,0</a:t>
            </a:r>
          </a:p>
        </p:txBody>
      </p:sp>
      <p:cxnSp>
        <p:nvCxnSpPr>
          <p:cNvPr id="45" name="Connector 44"/>
          <p:cNvCxnSpPr/>
          <p:nvPr/>
        </p:nvCxnSpPr>
        <p:spPr>
          <a:xfrm>
            <a:off x="7230618" y="2596896"/>
            <a:ext cx="2359914" cy="0"/>
          </a:xfrm>
          <a:prstGeom prst="line">
            <a:avLst/>
          </a:prstGeom>
          <a:ln w="12192" cap="flat">
            <a:solidFill>
              <a:srgbClr val="D8C39C"/>
            </a:solidFill>
            <a:prstDash val="dash"/>
          </a:ln>
        </p:spPr>
      </p:cxnSp>
      <p:sp>
        <p:nvSpPr>
          <p:cNvPr id="46" name="TextBox 45"/>
          <p:cNvSpPr txBox="1"/>
          <p:nvPr/>
        </p:nvSpPr>
        <p:spPr>
          <a:xfrm>
            <a:off x="7352538" y="2304288"/>
            <a:ext cx="729615"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123 C</a:t>
            </a:r>
          </a:p>
        </p:txBody>
      </p:sp>
      <p:cxnSp>
        <p:nvCxnSpPr>
          <p:cNvPr id="47" name="Connector 46"/>
          <p:cNvCxnSpPr/>
          <p:nvPr/>
        </p:nvCxnSpPr>
        <p:spPr>
          <a:xfrm>
            <a:off x="9590532" y="2596896"/>
            <a:ext cx="2113788" cy="0"/>
          </a:xfrm>
          <a:prstGeom prst="line">
            <a:avLst/>
          </a:prstGeom>
          <a:ln w="12192" cap="flat">
            <a:solidFill>
              <a:srgbClr val="D8C39C"/>
            </a:solidFill>
            <a:prstDash val="dash"/>
          </a:ln>
        </p:spPr>
      </p:cxnSp>
      <p:sp>
        <p:nvSpPr>
          <p:cNvPr id="48" name="TextBox 47"/>
          <p:cNvSpPr txBox="1"/>
          <p:nvPr/>
        </p:nvSpPr>
        <p:spPr>
          <a:xfrm>
            <a:off x="9712452" y="2304288"/>
            <a:ext cx="1232992"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Confianza / rating</a:t>
            </a:r>
          </a:p>
        </p:txBody>
      </p:sp>
      <p:cxnSp>
        <p:nvCxnSpPr>
          <p:cNvPr id="49" name="Connector 48"/>
          <p:cNvCxnSpPr/>
          <p:nvPr/>
        </p:nvCxnSpPr>
        <p:spPr>
          <a:xfrm>
            <a:off x="487680" y="3011424"/>
            <a:ext cx="3377946" cy="0"/>
          </a:xfrm>
          <a:prstGeom prst="line">
            <a:avLst/>
          </a:prstGeom>
          <a:ln w="12192" cap="flat">
            <a:solidFill>
              <a:srgbClr val="D8C39C"/>
            </a:solidFill>
            <a:prstDash val="dash"/>
          </a:ln>
        </p:spPr>
      </p:cxnSp>
      <p:sp>
        <p:nvSpPr>
          <p:cNvPr id="50" name="Rounded Rectangle 49"/>
          <p:cNvSpPr/>
          <p:nvPr/>
        </p:nvSpPr>
        <p:spPr>
          <a:xfrm>
            <a:off x="615696" y="2724912"/>
            <a:ext cx="158496" cy="158496"/>
          </a:xfrm>
          <a:prstGeom prst="roundRect">
            <a:avLst>
              <a:gd name="adj" fmla="val 26923"/>
            </a:avLst>
          </a:prstGeom>
          <a:solidFill>
            <a:srgbClr val="901C21"/>
          </a:solidFill>
          <a:ln w="12192" cap="flat">
            <a:solidFill>
              <a:srgbClr val="000000">
                <a:alpha val="15000"/>
              </a:srgbClr>
            </a:solidFill>
          </a:ln>
        </p:spPr>
        <p:txBody>
          <a:bodyPr rtlCol="0" anchor="ctr"/>
          <a:lstStyle/>
          <a:p>
            <a:pPr algn="ctr"/>
          </a:p>
        </p:txBody>
      </p:sp>
      <p:sp>
        <p:nvSpPr>
          <p:cNvPr id="51" name="TextBox 50"/>
          <p:cNvSpPr txBox="1"/>
          <p:nvPr/>
        </p:nvSpPr>
        <p:spPr>
          <a:xfrm>
            <a:off x="853440" y="2718816"/>
            <a:ext cx="1471879"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Vino Abuela</a:t>
            </a:r>
            <a:r>
              <a:rPr sz="1100" b="0" i="0" lang="es-CO">
                <a:solidFill>
                  <a:srgbClr val="5B4A38"/>
                </a:solidFill>
                <a:latin typeface="Outfit"/>
              </a:rPr>
              <a:t> #901C21</a:t>
            </a:r>
          </a:p>
        </p:txBody>
      </p:sp>
      <p:cxnSp>
        <p:nvCxnSpPr>
          <p:cNvPr id="52" name="Connector 51"/>
          <p:cNvCxnSpPr/>
          <p:nvPr/>
        </p:nvCxnSpPr>
        <p:spPr>
          <a:xfrm>
            <a:off x="3865626" y="3011424"/>
            <a:ext cx="1428940" cy="0"/>
          </a:xfrm>
          <a:prstGeom prst="line">
            <a:avLst/>
          </a:prstGeom>
          <a:ln w="12192" cap="flat">
            <a:solidFill>
              <a:srgbClr val="D8C39C"/>
            </a:solidFill>
            <a:prstDash val="dash"/>
          </a:ln>
        </p:spPr>
      </p:cxnSp>
      <p:sp>
        <p:nvSpPr>
          <p:cNvPr id="53" name="TextBox 52"/>
          <p:cNvSpPr txBox="1"/>
          <p:nvPr/>
        </p:nvSpPr>
        <p:spPr>
          <a:xfrm>
            <a:off x="3987546" y="2718816"/>
            <a:ext cx="686372"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144,28,33</a:t>
            </a:r>
          </a:p>
        </p:txBody>
      </p:sp>
      <p:cxnSp>
        <p:nvCxnSpPr>
          <p:cNvPr id="54" name="Connector 53"/>
          <p:cNvCxnSpPr/>
          <p:nvPr/>
        </p:nvCxnSpPr>
        <p:spPr>
          <a:xfrm>
            <a:off x="5294566" y="3011424"/>
            <a:ext cx="1936052" cy="0"/>
          </a:xfrm>
          <a:prstGeom prst="line">
            <a:avLst/>
          </a:prstGeom>
          <a:ln w="12192" cap="flat">
            <a:solidFill>
              <a:srgbClr val="D8C39C"/>
            </a:solidFill>
            <a:prstDash val="dash"/>
          </a:ln>
        </p:spPr>
      </p:cxnSp>
      <p:sp>
        <p:nvSpPr>
          <p:cNvPr id="55" name="TextBox 54"/>
          <p:cNvSpPr txBox="1"/>
          <p:nvPr/>
        </p:nvSpPr>
        <p:spPr>
          <a:xfrm>
            <a:off x="5416486" y="2718816"/>
            <a:ext cx="816864"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23,98,93,20</a:t>
            </a:r>
          </a:p>
        </p:txBody>
      </p:sp>
      <p:cxnSp>
        <p:nvCxnSpPr>
          <p:cNvPr id="56" name="Connector 55"/>
          <p:cNvCxnSpPr/>
          <p:nvPr/>
        </p:nvCxnSpPr>
        <p:spPr>
          <a:xfrm>
            <a:off x="7230618" y="3011424"/>
            <a:ext cx="2359914" cy="0"/>
          </a:xfrm>
          <a:prstGeom prst="line">
            <a:avLst/>
          </a:prstGeom>
          <a:ln w="12192" cap="flat">
            <a:solidFill>
              <a:srgbClr val="D8C39C"/>
            </a:solidFill>
            <a:prstDash val="dash"/>
          </a:ln>
        </p:spPr>
      </p:cxnSp>
      <p:sp>
        <p:nvSpPr>
          <p:cNvPr id="57" name="TextBox 56"/>
          <p:cNvSpPr txBox="1"/>
          <p:nvPr/>
        </p:nvSpPr>
        <p:spPr>
          <a:xfrm>
            <a:off x="7352538" y="2718816"/>
            <a:ext cx="801243"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188 C*</a:t>
            </a:r>
          </a:p>
        </p:txBody>
      </p:sp>
      <p:cxnSp>
        <p:nvCxnSpPr>
          <p:cNvPr id="58" name="Connector 57"/>
          <p:cNvCxnSpPr/>
          <p:nvPr/>
        </p:nvCxnSpPr>
        <p:spPr>
          <a:xfrm>
            <a:off x="9590532" y="3011424"/>
            <a:ext cx="2113788" cy="0"/>
          </a:xfrm>
          <a:prstGeom prst="line">
            <a:avLst/>
          </a:prstGeom>
          <a:ln w="12192" cap="flat">
            <a:solidFill>
              <a:srgbClr val="D8C39C"/>
            </a:solidFill>
            <a:prstDash val="dash"/>
          </a:ln>
        </p:spPr>
      </p:cxnSp>
      <p:sp>
        <p:nvSpPr>
          <p:cNvPr id="59" name="TextBox 58"/>
          <p:cNvSpPr txBox="1"/>
          <p:nvPr/>
        </p:nvSpPr>
        <p:spPr>
          <a:xfrm>
            <a:off x="9712452" y="2718816"/>
            <a:ext cx="1116273"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Personaje / hero</a:t>
            </a:r>
          </a:p>
        </p:txBody>
      </p:sp>
      <p:cxnSp>
        <p:nvCxnSpPr>
          <p:cNvPr id="60" name="Connector 59"/>
          <p:cNvCxnSpPr/>
          <p:nvPr/>
        </p:nvCxnSpPr>
        <p:spPr>
          <a:xfrm>
            <a:off x="487680" y="3425952"/>
            <a:ext cx="3377946" cy="0"/>
          </a:xfrm>
          <a:prstGeom prst="line">
            <a:avLst/>
          </a:prstGeom>
          <a:ln w="12192" cap="flat">
            <a:solidFill>
              <a:srgbClr val="D8C39C"/>
            </a:solidFill>
            <a:prstDash val="dash"/>
          </a:ln>
        </p:spPr>
      </p:cxnSp>
      <p:sp>
        <p:nvSpPr>
          <p:cNvPr id="61" name="Rounded Rectangle 60"/>
          <p:cNvSpPr/>
          <p:nvPr/>
        </p:nvSpPr>
        <p:spPr>
          <a:xfrm>
            <a:off x="615696" y="3139440"/>
            <a:ext cx="158496" cy="158496"/>
          </a:xfrm>
          <a:prstGeom prst="roundRect">
            <a:avLst>
              <a:gd name="adj" fmla="val 26923"/>
            </a:avLst>
          </a:prstGeom>
          <a:solidFill>
            <a:srgbClr val="8B5E34"/>
          </a:solidFill>
          <a:ln w="12192" cap="flat">
            <a:solidFill>
              <a:srgbClr val="000000">
                <a:alpha val="15000"/>
              </a:srgbClr>
            </a:solidFill>
          </a:ln>
        </p:spPr>
        <p:txBody>
          <a:bodyPr rtlCol="0" anchor="ctr"/>
          <a:lstStyle/>
          <a:p>
            <a:pPr algn="ctr"/>
          </a:p>
        </p:txBody>
      </p:sp>
      <p:sp>
        <p:nvSpPr>
          <p:cNvPr id="62" name="TextBox 61"/>
          <p:cNvSpPr txBox="1"/>
          <p:nvPr/>
        </p:nvSpPr>
        <p:spPr>
          <a:xfrm>
            <a:off x="853440" y="3133344"/>
            <a:ext cx="1706994"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Madera Cálida</a:t>
            </a:r>
            <a:r>
              <a:rPr sz="1100" b="0" i="0" lang="es-CO">
                <a:solidFill>
                  <a:srgbClr val="5B4A38"/>
                </a:solidFill>
                <a:latin typeface="Outfit"/>
              </a:rPr>
              <a:t> #8B5E34</a:t>
            </a:r>
          </a:p>
        </p:txBody>
      </p:sp>
      <p:cxnSp>
        <p:nvCxnSpPr>
          <p:cNvPr id="63" name="Connector 62"/>
          <p:cNvCxnSpPr/>
          <p:nvPr/>
        </p:nvCxnSpPr>
        <p:spPr>
          <a:xfrm>
            <a:off x="3865626" y="3425952"/>
            <a:ext cx="1428940" cy="0"/>
          </a:xfrm>
          <a:prstGeom prst="line">
            <a:avLst/>
          </a:prstGeom>
          <a:ln w="12192" cap="flat">
            <a:solidFill>
              <a:srgbClr val="D8C39C"/>
            </a:solidFill>
            <a:prstDash val="dash"/>
          </a:ln>
        </p:spPr>
      </p:cxnSp>
      <p:sp>
        <p:nvSpPr>
          <p:cNvPr id="64" name="TextBox 63"/>
          <p:cNvSpPr txBox="1"/>
          <p:nvPr/>
        </p:nvSpPr>
        <p:spPr>
          <a:xfrm>
            <a:off x="3987546" y="3133344"/>
            <a:ext cx="666750"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139,94,52</a:t>
            </a:r>
          </a:p>
        </p:txBody>
      </p:sp>
      <p:cxnSp>
        <p:nvCxnSpPr>
          <p:cNvPr id="65" name="Connector 64"/>
          <p:cNvCxnSpPr/>
          <p:nvPr/>
        </p:nvCxnSpPr>
        <p:spPr>
          <a:xfrm>
            <a:off x="5294566" y="3425952"/>
            <a:ext cx="1936052" cy="0"/>
          </a:xfrm>
          <a:prstGeom prst="line">
            <a:avLst/>
          </a:prstGeom>
          <a:ln w="12192" cap="flat">
            <a:solidFill>
              <a:srgbClr val="D8C39C"/>
            </a:solidFill>
            <a:prstDash val="dash"/>
          </a:ln>
        </p:spPr>
      </p:cxnSp>
      <p:sp>
        <p:nvSpPr>
          <p:cNvPr id="66" name="TextBox 65"/>
          <p:cNvSpPr txBox="1"/>
          <p:nvPr/>
        </p:nvSpPr>
        <p:spPr>
          <a:xfrm>
            <a:off x="5416486" y="3133344"/>
            <a:ext cx="804291"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35,56,87,22</a:t>
            </a:r>
          </a:p>
        </p:txBody>
      </p:sp>
      <p:cxnSp>
        <p:nvCxnSpPr>
          <p:cNvPr id="67" name="Connector 66"/>
          <p:cNvCxnSpPr/>
          <p:nvPr/>
        </p:nvCxnSpPr>
        <p:spPr>
          <a:xfrm>
            <a:off x="7230618" y="3425952"/>
            <a:ext cx="2359914" cy="0"/>
          </a:xfrm>
          <a:prstGeom prst="line">
            <a:avLst/>
          </a:prstGeom>
          <a:ln w="12192" cap="flat">
            <a:solidFill>
              <a:srgbClr val="D8C39C"/>
            </a:solidFill>
            <a:prstDash val="dash"/>
          </a:ln>
        </p:spPr>
      </p:cxnSp>
      <p:sp>
        <p:nvSpPr>
          <p:cNvPr id="68" name="TextBox 67"/>
          <p:cNvSpPr txBox="1"/>
          <p:nvPr/>
        </p:nvSpPr>
        <p:spPr>
          <a:xfrm>
            <a:off x="7352538" y="3133344"/>
            <a:ext cx="895922"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7567 C*</a:t>
            </a:r>
          </a:p>
        </p:txBody>
      </p:sp>
      <p:cxnSp>
        <p:nvCxnSpPr>
          <p:cNvPr id="69" name="Connector 68"/>
          <p:cNvCxnSpPr/>
          <p:nvPr/>
        </p:nvCxnSpPr>
        <p:spPr>
          <a:xfrm>
            <a:off x="9590532" y="3425952"/>
            <a:ext cx="2113788" cy="0"/>
          </a:xfrm>
          <a:prstGeom prst="line">
            <a:avLst/>
          </a:prstGeom>
          <a:ln w="12192" cap="flat">
            <a:solidFill>
              <a:srgbClr val="D8C39C"/>
            </a:solidFill>
            <a:prstDash val="dash"/>
          </a:ln>
        </p:spPr>
      </p:cxnSp>
      <p:sp>
        <p:nvSpPr>
          <p:cNvPr id="70" name="TextBox 69"/>
          <p:cNvSpPr txBox="1"/>
          <p:nvPr/>
        </p:nvSpPr>
        <p:spPr>
          <a:xfrm>
            <a:off x="9712452" y="3133344"/>
            <a:ext cx="1150220"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Tarjetas / fondos</a:t>
            </a:r>
          </a:p>
        </p:txBody>
      </p:sp>
      <p:cxnSp>
        <p:nvCxnSpPr>
          <p:cNvPr id="71" name="Connector 70"/>
          <p:cNvCxnSpPr/>
          <p:nvPr/>
        </p:nvCxnSpPr>
        <p:spPr>
          <a:xfrm>
            <a:off x="487680" y="3840480"/>
            <a:ext cx="3377946" cy="0"/>
          </a:xfrm>
          <a:prstGeom prst="line">
            <a:avLst/>
          </a:prstGeom>
          <a:ln w="12192" cap="flat">
            <a:solidFill>
              <a:srgbClr val="D8C39C"/>
            </a:solidFill>
            <a:prstDash val="dash"/>
          </a:ln>
        </p:spPr>
      </p:cxnSp>
      <p:sp>
        <p:nvSpPr>
          <p:cNvPr id="72" name="Rounded Rectangle 71"/>
          <p:cNvSpPr/>
          <p:nvPr/>
        </p:nvSpPr>
        <p:spPr>
          <a:xfrm>
            <a:off x="615696" y="3553968"/>
            <a:ext cx="158496" cy="158496"/>
          </a:xfrm>
          <a:prstGeom prst="roundRect">
            <a:avLst>
              <a:gd name="adj" fmla="val 26923"/>
            </a:avLst>
          </a:prstGeom>
          <a:solidFill>
            <a:srgbClr val="C84B31"/>
          </a:solidFill>
          <a:ln w="12192" cap="flat">
            <a:solidFill>
              <a:srgbClr val="000000">
                <a:alpha val="15000"/>
              </a:srgbClr>
            </a:solidFill>
          </a:ln>
        </p:spPr>
        <p:txBody>
          <a:bodyPr rtlCol="0" anchor="ctr"/>
          <a:lstStyle/>
          <a:p>
            <a:pPr algn="ctr"/>
          </a:p>
        </p:txBody>
      </p:sp>
      <p:sp>
        <p:nvSpPr>
          <p:cNvPr id="73" name="TextBox 72"/>
          <p:cNvSpPr txBox="1"/>
          <p:nvPr/>
        </p:nvSpPr>
        <p:spPr>
          <a:xfrm>
            <a:off x="853440" y="3547872"/>
            <a:ext cx="1863109"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Terracota Buscar</a:t>
            </a:r>
            <a:r>
              <a:rPr sz="1100" b="0" i="0" lang="es-CO">
                <a:solidFill>
                  <a:srgbClr val="5B4A38"/>
                </a:solidFill>
                <a:latin typeface="Outfit"/>
              </a:rPr>
              <a:t> #C84B31</a:t>
            </a:r>
          </a:p>
        </p:txBody>
      </p:sp>
      <p:cxnSp>
        <p:nvCxnSpPr>
          <p:cNvPr id="74" name="Connector 73"/>
          <p:cNvCxnSpPr/>
          <p:nvPr/>
        </p:nvCxnSpPr>
        <p:spPr>
          <a:xfrm>
            <a:off x="3865626" y="3840480"/>
            <a:ext cx="1428940" cy="0"/>
          </a:xfrm>
          <a:prstGeom prst="line">
            <a:avLst/>
          </a:prstGeom>
          <a:ln w="12192" cap="flat">
            <a:solidFill>
              <a:srgbClr val="D8C39C"/>
            </a:solidFill>
            <a:prstDash val="dash"/>
          </a:ln>
        </p:spPr>
      </p:cxnSp>
      <p:sp>
        <p:nvSpPr>
          <p:cNvPr id="75" name="TextBox 74"/>
          <p:cNvSpPr txBox="1"/>
          <p:nvPr/>
        </p:nvSpPr>
        <p:spPr>
          <a:xfrm>
            <a:off x="3987546" y="3547872"/>
            <a:ext cx="722376"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200,75,49</a:t>
            </a:r>
          </a:p>
        </p:txBody>
      </p:sp>
      <p:cxnSp>
        <p:nvCxnSpPr>
          <p:cNvPr id="76" name="Connector 75"/>
          <p:cNvCxnSpPr/>
          <p:nvPr/>
        </p:nvCxnSpPr>
        <p:spPr>
          <a:xfrm>
            <a:off x="5294566" y="3840480"/>
            <a:ext cx="1936052" cy="0"/>
          </a:xfrm>
          <a:prstGeom prst="line">
            <a:avLst/>
          </a:prstGeom>
          <a:ln w="12192" cap="flat">
            <a:solidFill>
              <a:srgbClr val="D8C39C"/>
            </a:solidFill>
            <a:prstDash val="dash"/>
          </a:ln>
        </p:spPr>
      </p:cxnSp>
      <p:sp>
        <p:nvSpPr>
          <p:cNvPr id="77" name="TextBox 76"/>
          <p:cNvSpPr txBox="1"/>
          <p:nvPr/>
        </p:nvSpPr>
        <p:spPr>
          <a:xfrm>
            <a:off x="5416486" y="3547872"/>
            <a:ext cx="715518"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15,83,90,5</a:t>
            </a:r>
          </a:p>
        </p:txBody>
      </p:sp>
      <p:cxnSp>
        <p:nvCxnSpPr>
          <p:cNvPr id="78" name="Connector 77"/>
          <p:cNvCxnSpPr/>
          <p:nvPr/>
        </p:nvCxnSpPr>
        <p:spPr>
          <a:xfrm>
            <a:off x="7230618" y="3840480"/>
            <a:ext cx="2359914" cy="0"/>
          </a:xfrm>
          <a:prstGeom prst="line">
            <a:avLst/>
          </a:prstGeom>
          <a:ln w="12192" cap="flat">
            <a:solidFill>
              <a:srgbClr val="D8C39C"/>
            </a:solidFill>
            <a:prstDash val="dash"/>
          </a:ln>
        </p:spPr>
      </p:cxnSp>
      <p:sp>
        <p:nvSpPr>
          <p:cNvPr id="79" name="TextBox 78"/>
          <p:cNvSpPr txBox="1"/>
          <p:nvPr/>
        </p:nvSpPr>
        <p:spPr>
          <a:xfrm>
            <a:off x="7352538" y="3547872"/>
            <a:ext cx="906399"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7607 C*</a:t>
            </a:r>
          </a:p>
        </p:txBody>
      </p:sp>
      <p:cxnSp>
        <p:nvCxnSpPr>
          <p:cNvPr id="80" name="Connector 79"/>
          <p:cNvCxnSpPr/>
          <p:nvPr/>
        </p:nvCxnSpPr>
        <p:spPr>
          <a:xfrm>
            <a:off x="9590532" y="3840480"/>
            <a:ext cx="2113788" cy="0"/>
          </a:xfrm>
          <a:prstGeom prst="line">
            <a:avLst/>
          </a:prstGeom>
          <a:ln w="12192" cap="flat">
            <a:solidFill>
              <a:srgbClr val="D8C39C"/>
            </a:solidFill>
            <a:prstDash val="dash"/>
          </a:ln>
        </p:spPr>
      </p:cxnSp>
      <p:sp>
        <p:nvSpPr>
          <p:cNvPr id="81" name="TextBox 80"/>
          <p:cNvSpPr txBox="1"/>
          <p:nvPr/>
        </p:nvSpPr>
        <p:spPr>
          <a:xfrm>
            <a:off x="9712452" y="3547872"/>
            <a:ext cx="1001840"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Foco / acentos</a:t>
            </a:r>
          </a:p>
        </p:txBody>
      </p:sp>
      <p:sp>
        <p:nvSpPr>
          <p:cNvPr id="82" name="Rounded Rectangle 81"/>
          <p:cNvSpPr/>
          <p:nvPr/>
        </p:nvSpPr>
        <p:spPr>
          <a:xfrm>
            <a:off x="615696" y="3968496"/>
            <a:ext cx="158496" cy="158496"/>
          </a:xfrm>
          <a:prstGeom prst="roundRect">
            <a:avLst>
              <a:gd name="adj" fmla="val 26923"/>
            </a:avLst>
          </a:prstGeom>
          <a:solidFill>
            <a:srgbClr val="A855F7"/>
          </a:solidFill>
          <a:ln w="12192" cap="flat">
            <a:solidFill>
              <a:srgbClr val="000000">
                <a:alpha val="15000"/>
              </a:srgbClr>
            </a:solidFill>
          </a:ln>
        </p:spPr>
        <p:txBody>
          <a:bodyPr rtlCol="0" anchor="ctr"/>
          <a:lstStyle/>
          <a:p>
            <a:pPr algn="ctr"/>
          </a:p>
        </p:txBody>
      </p:sp>
      <p:sp>
        <p:nvSpPr>
          <p:cNvPr id="83" name="TextBox 82"/>
          <p:cNvSpPr txBox="1"/>
          <p:nvPr/>
        </p:nvSpPr>
        <p:spPr>
          <a:xfrm>
            <a:off x="853440" y="3962400"/>
            <a:ext cx="1722291" cy="182880"/>
          </a:xfrm>
          <a:prstGeom prst="rect">
            <a:avLst/>
          </a:prstGeom>
          <a:noFill/>
        </p:spPr>
        <p:txBody>
          <a:bodyPr wrap="none" lIns="0" rIns="0" tIns="0" bIns="0" anchor="t">
            <a:noAutofit/>
          </a:bodyPr>
          <a:lstStyle/>
          <a:p>
            <a:pPr algn="l">
              <a:lnSpc>
                <a:spcPts val="1439"/>
              </a:lnSpc>
              <a:spcBef>
                <a:spcPts val="0"/>
              </a:spcBef>
              <a:spcAft>
                <a:spcPts val="0"/>
              </a:spcAft>
            </a:pPr>
            <a:r>
              <a:rPr sz="1100" b="1" i="0" lang="es-CO">
                <a:solidFill>
                  <a:srgbClr val="2B2117"/>
                </a:solidFill>
                <a:latin typeface="Outfit"/>
              </a:rPr>
              <a:t>Púrpura Admin</a:t>
            </a:r>
            <a:r>
              <a:rPr sz="1100" b="0" i="0" lang="es-CO">
                <a:solidFill>
                  <a:srgbClr val="5B4A38"/>
                </a:solidFill>
                <a:latin typeface="Outfit"/>
              </a:rPr>
              <a:t> #A855F7</a:t>
            </a:r>
          </a:p>
        </p:txBody>
      </p:sp>
      <p:sp>
        <p:nvSpPr>
          <p:cNvPr id="84" name="TextBox 83"/>
          <p:cNvSpPr txBox="1"/>
          <p:nvPr/>
        </p:nvSpPr>
        <p:spPr>
          <a:xfrm>
            <a:off x="3987546" y="3962400"/>
            <a:ext cx="754952"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168,85,247</a:t>
            </a:r>
          </a:p>
        </p:txBody>
      </p:sp>
      <p:sp>
        <p:nvSpPr>
          <p:cNvPr id="85" name="TextBox 84"/>
          <p:cNvSpPr txBox="1"/>
          <p:nvPr/>
        </p:nvSpPr>
        <p:spPr>
          <a:xfrm>
            <a:off x="5416486" y="3962400"/>
            <a:ext cx="680276"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48,73,0,0</a:t>
            </a:r>
          </a:p>
        </p:txBody>
      </p:sp>
      <p:sp>
        <p:nvSpPr>
          <p:cNvPr id="86" name="TextBox 85"/>
          <p:cNvSpPr txBox="1"/>
          <p:nvPr/>
        </p:nvSpPr>
        <p:spPr>
          <a:xfrm>
            <a:off x="7352538" y="3962400"/>
            <a:ext cx="896684"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PMS 2587 C*</a:t>
            </a:r>
          </a:p>
        </p:txBody>
      </p:sp>
      <p:sp>
        <p:nvSpPr>
          <p:cNvPr id="87" name="TextBox 86"/>
          <p:cNvSpPr txBox="1"/>
          <p:nvPr/>
        </p:nvSpPr>
        <p:spPr>
          <a:xfrm>
            <a:off x="9712452" y="3962400"/>
            <a:ext cx="863918" cy="182880"/>
          </a:xfrm>
          <a:prstGeom prst="rect">
            <a:avLst/>
          </a:prstGeom>
          <a:noFill/>
        </p:spPr>
        <p:txBody>
          <a:bodyPr wrap="none" lIns="0" rIns="0" tIns="0" bIns="0" anchor="t">
            <a:noAutofit/>
          </a:bodyPr>
          <a:lstStyle/>
          <a:p>
            <a:pPr algn="l">
              <a:lnSpc>
                <a:spcPts val="1439"/>
              </a:lnSpc>
              <a:spcBef>
                <a:spcPts val="0"/>
              </a:spcBef>
              <a:spcAft>
                <a:spcPts val="0"/>
              </a:spcAft>
            </a:pPr>
            <a:r>
              <a:rPr sz="1100" b="0" i="0" lang="es-CO">
                <a:solidFill>
                  <a:srgbClr val="5B4A38"/>
                </a:solidFill>
                <a:latin typeface="Outfit"/>
              </a:rPr>
              <a:t>Panel admin</a:t>
            </a:r>
          </a:p>
        </p:txBody>
      </p:sp>
      <p:sp>
        <p:nvSpPr>
          <p:cNvPr id="88" name="TextBox 87"/>
          <p:cNvSpPr txBox="1"/>
          <p:nvPr/>
        </p:nvSpPr>
        <p:spPr>
          <a:xfrm>
            <a:off x="487680" y="4328160"/>
            <a:ext cx="7489527" cy="158496"/>
          </a:xfrm>
          <a:prstGeom prst="rect">
            <a:avLst/>
          </a:prstGeom>
          <a:noFill/>
        </p:spPr>
        <p:txBody>
          <a:bodyPr wrap="none" lIns="0" rIns="0" tIns="0" bIns="0" anchor="t">
            <a:noAutofit/>
          </a:bodyPr>
          <a:lstStyle/>
          <a:p>
            <a:pPr algn="l">
              <a:lnSpc>
                <a:spcPts val="1248"/>
              </a:lnSpc>
              <a:spcBef>
                <a:spcPts val="0"/>
              </a:spcBef>
              <a:spcAft>
                <a:spcPts val="0"/>
              </a:spcAft>
            </a:pPr>
            <a:r>
              <a:rPr sz="950" b="0" i="0" lang="es-CO">
                <a:solidFill>
                  <a:srgbClr val="8A7860"/>
                </a:solidFill>
                <a:latin typeface="Outfit"/>
              </a:rPr>
              <a:t>Las conversiones RGB, CMYK y Pantone son orientativas; valida color y acabado con una guía física y una prueba de impresión.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20414" y="378372"/>
            <a:ext cx="273269" cy="31531"/>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798786" y="315310"/>
            <a:ext cx="265715" cy="157655"/>
          </a:xfrm>
          <a:prstGeom prst="rect">
            <a:avLst/>
          </a:prstGeom>
          <a:noFill/>
        </p:spPr>
        <p:txBody>
          <a:bodyPr wrap="none" lIns="0" rIns="0" tIns="0" bIns="0" anchor="t">
            <a:noAutofit/>
          </a:bodyPr>
          <a:lstStyle/>
          <a:p>
            <a:pPr algn="l">
              <a:lnSpc>
                <a:spcPts val="1241"/>
              </a:lnSpc>
              <a:spcBef>
                <a:spcPts val="0"/>
              </a:spcBef>
              <a:spcAft>
                <a:spcPts val="0"/>
              </a:spcAft>
            </a:pPr>
            <a:r>
              <a:rPr sz="1000" b="1" i="0" lang="es-CO" cap="all" spc="99">
                <a:solidFill>
                  <a:srgbClr val="D97224"/>
                </a:solidFill>
                <a:latin typeface="Outfit"/>
              </a:rPr>
              <a:t>08</a:t>
            </a:r>
          </a:p>
        </p:txBody>
      </p:sp>
      <p:sp>
        <p:nvSpPr>
          <p:cNvPr id="5" name="TextBox 4"/>
          <p:cNvSpPr txBox="1"/>
          <p:nvPr/>
        </p:nvSpPr>
        <p:spPr>
          <a:xfrm>
            <a:off x="1085522" y="315310"/>
            <a:ext cx="1618954" cy="157655"/>
          </a:xfrm>
          <a:prstGeom prst="rect">
            <a:avLst/>
          </a:prstGeom>
          <a:noFill/>
        </p:spPr>
        <p:txBody>
          <a:bodyPr wrap="none" lIns="0" rIns="0" tIns="0" bIns="0" anchor="t">
            <a:noAutofit/>
          </a:bodyPr>
          <a:lstStyle/>
          <a:p>
            <a:pPr algn="l">
              <a:lnSpc>
                <a:spcPts val="1241"/>
              </a:lnSpc>
              <a:spcBef>
                <a:spcPts val="0"/>
              </a:spcBef>
              <a:spcAft>
                <a:spcPts val="0"/>
              </a:spcAft>
            </a:pPr>
            <a:r>
              <a:rPr sz="1000" b="1" i="0" lang="es-CO" cap="all" spc="99">
                <a:solidFill>
                  <a:srgbClr val="5B4A38"/>
                </a:solidFill>
                <a:latin typeface="Outfit"/>
              </a:rPr>
              <a:t>/ Identidad Visual</a:t>
            </a:r>
          </a:p>
        </p:txBody>
      </p:sp>
      <p:sp>
        <p:nvSpPr>
          <p:cNvPr id="6" name="TextBox 5"/>
          <p:cNvSpPr txBox="1"/>
          <p:nvPr/>
        </p:nvSpPr>
        <p:spPr>
          <a:xfrm>
            <a:off x="420414" y="851338"/>
            <a:ext cx="2948152" cy="283779"/>
          </a:xfrm>
          <a:prstGeom prst="rect">
            <a:avLst/>
          </a:prstGeom>
          <a:noFill/>
        </p:spPr>
        <p:txBody>
          <a:bodyPr wrap="none" lIns="0" rIns="0" tIns="0" bIns="0" anchor="t">
            <a:noAutofit/>
          </a:bodyPr>
          <a:lstStyle/>
          <a:p>
            <a:pPr algn="l">
              <a:lnSpc>
                <a:spcPts val="2234"/>
              </a:lnSpc>
              <a:spcBef>
                <a:spcPts val="0"/>
              </a:spcBef>
              <a:spcAft>
                <a:spcPts val="0"/>
              </a:spcAft>
            </a:pPr>
            <a:r>
              <a:rPr sz="1650" b="1" i="0" lang="es-CO">
                <a:solidFill>
                  <a:srgbClr val="5C3A1E"/>
                </a:solidFill>
                <a:latin typeface="Playfair Display"/>
              </a:rPr>
              <a:t>Justificación UX de la paleta</a:t>
            </a:r>
          </a:p>
        </p:txBody>
      </p:sp>
      <p:sp>
        <p:nvSpPr>
          <p:cNvPr id="7" name="TextBox 6"/>
          <p:cNvSpPr txBox="1"/>
          <p:nvPr/>
        </p:nvSpPr>
        <p:spPr>
          <a:xfrm>
            <a:off x="420414" y="1200281"/>
            <a:ext cx="8467134" cy="586477"/>
          </a:xfrm>
          <a:prstGeom prst="rect">
            <a:avLst/>
          </a:prstGeom>
          <a:noFill/>
        </p:spPr>
        <p:txBody>
          <a:bodyPr wrap="square" lIns="0" rIns="0" tIns="0" bIns="0" anchor="t">
            <a:noAutofit/>
          </a:bodyPr>
          <a:lstStyle/>
          <a:p>
            <a:pPr algn="l">
              <a:lnSpc>
                <a:spcPts val="1539"/>
              </a:lnSpc>
              <a:spcBef>
                <a:spcPts val="0"/>
              </a:spcBef>
              <a:spcAft>
                <a:spcPts val="0"/>
              </a:spcAft>
            </a:pPr>
            <a:r>
              <a:rPr sz="1000" b="0" i="0" lang="es-CO">
                <a:solidFill>
                  <a:srgbClr val="5B4A38"/>
                </a:solidFill>
                <a:latin typeface="Outfit"/>
              </a:rPr>
              <a:t>Cada color cumple una función fija en la interfaz. La regla es una sola: el naranja actúa, el verde confirma, el amarillo da confianza, y los tonos</a:t>
            </a:r>
            <a:br/>
            <a:r>
              <a:rPr sz="1000" b="0" i="0" lang="es-CO">
                <a:solidFill>
                  <a:srgbClr val="5B4A38"/>
                </a:solidFill>
                <a:latin typeface="Outfit"/>
              </a:rPr>
              <a:t>madera y vino aportan el carácter hogareño. La etiqueta de cada tarjeta indica el texto recomendado sobre ese color y su contraste WCAG</a:t>
            </a:r>
            <a:br/>
            <a:r>
              <a:rPr sz="1000" b="0" i="0" lang="es-CO">
                <a:solidFill>
                  <a:srgbClr val="5B4A38"/>
                </a:solidFill>
                <a:latin typeface="Outfit"/>
              </a:rPr>
              <a:t>calculado.</a:t>
            </a:r>
          </a:p>
        </p:txBody>
      </p:sp>
      <p:sp>
        <p:nvSpPr>
          <p:cNvPr id="8" name="Rounded Rectangle 7"/>
          <p:cNvSpPr/>
          <p:nvPr/>
        </p:nvSpPr>
        <p:spPr>
          <a:xfrm>
            <a:off x="420414" y="1994666"/>
            <a:ext cx="5580993" cy="2369262"/>
          </a:xfrm>
          <a:prstGeom prst="roundRect">
            <a:avLst>
              <a:gd name="adj" fmla="val 2661"/>
            </a:avLst>
          </a:prstGeom>
          <a:solidFill>
            <a:srgbClr val="D8C39C"/>
          </a:solidFill>
          <a:ln>
            <a:noFill/>
          </a:ln>
        </p:spPr>
        <p:txBody>
          <a:bodyPr rtlCol="0" anchor="ctr"/>
          <a:lstStyle/>
          <a:p>
            <a:pPr algn="ctr"/>
          </a:p>
        </p:txBody>
      </p:sp>
      <p:sp>
        <p:nvSpPr>
          <p:cNvPr id="9" name="Rounded Rectangle 8"/>
          <p:cNvSpPr/>
          <p:nvPr/>
        </p:nvSpPr>
        <p:spPr>
          <a:xfrm>
            <a:off x="425669" y="1968391"/>
            <a:ext cx="5570483" cy="2358751"/>
          </a:xfrm>
          <a:prstGeom prst="roundRect">
            <a:avLst>
              <a:gd name="adj" fmla="val 2450"/>
            </a:avLst>
          </a:prstGeom>
          <a:solidFill>
            <a:srgbClr val="EFE0C2"/>
          </a:solidFill>
          <a:ln w="10510" cap="flat">
            <a:solidFill>
              <a:srgbClr val="D8C39C"/>
            </a:solidFill>
          </a:ln>
        </p:spPr>
        <p:txBody>
          <a:bodyPr rtlCol="0" anchor="ctr"/>
          <a:lstStyle/>
          <a:p>
            <a:pPr algn="ctr"/>
          </a:p>
        </p:txBody>
      </p:sp>
      <p:sp>
        <p:nvSpPr>
          <p:cNvPr id="10" name="Round Same Side Corner Rectangle 9"/>
          <p:cNvSpPr/>
          <p:nvPr/>
        </p:nvSpPr>
        <p:spPr>
          <a:xfrm>
            <a:off x="430924" y="1973646"/>
            <a:ext cx="5559972" cy="483476"/>
          </a:xfrm>
          <a:prstGeom prst="round2SameRect">
            <a:avLst>
              <a:gd name="adj1" fmla="val 10869"/>
              <a:gd name="adj2" fmla="val 0"/>
            </a:avLst>
          </a:prstGeom>
          <a:solidFill>
            <a:srgbClr val="F0822D"/>
          </a:solidFill>
          <a:ln>
            <a:noFill/>
          </a:ln>
        </p:spPr>
        <p:txBody>
          <a:bodyPr rtlCol="0" anchor="ctr"/>
          <a:lstStyle/>
          <a:p>
            <a:pPr algn="ctr"/>
          </a:p>
        </p:txBody>
      </p:sp>
      <p:sp>
        <p:nvSpPr>
          <p:cNvPr id="11" name="TextBox 10"/>
          <p:cNvSpPr txBox="1"/>
          <p:nvPr/>
        </p:nvSpPr>
        <p:spPr>
          <a:xfrm>
            <a:off x="620110" y="2625287"/>
            <a:ext cx="2547116" cy="147145"/>
          </a:xfrm>
          <a:prstGeom prst="rect">
            <a:avLst/>
          </a:prstGeom>
          <a:noFill/>
        </p:spPr>
        <p:txBody>
          <a:bodyPr wrap="none" lIns="0" rIns="0" tIns="0" bIns="0" anchor="t">
            <a:noAutofit/>
          </a:bodyPr>
          <a:lstStyle/>
          <a:p>
            <a:pPr algn="l">
              <a:lnSpc>
                <a:spcPts val="1158"/>
              </a:lnSpc>
              <a:spcBef>
                <a:spcPts val="0"/>
              </a:spcBef>
              <a:spcAft>
                <a:spcPts val="0"/>
              </a:spcAft>
            </a:pPr>
            <a:r>
              <a:rPr sz="900" b="1" i="0" lang="es-CO" cap="all" spc="73">
                <a:solidFill>
                  <a:srgbClr val="D97224"/>
                </a:solidFill>
                <a:latin typeface="Outfit"/>
              </a:rPr>
              <a:t>Acción principal (Reservar, CTA)</a:t>
            </a:r>
          </a:p>
        </p:txBody>
      </p:sp>
      <p:sp>
        <p:nvSpPr>
          <p:cNvPr id="12" name="TextBox 11"/>
          <p:cNvSpPr txBox="1"/>
          <p:nvPr/>
        </p:nvSpPr>
        <p:spPr>
          <a:xfrm>
            <a:off x="620110" y="2856515"/>
            <a:ext cx="1718852" cy="231228"/>
          </a:xfrm>
          <a:prstGeom prst="rect">
            <a:avLst/>
          </a:prstGeom>
          <a:noFill/>
        </p:spPr>
        <p:txBody>
          <a:bodyPr wrap="none" lIns="0" rIns="0" tIns="0" bIns="0" anchor="t">
            <a:noAutofit/>
          </a:bodyPr>
          <a:lstStyle/>
          <a:p>
            <a:pPr algn="l">
              <a:lnSpc>
                <a:spcPts val="1820"/>
              </a:lnSpc>
              <a:spcBef>
                <a:spcPts val="0"/>
              </a:spcBef>
              <a:spcAft>
                <a:spcPts val="0"/>
              </a:spcAft>
            </a:pPr>
            <a:r>
              <a:rPr sz="1400" b="1" i="0" lang="es-CO">
                <a:solidFill>
                  <a:srgbClr val="5C3A1E"/>
                </a:solidFill>
                <a:latin typeface="Playfair Display"/>
              </a:rPr>
              <a:t>Naranja Olla </a:t>
            </a:r>
            <a:r>
              <a:rPr sz="900" b="0" i="0" lang="es-CO">
                <a:solidFill>
                  <a:srgbClr val="8A7860"/>
                </a:solidFill>
                <a:latin typeface="Consolas"/>
              </a:rPr>
              <a:t>#F0822D</a:t>
            </a:r>
          </a:p>
        </p:txBody>
      </p:sp>
      <p:sp>
        <p:nvSpPr>
          <p:cNvPr id="13" name="TextBox 12"/>
          <p:cNvSpPr txBox="1"/>
          <p:nvPr/>
        </p:nvSpPr>
        <p:spPr>
          <a:xfrm>
            <a:off x="620110" y="3150016"/>
            <a:ext cx="5492496" cy="635350"/>
          </a:xfrm>
          <a:prstGeom prst="rect">
            <a:avLst/>
          </a:prstGeom>
          <a:noFill/>
        </p:spPr>
        <p:txBody>
          <a:bodyPr wrap="square" lIns="0" rIns="0" tIns="0" bIns="0" anchor="t">
            <a:noAutofit/>
          </a:bodyPr>
          <a:lstStyle/>
          <a:p>
            <a:pPr algn="l">
              <a:lnSpc>
                <a:spcPts val="1667"/>
              </a:lnSpc>
              <a:spcBef>
                <a:spcPts val="0"/>
              </a:spcBef>
              <a:spcAft>
                <a:spcPts val="0"/>
              </a:spcAft>
            </a:pPr>
            <a:r>
              <a:rPr sz="1075" b="0" i="0" lang="es-CO">
                <a:solidFill>
                  <a:srgbClr val="5B4A38"/>
                </a:solidFill>
                <a:latin typeface="Outfit"/>
              </a:rPr>
              <a:t>Es el color del isotipo y del fuego de la cocina. Los tonos cálidos suelen asociarse con</a:t>
            </a:r>
            <a:br/>
            <a:r>
              <a:rPr sz="1075" b="0" i="0" lang="es-CO">
                <a:solidFill>
                  <a:srgbClr val="5B4A38"/>
                </a:solidFill>
                <a:latin typeface="Outfit"/>
              </a:rPr>
              <a:t>apetito y energía, y destaca sobre fondos crema y oscuros, así que el botón principal</a:t>
            </a:r>
            <a:br/>
            <a:r>
              <a:rPr sz="1075" b="0" i="0" lang="es-CO">
                <a:solidFill>
                  <a:srgbClr val="5B4A38"/>
                </a:solidFill>
                <a:latin typeface="Outfit"/>
              </a:rPr>
              <a:t>se ubica de inmediato.</a:t>
            </a:r>
          </a:p>
        </p:txBody>
      </p:sp>
      <p:sp>
        <p:nvSpPr>
          <p:cNvPr id="14" name="Rounded Rectangle 13"/>
          <p:cNvSpPr/>
          <p:nvPr/>
        </p:nvSpPr>
        <p:spPr>
          <a:xfrm>
            <a:off x="625366" y="3875197"/>
            <a:ext cx="1659813" cy="252248"/>
          </a:xfrm>
          <a:prstGeom prst="roundRect">
            <a:avLst>
              <a:gd name="adj" fmla="val 50000"/>
            </a:avLst>
          </a:prstGeom>
          <a:solidFill>
            <a:srgbClr val="4A8C00">
              <a:alpha val="12000"/>
            </a:srgbClr>
          </a:solidFill>
          <a:ln w="10510" cap="flat">
            <a:solidFill>
              <a:srgbClr val="4A8C00">
                <a:alpha val="35000"/>
              </a:srgbClr>
            </a:solidFill>
          </a:ln>
        </p:spPr>
        <p:txBody>
          <a:bodyPr rtlCol="0" anchor="ctr"/>
          <a:lstStyle/>
          <a:p>
            <a:pPr algn="ctr"/>
          </a:p>
        </p:txBody>
      </p:sp>
      <p:sp>
        <p:nvSpPr>
          <p:cNvPr id="15" name="TextBox 14"/>
          <p:cNvSpPr txBox="1"/>
          <p:nvPr/>
        </p:nvSpPr>
        <p:spPr>
          <a:xfrm>
            <a:off x="735724" y="3933004"/>
            <a:ext cx="1583006" cy="136634"/>
          </a:xfrm>
          <a:prstGeom prst="rect">
            <a:avLst/>
          </a:prstGeom>
          <a:noFill/>
        </p:spPr>
        <p:txBody>
          <a:bodyPr wrap="none" lIns="0" rIns="0" tIns="0" bIns="0" anchor="t">
            <a:noAutofit/>
          </a:bodyPr>
          <a:lstStyle/>
          <a:p>
            <a:pPr algn="l">
              <a:lnSpc>
                <a:spcPts val="1075"/>
              </a:lnSpc>
              <a:spcBef>
                <a:spcPts val="0"/>
              </a:spcBef>
              <a:spcAft>
                <a:spcPts val="0"/>
              </a:spcAft>
            </a:pPr>
            <a:r>
              <a:rPr sz="825" b="1" i="0" lang="es-CO" cap="all" spc="41">
                <a:solidFill>
                  <a:srgbClr val="4A9C55"/>
                </a:solidFill>
                <a:latin typeface="Outfit"/>
              </a:rPr>
              <a:t>texto oscuro · 6.0:1 · AA</a:t>
            </a:r>
          </a:p>
        </p:txBody>
      </p:sp>
      <p:sp>
        <p:nvSpPr>
          <p:cNvPr id="16" name="Rounded Rectangle 15"/>
          <p:cNvSpPr/>
          <p:nvPr/>
        </p:nvSpPr>
        <p:spPr>
          <a:xfrm>
            <a:off x="6190593" y="1994666"/>
            <a:ext cx="5580993" cy="2369262"/>
          </a:xfrm>
          <a:prstGeom prst="roundRect">
            <a:avLst>
              <a:gd name="adj" fmla="val 2661"/>
            </a:avLst>
          </a:prstGeom>
          <a:solidFill>
            <a:srgbClr val="D8C39C"/>
          </a:solidFill>
          <a:ln>
            <a:noFill/>
          </a:ln>
        </p:spPr>
        <p:txBody>
          <a:bodyPr rtlCol="0" anchor="ctr"/>
          <a:lstStyle/>
          <a:p>
            <a:pPr algn="ctr"/>
          </a:p>
        </p:txBody>
      </p:sp>
      <p:sp>
        <p:nvSpPr>
          <p:cNvPr id="17" name="Rounded Rectangle 16"/>
          <p:cNvSpPr/>
          <p:nvPr/>
        </p:nvSpPr>
        <p:spPr>
          <a:xfrm>
            <a:off x="6195848" y="1968391"/>
            <a:ext cx="5570483" cy="2358751"/>
          </a:xfrm>
          <a:prstGeom prst="roundRect">
            <a:avLst>
              <a:gd name="adj" fmla="val 2450"/>
            </a:avLst>
          </a:prstGeom>
          <a:solidFill>
            <a:srgbClr val="EFE0C2"/>
          </a:solidFill>
          <a:ln w="10510" cap="flat">
            <a:solidFill>
              <a:srgbClr val="D8C39C"/>
            </a:solidFill>
          </a:ln>
        </p:spPr>
        <p:txBody>
          <a:bodyPr rtlCol="0" anchor="ctr"/>
          <a:lstStyle/>
          <a:p>
            <a:pPr algn="ctr"/>
          </a:p>
        </p:txBody>
      </p:sp>
      <p:sp>
        <p:nvSpPr>
          <p:cNvPr id="18" name="Round Same Side Corner Rectangle 17"/>
          <p:cNvSpPr/>
          <p:nvPr/>
        </p:nvSpPr>
        <p:spPr>
          <a:xfrm>
            <a:off x="6201103" y="1973646"/>
            <a:ext cx="5559972" cy="483476"/>
          </a:xfrm>
          <a:prstGeom prst="round2SameRect">
            <a:avLst>
              <a:gd name="adj1" fmla="val 10869"/>
              <a:gd name="adj2" fmla="val 0"/>
            </a:avLst>
          </a:prstGeom>
          <a:solidFill>
            <a:srgbClr val="62B869"/>
          </a:solidFill>
          <a:ln>
            <a:noFill/>
          </a:ln>
        </p:spPr>
        <p:txBody>
          <a:bodyPr rtlCol="0" anchor="ctr"/>
          <a:lstStyle/>
          <a:p>
            <a:pPr algn="ctr"/>
          </a:p>
        </p:txBody>
      </p:sp>
      <p:sp>
        <p:nvSpPr>
          <p:cNvPr id="19" name="TextBox 18"/>
          <p:cNvSpPr txBox="1"/>
          <p:nvPr/>
        </p:nvSpPr>
        <p:spPr>
          <a:xfrm>
            <a:off x="6390290" y="2625287"/>
            <a:ext cx="2172275" cy="147145"/>
          </a:xfrm>
          <a:prstGeom prst="rect">
            <a:avLst/>
          </a:prstGeom>
          <a:noFill/>
        </p:spPr>
        <p:txBody>
          <a:bodyPr wrap="none" lIns="0" rIns="0" tIns="0" bIns="0" anchor="t">
            <a:noAutofit/>
          </a:bodyPr>
          <a:lstStyle/>
          <a:p>
            <a:pPr algn="l">
              <a:lnSpc>
                <a:spcPts val="1158"/>
              </a:lnSpc>
              <a:spcBef>
                <a:spcPts val="0"/>
              </a:spcBef>
              <a:spcAft>
                <a:spcPts val="0"/>
              </a:spcAft>
            </a:pPr>
            <a:r>
              <a:rPr sz="900" b="1" i="0" lang="es-CO" cap="all" spc="73">
                <a:solidFill>
                  <a:srgbClr val="D97224"/>
                </a:solidFill>
                <a:latin typeface="Outfit"/>
              </a:rPr>
              <a:t>Disponible, éxito, cercanía</a:t>
            </a:r>
          </a:p>
        </p:txBody>
      </p:sp>
      <p:sp>
        <p:nvSpPr>
          <p:cNvPr id="20" name="TextBox 19"/>
          <p:cNvSpPr txBox="1"/>
          <p:nvPr/>
        </p:nvSpPr>
        <p:spPr>
          <a:xfrm>
            <a:off x="6390290" y="2856515"/>
            <a:ext cx="1895705" cy="231228"/>
          </a:xfrm>
          <a:prstGeom prst="rect">
            <a:avLst/>
          </a:prstGeom>
          <a:noFill/>
        </p:spPr>
        <p:txBody>
          <a:bodyPr wrap="none" lIns="0" rIns="0" tIns="0" bIns="0" anchor="t">
            <a:noAutofit/>
          </a:bodyPr>
          <a:lstStyle/>
          <a:p>
            <a:pPr algn="l">
              <a:lnSpc>
                <a:spcPts val="1820"/>
              </a:lnSpc>
              <a:spcBef>
                <a:spcPts val="0"/>
              </a:spcBef>
              <a:spcAft>
                <a:spcPts val="0"/>
              </a:spcAft>
            </a:pPr>
            <a:r>
              <a:rPr sz="1400" b="1" i="0" lang="es-CO">
                <a:solidFill>
                  <a:srgbClr val="5C3A1E"/>
                </a:solidFill>
                <a:latin typeface="Playfair Display"/>
              </a:rPr>
              <a:t>Verde Cercana </a:t>
            </a:r>
            <a:r>
              <a:rPr sz="900" b="0" i="0" lang="es-CO">
                <a:solidFill>
                  <a:srgbClr val="8A7860"/>
                </a:solidFill>
                <a:latin typeface="Consolas"/>
              </a:rPr>
              <a:t>#62B869</a:t>
            </a:r>
          </a:p>
        </p:txBody>
      </p:sp>
      <p:sp>
        <p:nvSpPr>
          <p:cNvPr id="21" name="TextBox 20"/>
          <p:cNvSpPr txBox="1"/>
          <p:nvPr/>
        </p:nvSpPr>
        <p:spPr>
          <a:xfrm>
            <a:off x="6390290" y="3150016"/>
            <a:ext cx="5492496" cy="423567"/>
          </a:xfrm>
          <a:prstGeom prst="rect">
            <a:avLst/>
          </a:prstGeom>
          <a:noFill/>
        </p:spPr>
        <p:txBody>
          <a:bodyPr wrap="square" lIns="0" rIns="0" tIns="0" bIns="0" anchor="t">
            <a:noAutofit/>
          </a:bodyPr>
          <a:lstStyle/>
          <a:p>
            <a:pPr algn="l">
              <a:lnSpc>
                <a:spcPts val="1667"/>
              </a:lnSpc>
              <a:spcBef>
                <a:spcPts val="0"/>
              </a:spcBef>
              <a:spcAft>
                <a:spcPts val="0"/>
              </a:spcAft>
            </a:pPr>
            <a:r>
              <a:rPr sz="1075" b="0" i="0" lang="es-CO">
                <a:solidFill>
                  <a:srgbClr val="5B4A38"/>
                </a:solidFill>
                <a:latin typeface="Outfit"/>
              </a:rPr>
              <a:t>El verde comunica «sí, puedes pedir» sin leer. Se reserva para estados positivos y</a:t>
            </a:r>
            <a:br/>
            <a:r>
              <a:rPr sz="1075" b="0" i="0" lang="es-CO">
                <a:solidFill>
                  <a:srgbClr val="5B4A38"/>
                </a:solidFill>
                <a:latin typeface="Outfit"/>
              </a:rPr>
              <a:t>proximidad, para que no compita con el naranja de acción.</a:t>
            </a:r>
          </a:p>
        </p:txBody>
      </p:sp>
      <p:sp>
        <p:nvSpPr>
          <p:cNvPr id="22" name="Rounded Rectangle 21"/>
          <p:cNvSpPr/>
          <p:nvPr/>
        </p:nvSpPr>
        <p:spPr>
          <a:xfrm>
            <a:off x="6395545" y="3663512"/>
            <a:ext cx="1653901" cy="252248"/>
          </a:xfrm>
          <a:prstGeom prst="roundRect">
            <a:avLst>
              <a:gd name="adj" fmla="val 50000"/>
            </a:avLst>
          </a:prstGeom>
          <a:solidFill>
            <a:srgbClr val="4A8C00">
              <a:alpha val="12000"/>
            </a:srgbClr>
          </a:solidFill>
          <a:ln w="10510" cap="flat">
            <a:solidFill>
              <a:srgbClr val="4A8C00">
                <a:alpha val="35000"/>
              </a:srgbClr>
            </a:solidFill>
          </a:ln>
        </p:spPr>
        <p:txBody>
          <a:bodyPr rtlCol="0" anchor="ctr"/>
          <a:lstStyle/>
          <a:p>
            <a:pPr algn="ctr"/>
          </a:p>
        </p:txBody>
      </p:sp>
      <p:sp>
        <p:nvSpPr>
          <p:cNvPr id="23" name="TextBox 22"/>
          <p:cNvSpPr txBox="1"/>
          <p:nvPr/>
        </p:nvSpPr>
        <p:spPr>
          <a:xfrm>
            <a:off x="6505903" y="3721319"/>
            <a:ext cx="1576502" cy="136634"/>
          </a:xfrm>
          <a:prstGeom prst="rect">
            <a:avLst/>
          </a:prstGeom>
          <a:noFill/>
        </p:spPr>
        <p:txBody>
          <a:bodyPr wrap="none" lIns="0" rIns="0" tIns="0" bIns="0" anchor="t">
            <a:noAutofit/>
          </a:bodyPr>
          <a:lstStyle/>
          <a:p>
            <a:pPr algn="l">
              <a:lnSpc>
                <a:spcPts val="1075"/>
              </a:lnSpc>
              <a:spcBef>
                <a:spcPts val="0"/>
              </a:spcBef>
              <a:spcAft>
                <a:spcPts val="0"/>
              </a:spcAft>
            </a:pPr>
            <a:r>
              <a:rPr sz="825" b="1" i="0" lang="es-CO" cap="all" spc="41">
                <a:solidFill>
                  <a:srgbClr val="4A9C55"/>
                </a:solidFill>
                <a:latin typeface="Outfit"/>
              </a:rPr>
              <a:t>texto oscuro · 6.4:1 · AA</a:t>
            </a:r>
          </a:p>
        </p:txBody>
      </p:sp>
      <p:sp>
        <p:nvSpPr>
          <p:cNvPr id="24" name="Rounded Rectangle 23"/>
          <p:cNvSpPr/>
          <p:nvPr/>
        </p:nvSpPr>
        <p:spPr>
          <a:xfrm>
            <a:off x="420414" y="4553114"/>
            <a:ext cx="5580993" cy="2157577"/>
          </a:xfrm>
          <a:prstGeom prst="roundRect">
            <a:avLst>
              <a:gd name="adj" fmla="val 2922"/>
            </a:avLst>
          </a:prstGeom>
          <a:solidFill>
            <a:srgbClr val="D8C39C"/>
          </a:solidFill>
          <a:ln>
            <a:noFill/>
          </a:ln>
        </p:spPr>
        <p:txBody>
          <a:bodyPr rtlCol="0" anchor="ctr"/>
          <a:lstStyle/>
          <a:p>
            <a:pPr algn="ctr"/>
          </a:p>
        </p:txBody>
      </p:sp>
      <p:sp>
        <p:nvSpPr>
          <p:cNvPr id="25" name="Rounded Rectangle 24"/>
          <p:cNvSpPr/>
          <p:nvPr/>
        </p:nvSpPr>
        <p:spPr>
          <a:xfrm>
            <a:off x="425669" y="4526838"/>
            <a:ext cx="5570483" cy="2147066"/>
          </a:xfrm>
          <a:prstGeom prst="roundRect">
            <a:avLst>
              <a:gd name="adj" fmla="val 2692"/>
            </a:avLst>
          </a:prstGeom>
          <a:solidFill>
            <a:srgbClr val="EFE0C2"/>
          </a:solidFill>
          <a:ln w="10510" cap="flat">
            <a:solidFill>
              <a:srgbClr val="D8C39C"/>
            </a:solidFill>
          </a:ln>
        </p:spPr>
        <p:txBody>
          <a:bodyPr rtlCol="0" anchor="ctr"/>
          <a:lstStyle/>
          <a:p>
            <a:pPr algn="ctr"/>
          </a:p>
        </p:txBody>
      </p:sp>
      <p:sp>
        <p:nvSpPr>
          <p:cNvPr id="26" name="Round Same Side Corner Rectangle 25"/>
          <p:cNvSpPr/>
          <p:nvPr/>
        </p:nvSpPr>
        <p:spPr>
          <a:xfrm>
            <a:off x="430924" y="4532094"/>
            <a:ext cx="5559972" cy="483476"/>
          </a:xfrm>
          <a:prstGeom prst="round2SameRect">
            <a:avLst>
              <a:gd name="adj1" fmla="val 10869"/>
              <a:gd name="adj2" fmla="val 0"/>
            </a:avLst>
          </a:prstGeom>
          <a:solidFill>
            <a:srgbClr val="F4C430"/>
          </a:solidFill>
          <a:ln>
            <a:noFill/>
          </a:ln>
        </p:spPr>
        <p:txBody>
          <a:bodyPr rtlCol="0" anchor="ctr"/>
          <a:lstStyle/>
          <a:p>
            <a:pPr algn="ctr"/>
          </a:p>
        </p:txBody>
      </p:sp>
      <p:sp>
        <p:nvSpPr>
          <p:cNvPr id="27" name="TextBox 26"/>
          <p:cNvSpPr txBox="1"/>
          <p:nvPr/>
        </p:nvSpPr>
        <p:spPr>
          <a:xfrm>
            <a:off x="620110" y="5183735"/>
            <a:ext cx="2008970" cy="147145"/>
          </a:xfrm>
          <a:prstGeom prst="rect">
            <a:avLst/>
          </a:prstGeom>
          <a:noFill/>
        </p:spPr>
        <p:txBody>
          <a:bodyPr wrap="none" lIns="0" rIns="0" tIns="0" bIns="0" anchor="t">
            <a:noAutofit/>
          </a:bodyPr>
          <a:lstStyle/>
          <a:p>
            <a:pPr algn="l">
              <a:lnSpc>
                <a:spcPts val="1158"/>
              </a:lnSpc>
              <a:spcBef>
                <a:spcPts val="0"/>
              </a:spcBef>
              <a:spcAft>
                <a:spcPts val="0"/>
              </a:spcAft>
            </a:pPr>
            <a:r>
              <a:rPr sz="900" b="1" i="0" lang="es-CO" cap="all" spc="73">
                <a:solidFill>
                  <a:srgbClr val="D97224"/>
                </a:solidFill>
                <a:latin typeface="Outfit"/>
              </a:rPr>
              <a:t>Calificación y confianza</a:t>
            </a:r>
          </a:p>
        </p:txBody>
      </p:sp>
      <p:sp>
        <p:nvSpPr>
          <p:cNvPr id="28" name="TextBox 27"/>
          <p:cNvSpPr txBox="1"/>
          <p:nvPr/>
        </p:nvSpPr>
        <p:spPr>
          <a:xfrm>
            <a:off x="620110" y="5414962"/>
            <a:ext cx="2016557" cy="231228"/>
          </a:xfrm>
          <a:prstGeom prst="rect">
            <a:avLst/>
          </a:prstGeom>
          <a:noFill/>
        </p:spPr>
        <p:txBody>
          <a:bodyPr wrap="none" lIns="0" rIns="0" tIns="0" bIns="0" anchor="t">
            <a:noAutofit/>
          </a:bodyPr>
          <a:lstStyle/>
          <a:p>
            <a:pPr algn="l">
              <a:lnSpc>
                <a:spcPts val="1820"/>
              </a:lnSpc>
              <a:spcBef>
                <a:spcPts val="0"/>
              </a:spcBef>
              <a:spcAft>
                <a:spcPts val="0"/>
              </a:spcAft>
            </a:pPr>
            <a:r>
              <a:rPr sz="1400" b="1" i="0" lang="es-CO">
                <a:solidFill>
                  <a:srgbClr val="5C3A1E"/>
                </a:solidFill>
                <a:latin typeface="Playfair Display"/>
              </a:rPr>
              <a:t>Amarillo Cálido </a:t>
            </a:r>
            <a:r>
              <a:rPr sz="900" b="0" i="0" lang="es-CO">
                <a:solidFill>
                  <a:srgbClr val="8A7860"/>
                </a:solidFill>
                <a:latin typeface="Consolas"/>
              </a:rPr>
              <a:t>#F4C430</a:t>
            </a:r>
          </a:p>
        </p:txBody>
      </p:sp>
      <p:sp>
        <p:nvSpPr>
          <p:cNvPr id="29" name="TextBox 28"/>
          <p:cNvSpPr txBox="1"/>
          <p:nvPr/>
        </p:nvSpPr>
        <p:spPr>
          <a:xfrm>
            <a:off x="620110" y="5708464"/>
            <a:ext cx="5492496" cy="423567"/>
          </a:xfrm>
          <a:prstGeom prst="rect">
            <a:avLst/>
          </a:prstGeom>
          <a:noFill/>
        </p:spPr>
        <p:txBody>
          <a:bodyPr wrap="square" lIns="0" rIns="0" tIns="0" bIns="0" anchor="t">
            <a:noAutofit/>
          </a:bodyPr>
          <a:lstStyle/>
          <a:p>
            <a:pPr algn="l">
              <a:lnSpc>
                <a:spcPts val="1667"/>
              </a:lnSpc>
              <a:spcBef>
                <a:spcPts val="0"/>
              </a:spcBef>
              <a:spcAft>
                <a:spcPts val="0"/>
              </a:spcAft>
            </a:pPr>
            <a:r>
              <a:rPr sz="1075" b="0" i="0" lang="es-CO">
                <a:solidFill>
                  <a:srgbClr val="5B4A38"/>
                </a:solidFill>
                <a:latin typeface="Outfit"/>
              </a:rPr>
              <a:t>Se usa en estrellas y sellos de reputación. Es el color más claro del sistema, por eso</a:t>
            </a:r>
            <a:br/>
            <a:r>
              <a:rPr sz="1075" b="0" i="0" lang="es-CO">
                <a:solidFill>
                  <a:srgbClr val="5B4A38"/>
                </a:solidFill>
                <a:latin typeface="Outfit"/>
              </a:rPr>
              <a:t>lleva siempre texto oscuro.</a:t>
            </a:r>
          </a:p>
        </p:txBody>
      </p:sp>
      <p:sp>
        <p:nvSpPr>
          <p:cNvPr id="30" name="Rounded Rectangle 29"/>
          <p:cNvSpPr/>
          <p:nvPr/>
        </p:nvSpPr>
        <p:spPr>
          <a:xfrm>
            <a:off x="625366" y="6221960"/>
            <a:ext cx="1644048" cy="252248"/>
          </a:xfrm>
          <a:prstGeom prst="roundRect">
            <a:avLst>
              <a:gd name="adj" fmla="val 50000"/>
            </a:avLst>
          </a:prstGeom>
          <a:solidFill>
            <a:srgbClr val="4A8C00">
              <a:alpha val="12000"/>
            </a:srgbClr>
          </a:solidFill>
          <a:ln w="10510" cap="flat">
            <a:solidFill>
              <a:srgbClr val="4A8C00">
                <a:alpha val="35000"/>
              </a:srgbClr>
            </a:solidFill>
          </a:ln>
        </p:spPr>
        <p:txBody>
          <a:bodyPr rtlCol="0" anchor="ctr"/>
          <a:lstStyle/>
          <a:p>
            <a:pPr algn="ctr"/>
          </a:p>
        </p:txBody>
      </p:sp>
      <p:sp>
        <p:nvSpPr>
          <p:cNvPr id="31" name="TextBox 30"/>
          <p:cNvSpPr txBox="1"/>
          <p:nvPr/>
        </p:nvSpPr>
        <p:spPr>
          <a:xfrm>
            <a:off x="735724" y="6279767"/>
            <a:ext cx="1565664" cy="136634"/>
          </a:xfrm>
          <a:prstGeom prst="rect">
            <a:avLst/>
          </a:prstGeom>
          <a:noFill/>
        </p:spPr>
        <p:txBody>
          <a:bodyPr wrap="none" lIns="0" rIns="0" tIns="0" bIns="0" anchor="t">
            <a:noAutofit/>
          </a:bodyPr>
          <a:lstStyle/>
          <a:p>
            <a:pPr algn="l">
              <a:lnSpc>
                <a:spcPts val="1075"/>
              </a:lnSpc>
              <a:spcBef>
                <a:spcPts val="0"/>
              </a:spcBef>
              <a:spcAft>
                <a:spcPts val="0"/>
              </a:spcAft>
            </a:pPr>
            <a:r>
              <a:rPr sz="825" b="1" i="0" lang="es-CO" cap="all" spc="41">
                <a:solidFill>
                  <a:srgbClr val="4A9C55"/>
                </a:solidFill>
                <a:latin typeface="Outfit"/>
              </a:rPr>
              <a:t>texto oscuro · 9.6:1 · AA</a:t>
            </a:r>
          </a:p>
        </p:txBody>
      </p:sp>
      <p:sp>
        <p:nvSpPr>
          <p:cNvPr id="32" name="Rounded Rectangle 31"/>
          <p:cNvSpPr/>
          <p:nvPr/>
        </p:nvSpPr>
        <p:spPr>
          <a:xfrm>
            <a:off x="6190593" y="4553114"/>
            <a:ext cx="5580993" cy="2157577"/>
          </a:xfrm>
          <a:prstGeom prst="roundRect">
            <a:avLst>
              <a:gd name="adj" fmla="val 2922"/>
            </a:avLst>
          </a:prstGeom>
          <a:solidFill>
            <a:srgbClr val="D8C39C"/>
          </a:solidFill>
          <a:ln>
            <a:noFill/>
          </a:ln>
        </p:spPr>
        <p:txBody>
          <a:bodyPr rtlCol="0" anchor="ctr"/>
          <a:lstStyle/>
          <a:p>
            <a:pPr algn="ctr"/>
          </a:p>
        </p:txBody>
      </p:sp>
      <p:sp>
        <p:nvSpPr>
          <p:cNvPr id="33" name="Rounded Rectangle 32"/>
          <p:cNvSpPr/>
          <p:nvPr/>
        </p:nvSpPr>
        <p:spPr>
          <a:xfrm>
            <a:off x="6195848" y="4526838"/>
            <a:ext cx="5570483" cy="2147066"/>
          </a:xfrm>
          <a:prstGeom prst="roundRect">
            <a:avLst>
              <a:gd name="adj" fmla="val 2692"/>
            </a:avLst>
          </a:prstGeom>
          <a:solidFill>
            <a:srgbClr val="EFE0C2"/>
          </a:solidFill>
          <a:ln w="10510" cap="flat">
            <a:solidFill>
              <a:srgbClr val="D8C39C"/>
            </a:solidFill>
          </a:ln>
        </p:spPr>
        <p:txBody>
          <a:bodyPr rtlCol="0" anchor="ctr"/>
          <a:lstStyle/>
          <a:p>
            <a:pPr algn="ctr"/>
          </a:p>
        </p:txBody>
      </p:sp>
      <p:sp>
        <p:nvSpPr>
          <p:cNvPr id="34" name="Round Same Side Corner Rectangle 33"/>
          <p:cNvSpPr/>
          <p:nvPr/>
        </p:nvSpPr>
        <p:spPr>
          <a:xfrm>
            <a:off x="6201103" y="4532094"/>
            <a:ext cx="5559972" cy="483476"/>
          </a:xfrm>
          <a:prstGeom prst="round2SameRect">
            <a:avLst>
              <a:gd name="adj1" fmla="val 10869"/>
              <a:gd name="adj2" fmla="val 0"/>
            </a:avLst>
          </a:prstGeom>
          <a:solidFill>
            <a:srgbClr val="901C21"/>
          </a:solidFill>
          <a:ln>
            <a:noFill/>
          </a:ln>
        </p:spPr>
        <p:txBody>
          <a:bodyPr rtlCol="0" anchor="ctr"/>
          <a:lstStyle/>
          <a:p>
            <a:pPr algn="ctr"/>
          </a:p>
        </p:txBody>
      </p:sp>
      <p:sp>
        <p:nvSpPr>
          <p:cNvPr id="35" name="TextBox 34"/>
          <p:cNvSpPr txBox="1"/>
          <p:nvPr/>
        </p:nvSpPr>
        <p:spPr>
          <a:xfrm>
            <a:off x="6390290" y="5183735"/>
            <a:ext cx="2593362" cy="147145"/>
          </a:xfrm>
          <a:prstGeom prst="rect">
            <a:avLst/>
          </a:prstGeom>
          <a:noFill/>
        </p:spPr>
        <p:txBody>
          <a:bodyPr wrap="none" lIns="0" rIns="0" tIns="0" bIns="0" anchor="t">
            <a:noAutofit/>
          </a:bodyPr>
          <a:lstStyle/>
          <a:p>
            <a:pPr algn="l">
              <a:lnSpc>
                <a:spcPts val="1158"/>
              </a:lnSpc>
              <a:spcBef>
                <a:spcPts val="0"/>
              </a:spcBef>
              <a:spcAft>
                <a:spcPts val="0"/>
              </a:spcAft>
            </a:pPr>
            <a:r>
              <a:rPr sz="900" b="1" i="0" lang="es-CO" cap="all" spc="73">
                <a:solidFill>
                  <a:srgbClr val="D97224"/>
                </a:solidFill>
                <a:latin typeface="Outfit"/>
              </a:rPr>
              <a:t>Personaje y momentos de marca</a:t>
            </a:r>
          </a:p>
        </p:txBody>
      </p:sp>
      <p:sp>
        <p:nvSpPr>
          <p:cNvPr id="36" name="TextBox 35"/>
          <p:cNvSpPr txBox="1"/>
          <p:nvPr/>
        </p:nvSpPr>
        <p:spPr>
          <a:xfrm>
            <a:off x="6390290" y="5414962"/>
            <a:ext cx="1665561" cy="231228"/>
          </a:xfrm>
          <a:prstGeom prst="rect">
            <a:avLst/>
          </a:prstGeom>
          <a:noFill/>
        </p:spPr>
        <p:txBody>
          <a:bodyPr wrap="none" lIns="0" rIns="0" tIns="0" bIns="0" anchor="t">
            <a:noAutofit/>
          </a:bodyPr>
          <a:lstStyle/>
          <a:p>
            <a:pPr algn="l">
              <a:lnSpc>
                <a:spcPts val="1820"/>
              </a:lnSpc>
              <a:spcBef>
                <a:spcPts val="0"/>
              </a:spcBef>
              <a:spcAft>
                <a:spcPts val="0"/>
              </a:spcAft>
            </a:pPr>
            <a:r>
              <a:rPr sz="1400" b="1" i="0" lang="es-CO">
                <a:solidFill>
                  <a:srgbClr val="5C3A1E"/>
                </a:solidFill>
                <a:latin typeface="Playfair Display"/>
              </a:rPr>
              <a:t>Vino Abuela </a:t>
            </a:r>
            <a:r>
              <a:rPr sz="900" b="0" i="0" lang="es-CO">
                <a:solidFill>
                  <a:srgbClr val="8A7860"/>
                </a:solidFill>
                <a:latin typeface="Consolas"/>
              </a:rPr>
              <a:t>#901C21</a:t>
            </a:r>
          </a:p>
        </p:txBody>
      </p:sp>
      <p:sp>
        <p:nvSpPr>
          <p:cNvPr id="37" name="TextBox 36"/>
          <p:cNvSpPr txBox="1"/>
          <p:nvPr/>
        </p:nvSpPr>
        <p:spPr>
          <a:xfrm>
            <a:off x="6390290" y="5708464"/>
            <a:ext cx="5492496" cy="423567"/>
          </a:xfrm>
          <a:prstGeom prst="rect">
            <a:avLst/>
          </a:prstGeom>
          <a:noFill/>
        </p:spPr>
        <p:txBody>
          <a:bodyPr wrap="square" lIns="0" rIns="0" tIns="0" bIns="0" anchor="t">
            <a:noAutofit/>
          </a:bodyPr>
          <a:lstStyle/>
          <a:p>
            <a:pPr algn="l">
              <a:lnSpc>
                <a:spcPts val="1667"/>
              </a:lnSpc>
              <a:spcBef>
                <a:spcPts val="0"/>
              </a:spcBef>
              <a:spcAft>
                <a:spcPts val="0"/>
              </a:spcAft>
            </a:pPr>
            <a:r>
              <a:rPr sz="1075" b="0" i="0" lang="es-CO">
                <a:solidFill>
                  <a:srgbClr val="5B4A38"/>
                </a:solidFill>
                <a:latin typeface="Outfit"/>
              </a:rPr>
              <a:t>Sale del cárdigan de la abuela. Es profundo y sobrio: da peso y calidez emocional sin</a:t>
            </a:r>
            <a:br/>
            <a:r>
              <a:rPr sz="1075" b="0" i="0" lang="es-CO">
                <a:solidFill>
                  <a:srgbClr val="5B4A38"/>
                </a:solidFill>
                <a:latin typeface="Outfit"/>
              </a:rPr>
              <a:t>parecer una alerta, y aguanta texto blanco.</a:t>
            </a:r>
          </a:p>
        </p:txBody>
      </p:sp>
      <p:sp>
        <p:nvSpPr>
          <p:cNvPr id="38" name="Rounded Rectangle 37"/>
          <p:cNvSpPr/>
          <p:nvPr/>
        </p:nvSpPr>
        <p:spPr>
          <a:xfrm>
            <a:off x="6395545" y="6221960"/>
            <a:ext cx="1638957" cy="252248"/>
          </a:xfrm>
          <a:prstGeom prst="roundRect">
            <a:avLst>
              <a:gd name="adj" fmla="val 50000"/>
            </a:avLst>
          </a:prstGeom>
          <a:solidFill>
            <a:srgbClr val="4A8C00">
              <a:alpha val="12000"/>
            </a:srgbClr>
          </a:solidFill>
          <a:ln w="10510" cap="flat">
            <a:solidFill>
              <a:srgbClr val="4A8C00">
                <a:alpha val="35000"/>
              </a:srgbClr>
            </a:solidFill>
          </a:ln>
        </p:spPr>
        <p:txBody>
          <a:bodyPr rtlCol="0" anchor="ctr"/>
          <a:lstStyle/>
          <a:p>
            <a:pPr algn="ctr"/>
          </a:p>
        </p:txBody>
      </p:sp>
      <p:sp>
        <p:nvSpPr>
          <p:cNvPr id="39" name="TextBox 38"/>
          <p:cNvSpPr txBox="1"/>
          <p:nvPr/>
        </p:nvSpPr>
        <p:spPr>
          <a:xfrm>
            <a:off x="6505903" y="6279767"/>
            <a:ext cx="1560064" cy="136634"/>
          </a:xfrm>
          <a:prstGeom prst="rect">
            <a:avLst/>
          </a:prstGeom>
          <a:noFill/>
        </p:spPr>
        <p:txBody>
          <a:bodyPr wrap="none" lIns="0" rIns="0" tIns="0" bIns="0" anchor="t">
            <a:noAutofit/>
          </a:bodyPr>
          <a:lstStyle/>
          <a:p>
            <a:pPr algn="l">
              <a:lnSpc>
                <a:spcPts val="1075"/>
              </a:lnSpc>
              <a:spcBef>
                <a:spcPts val="0"/>
              </a:spcBef>
              <a:spcAft>
                <a:spcPts val="0"/>
              </a:spcAft>
            </a:pPr>
            <a:r>
              <a:rPr sz="825" b="1" i="0" lang="es-CO" cap="all" spc="41">
                <a:solidFill>
                  <a:srgbClr val="4A9C55"/>
                </a:solidFill>
                <a:latin typeface="Outfit"/>
              </a:rPr>
              <a:t>texto blanco · 8.8:1 · AA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60075" y="414068"/>
            <a:ext cx="299049" cy="3450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874143" y="345057"/>
            <a:ext cx="290782" cy="172528"/>
          </a:xfrm>
          <a:prstGeom prst="rect">
            <a:avLst/>
          </a:prstGeom>
          <a:noFill/>
        </p:spPr>
        <p:txBody>
          <a:bodyPr wrap="none" lIns="0" rIns="0" tIns="0" bIns="0" anchor="t">
            <a:noAutofit/>
          </a:bodyPr>
          <a:lstStyle/>
          <a:p>
            <a:pPr algn="l">
              <a:lnSpc>
                <a:spcPts val="1358"/>
              </a:lnSpc>
              <a:spcBef>
                <a:spcPts val="0"/>
              </a:spcBef>
              <a:spcAft>
                <a:spcPts val="0"/>
              </a:spcAft>
            </a:pPr>
            <a:r>
              <a:rPr sz="1075" b="1" i="0" lang="es-CO" cap="all" spc="109">
                <a:solidFill>
                  <a:srgbClr val="D97224"/>
                </a:solidFill>
                <a:latin typeface="Outfit"/>
              </a:rPr>
              <a:t>08</a:t>
            </a:r>
          </a:p>
        </p:txBody>
      </p:sp>
      <p:sp>
        <p:nvSpPr>
          <p:cNvPr id="5" name="TextBox 4"/>
          <p:cNvSpPr txBox="1"/>
          <p:nvPr/>
        </p:nvSpPr>
        <p:spPr>
          <a:xfrm>
            <a:off x="1187929" y="345057"/>
            <a:ext cx="1771686" cy="172528"/>
          </a:xfrm>
          <a:prstGeom prst="rect">
            <a:avLst/>
          </a:prstGeom>
          <a:noFill/>
        </p:spPr>
        <p:txBody>
          <a:bodyPr wrap="none" lIns="0" rIns="0" tIns="0" bIns="0" anchor="t">
            <a:noAutofit/>
          </a:bodyPr>
          <a:lstStyle/>
          <a:p>
            <a:pPr algn="l">
              <a:lnSpc>
                <a:spcPts val="1358"/>
              </a:lnSpc>
              <a:spcBef>
                <a:spcPts val="0"/>
              </a:spcBef>
              <a:spcAft>
                <a:spcPts val="0"/>
              </a:spcAft>
            </a:pPr>
            <a:r>
              <a:rPr sz="1075" b="1" i="0" lang="es-CO" cap="all" spc="109">
                <a:solidFill>
                  <a:srgbClr val="5B4A38"/>
                </a:solidFill>
                <a:latin typeface="Outfit"/>
              </a:rPr>
              <a:t>/ Identidad Visual</a:t>
            </a:r>
          </a:p>
        </p:txBody>
      </p:sp>
      <p:sp>
        <p:nvSpPr>
          <p:cNvPr id="6" name="Rounded Rectangle 5"/>
          <p:cNvSpPr/>
          <p:nvPr/>
        </p:nvSpPr>
        <p:spPr>
          <a:xfrm>
            <a:off x="460075" y="897147"/>
            <a:ext cx="5532408" cy="2361122"/>
          </a:xfrm>
          <a:prstGeom prst="roundRect">
            <a:avLst>
              <a:gd name="adj" fmla="val 2922"/>
            </a:avLst>
          </a:prstGeom>
          <a:solidFill>
            <a:srgbClr val="D8C39C"/>
          </a:solidFill>
          <a:ln>
            <a:noFill/>
          </a:ln>
        </p:spPr>
        <p:txBody>
          <a:bodyPr rtlCol="0" anchor="ctr"/>
          <a:lstStyle/>
          <a:p>
            <a:pPr algn="ctr"/>
          </a:p>
        </p:txBody>
      </p:sp>
      <p:sp>
        <p:nvSpPr>
          <p:cNvPr id="7" name="Rounded Rectangle 6"/>
          <p:cNvSpPr/>
          <p:nvPr/>
        </p:nvSpPr>
        <p:spPr>
          <a:xfrm>
            <a:off x="465826" y="868392"/>
            <a:ext cx="5520906" cy="2349620"/>
          </a:xfrm>
          <a:prstGeom prst="roundRect">
            <a:avLst>
              <a:gd name="adj" fmla="val 2692"/>
            </a:avLst>
          </a:prstGeom>
          <a:solidFill>
            <a:srgbClr val="EFE0C2"/>
          </a:solidFill>
          <a:ln w="11501" cap="flat">
            <a:solidFill>
              <a:srgbClr val="D8C39C"/>
            </a:solidFill>
          </a:ln>
        </p:spPr>
        <p:txBody>
          <a:bodyPr rtlCol="0" anchor="ctr"/>
          <a:lstStyle/>
          <a:p>
            <a:pPr algn="ctr"/>
          </a:p>
        </p:txBody>
      </p:sp>
      <p:sp>
        <p:nvSpPr>
          <p:cNvPr id="8" name="Round Same Side Corner Rectangle 7"/>
          <p:cNvSpPr/>
          <p:nvPr/>
        </p:nvSpPr>
        <p:spPr>
          <a:xfrm>
            <a:off x="471577" y="874143"/>
            <a:ext cx="5509404" cy="529087"/>
          </a:xfrm>
          <a:prstGeom prst="round2SameRect">
            <a:avLst>
              <a:gd name="adj1" fmla="val 10869"/>
              <a:gd name="adj2" fmla="val 0"/>
            </a:avLst>
          </a:prstGeom>
          <a:solidFill>
            <a:srgbClr val="8B5E34"/>
          </a:solidFill>
          <a:ln>
            <a:noFill/>
          </a:ln>
        </p:spPr>
        <p:txBody>
          <a:bodyPr rtlCol="0" anchor="ctr"/>
          <a:lstStyle/>
          <a:p>
            <a:pPr algn="ctr"/>
          </a:p>
        </p:txBody>
      </p:sp>
      <p:sp>
        <p:nvSpPr>
          <p:cNvPr id="9" name="TextBox 8"/>
          <p:cNvSpPr txBox="1"/>
          <p:nvPr/>
        </p:nvSpPr>
        <p:spPr>
          <a:xfrm>
            <a:off x="678611" y="1587260"/>
            <a:ext cx="3107468" cy="161026"/>
          </a:xfrm>
          <a:prstGeom prst="rect">
            <a:avLst/>
          </a:prstGeom>
          <a:noFill/>
        </p:spPr>
        <p:txBody>
          <a:bodyPr wrap="none" lIns="0" rIns="0" tIns="0" bIns="0" anchor="t">
            <a:noAutofit/>
          </a:bodyPr>
          <a:lstStyle/>
          <a:p>
            <a:pPr algn="l">
              <a:lnSpc>
                <a:spcPts val="1267"/>
              </a:lnSpc>
              <a:spcBef>
                <a:spcPts val="0"/>
              </a:spcBef>
              <a:spcAft>
                <a:spcPts val="0"/>
              </a:spcAft>
            </a:pPr>
            <a:r>
              <a:rPr sz="1000" b="1" i="0" lang="es-CO" cap="all" spc="80">
                <a:solidFill>
                  <a:srgbClr val="D97224"/>
                </a:solidFill>
                <a:latin typeface="Outfit"/>
              </a:rPr>
              <a:t>Contornos de tarjeta y superficies</a:t>
            </a:r>
          </a:p>
        </p:txBody>
      </p:sp>
      <p:sp>
        <p:nvSpPr>
          <p:cNvPr id="10" name="TextBox 9"/>
          <p:cNvSpPr txBox="1"/>
          <p:nvPr/>
        </p:nvSpPr>
        <p:spPr>
          <a:xfrm>
            <a:off x="678611" y="1840302"/>
            <a:ext cx="2079487" cy="253042"/>
          </a:xfrm>
          <a:prstGeom prst="rect">
            <a:avLst/>
          </a:prstGeom>
          <a:noFill/>
        </p:spPr>
        <p:txBody>
          <a:bodyPr wrap="none" lIns="0" rIns="0" tIns="0" bIns="0" anchor="t">
            <a:noAutofit/>
          </a:bodyPr>
          <a:lstStyle/>
          <a:p>
            <a:pPr algn="l">
              <a:lnSpc>
                <a:spcPts val="1992"/>
              </a:lnSpc>
              <a:spcBef>
                <a:spcPts val="0"/>
              </a:spcBef>
              <a:spcAft>
                <a:spcPts val="0"/>
              </a:spcAft>
            </a:pPr>
            <a:r>
              <a:rPr sz="1550" b="1" i="0" lang="es-CO">
                <a:solidFill>
                  <a:srgbClr val="5C3A1E"/>
                </a:solidFill>
                <a:latin typeface="Playfair Display"/>
              </a:rPr>
              <a:t>Madera Cálida </a:t>
            </a:r>
            <a:r>
              <a:rPr sz="1000" b="0" i="0" lang="es-CO">
                <a:solidFill>
                  <a:srgbClr val="8A7860"/>
                </a:solidFill>
                <a:latin typeface="Consolas"/>
              </a:rPr>
              <a:t>#8B5E34</a:t>
            </a:r>
          </a:p>
        </p:txBody>
      </p:sp>
      <p:sp>
        <p:nvSpPr>
          <p:cNvPr id="11" name="TextBox 10"/>
          <p:cNvSpPr txBox="1"/>
          <p:nvPr/>
        </p:nvSpPr>
        <p:spPr>
          <a:xfrm>
            <a:off x="678611" y="2161492"/>
            <a:ext cx="5401056" cy="463526"/>
          </a:xfrm>
          <a:prstGeom prst="rect">
            <a:avLst/>
          </a:prstGeom>
          <a:noFill/>
        </p:spPr>
        <p:txBody>
          <a:bodyPr wrap="square" lIns="0" rIns="0" tIns="0" bIns="0" anchor="t">
            <a:noAutofit/>
          </a:bodyPr>
          <a:lstStyle/>
          <a:p>
            <a:pPr algn="l">
              <a:lnSpc>
                <a:spcPts val="1824"/>
              </a:lnSpc>
              <a:spcBef>
                <a:spcPts val="0"/>
              </a:spcBef>
              <a:spcAft>
                <a:spcPts val="0"/>
              </a:spcAft>
            </a:pPr>
            <a:r>
              <a:rPr sz="1175" b="0" i="0" lang="es-CO">
                <a:solidFill>
                  <a:srgbClr val="5B4A38"/>
                </a:solidFill>
                <a:latin typeface="Outfit"/>
              </a:rPr>
              <a:t>Evoca mesas y utensilios de cocina. Enmarca las tarjetas sin el frío de un gris</a:t>
            </a:r>
            <a:br/>
            <a:r>
              <a:rPr sz="1175" b="0" i="0" lang="es-CO">
                <a:solidFill>
                  <a:srgbClr val="5B4A38"/>
                </a:solidFill>
                <a:latin typeface="Outfit"/>
              </a:rPr>
              <a:t>y mantiene el ambiente hogareño.</a:t>
            </a:r>
          </a:p>
        </p:txBody>
      </p:sp>
      <p:sp>
        <p:nvSpPr>
          <p:cNvPr id="12" name="Rounded Rectangle 11"/>
          <p:cNvSpPr/>
          <p:nvPr/>
        </p:nvSpPr>
        <p:spPr>
          <a:xfrm>
            <a:off x="684362" y="2723431"/>
            <a:ext cx="1790700" cy="276045"/>
          </a:xfrm>
          <a:prstGeom prst="roundRect">
            <a:avLst>
              <a:gd name="adj" fmla="val 50000"/>
            </a:avLst>
          </a:prstGeom>
          <a:solidFill>
            <a:srgbClr val="4A8C00">
              <a:alpha val="12000"/>
            </a:srgbClr>
          </a:solidFill>
          <a:ln w="11501" cap="flat">
            <a:solidFill>
              <a:srgbClr val="4A8C00">
                <a:alpha val="35000"/>
              </a:srgbClr>
            </a:solidFill>
          </a:ln>
        </p:spPr>
        <p:txBody>
          <a:bodyPr rtlCol="0" anchor="ctr"/>
          <a:lstStyle/>
          <a:p>
            <a:pPr algn="ctr"/>
          </a:p>
        </p:txBody>
      </p:sp>
      <p:sp>
        <p:nvSpPr>
          <p:cNvPr id="13" name="TextBox 12"/>
          <p:cNvSpPr txBox="1"/>
          <p:nvPr/>
        </p:nvSpPr>
        <p:spPr>
          <a:xfrm>
            <a:off x="805132" y="2786692"/>
            <a:ext cx="1704076" cy="149525"/>
          </a:xfrm>
          <a:prstGeom prst="rect">
            <a:avLst/>
          </a:prstGeom>
          <a:noFill/>
        </p:spPr>
        <p:txBody>
          <a:bodyPr wrap="none" lIns="0" rIns="0" tIns="0" bIns="0" anchor="t">
            <a:noAutofit/>
          </a:bodyPr>
          <a:lstStyle/>
          <a:p>
            <a:pPr algn="l">
              <a:lnSpc>
                <a:spcPts val="1177"/>
              </a:lnSpc>
              <a:spcBef>
                <a:spcPts val="0"/>
              </a:spcBef>
              <a:spcAft>
                <a:spcPts val="0"/>
              </a:spcAft>
            </a:pPr>
            <a:r>
              <a:rPr sz="900" b="1" i="0" lang="es-CO" cap="all" spc="45">
                <a:solidFill>
                  <a:srgbClr val="4A9C55"/>
                </a:solidFill>
                <a:latin typeface="Outfit"/>
              </a:rPr>
              <a:t>texto blanco · 5.6:1 · AA</a:t>
            </a:r>
          </a:p>
        </p:txBody>
      </p:sp>
      <p:sp>
        <p:nvSpPr>
          <p:cNvPr id="14" name="Rounded Rectangle 13"/>
          <p:cNvSpPr/>
          <p:nvPr/>
        </p:nvSpPr>
        <p:spPr>
          <a:xfrm>
            <a:off x="6199517" y="897147"/>
            <a:ext cx="5532408" cy="2361122"/>
          </a:xfrm>
          <a:prstGeom prst="roundRect">
            <a:avLst>
              <a:gd name="adj" fmla="val 2922"/>
            </a:avLst>
          </a:prstGeom>
          <a:solidFill>
            <a:srgbClr val="D8C39C"/>
          </a:solidFill>
          <a:ln>
            <a:noFill/>
          </a:ln>
        </p:spPr>
        <p:txBody>
          <a:bodyPr rtlCol="0" anchor="ctr"/>
          <a:lstStyle/>
          <a:p>
            <a:pPr algn="ctr"/>
          </a:p>
        </p:txBody>
      </p:sp>
      <p:sp>
        <p:nvSpPr>
          <p:cNvPr id="15" name="Rounded Rectangle 14"/>
          <p:cNvSpPr/>
          <p:nvPr/>
        </p:nvSpPr>
        <p:spPr>
          <a:xfrm>
            <a:off x="6205268" y="868392"/>
            <a:ext cx="5520906" cy="2349620"/>
          </a:xfrm>
          <a:prstGeom prst="roundRect">
            <a:avLst>
              <a:gd name="adj" fmla="val 2692"/>
            </a:avLst>
          </a:prstGeom>
          <a:solidFill>
            <a:srgbClr val="EFE0C2"/>
          </a:solidFill>
          <a:ln w="11501" cap="flat">
            <a:solidFill>
              <a:srgbClr val="D8C39C"/>
            </a:solidFill>
          </a:ln>
        </p:spPr>
        <p:txBody>
          <a:bodyPr rtlCol="0" anchor="ctr"/>
          <a:lstStyle/>
          <a:p>
            <a:pPr algn="ctr"/>
          </a:p>
        </p:txBody>
      </p:sp>
      <p:sp>
        <p:nvSpPr>
          <p:cNvPr id="16" name="Round Same Side Corner Rectangle 15"/>
          <p:cNvSpPr/>
          <p:nvPr/>
        </p:nvSpPr>
        <p:spPr>
          <a:xfrm>
            <a:off x="6211019" y="874143"/>
            <a:ext cx="5509404" cy="529087"/>
          </a:xfrm>
          <a:prstGeom prst="round2SameRect">
            <a:avLst>
              <a:gd name="adj1" fmla="val 10869"/>
              <a:gd name="adj2" fmla="val 0"/>
            </a:avLst>
          </a:prstGeom>
          <a:solidFill>
            <a:srgbClr val="C84B31"/>
          </a:solidFill>
          <a:ln>
            <a:noFill/>
          </a:ln>
        </p:spPr>
        <p:txBody>
          <a:bodyPr rtlCol="0" anchor="ctr"/>
          <a:lstStyle/>
          <a:p>
            <a:pPr algn="ctr"/>
          </a:p>
        </p:txBody>
      </p:sp>
      <p:sp>
        <p:nvSpPr>
          <p:cNvPr id="17" name="TextBox 16"/>
          <p:cNvSpPr txBox="1"/>
          <p:nvPr/>
        </p:nvSpPr>
        <p:spPr>
          <a:xfrm>
            <a:off x="6418053" y="1587260"/>
            <a:ext cx="2553940" cy="161026"/>
          </a:xfrm>
          <a:prstGeom prst="rect">
            <a:avLst/>
          </a:prstGeom>
          <a:noFill/>
        </p:spPr>
        <p:txBody>
          <a:bodyPr wrap="none" lIns="0" rIns="0" tIns="0" bIns="0" anchor="t">
            <a:noAutofit/>
          </a:bodyPr>
          <a:lstStyle/>
          <a:p>
            <a:pPr algn="l">
              <a:lnSpc>
                <a:spcPts val="1267"/>
              </a:lnSpc>
              <a:spcBef>
                <a:spcPts val="0"/>
              </a:spcBef>
              <a:spcAft>
                <a:spcPts val="0"/>
              </a:spcAft>
            </a:pPr>
            <a:r>
              <a:rPr sz="1000" b="1" i="0" lang="es-CO" cap="all" spc="80">
                <a:solidFill>
                  <a:srgbClr val="D97224"/>
                </a:solidFill>
                <a:latin typeface="Outfit"/>
              </a:rPr>
              <a:t>Foco y acciones de búsqueda</a:t>
            </a:r>
          </a:p>
        </p:txBody>
      </p:sp>
      <p:sp>
        <p:nvSpPr>
          <p:cNvPr id="18" name="TextBox 17"/>
          <p:cNvSpPr txBox="1"/>
          <p:nvPr/>
        </p:nvSpPr>
        <p:spPr>
          <a:xfrm>
            <a:off x="6418053" y="1840302"/>
            <a:ext cx="2343599" cy="253042"/>
          </a:xfrm>
          <a:prstGeom prst="rect">
            <a:avLst/>
          </a:prstGeom>
          <a:noFill/>
        </p:spPr>
        <p:txBody>
          <a:bodyPr wrap="none" lIns="0" rIns="0" tIns="0" bIns="0" anchor="t">
            <a:noAutofit/>
          </a:bodyPr>
          <a:lstStyle/>
          <a:p>
            <a:pPr algn="l">
              <a:lnSpc>
                <a:spcPts val="1992"/>
              </a:lnSpc>
              <a:spcBef>
                <a:spcPts val="0"/>
              </a:spcBef>
              <a:spcAft>
                <a:spcPts val="0"/>
              </a:spcAft>
            </a:pPr>
            <a:r>
              <a:rPr sz="1550" b="1" i="0" lang="es-CO">
                <a:solidFill>
                  <a:srgbClr val="5C3A1E"/>
                </a:solidFill>
                <a:latin typeface="Playfair Display"/>
              </a:rPr>
              <a:t>Terracota Buscar </a:t>
            </a:r>
            <a:r>
              <a:rPr sz="1000" b="0" i="0" lang="es-CO">
                <a:solidFill>
                  <a:srgbClr val="8A7860"/>
                </a:solidFill>
                <a:latin typeface="Consolas"/>
              </a:rPr>
              <a:t>#C84B31</a:t>
            </a:r>
          </a:p>
        </p:txBody>
      </p:sp>
      <p:sp>
        <p:nvSpPr>
          <p:cNvPr id="19" name="TextBox 18"/>
          <p:cNvSpPr txBox="1"/>
          <p:nvPr/>
        </p:nvSpPr>
        <p:spPr>
          <a:xfrm>
            <a:off x="6418053" y="2161492"/>
            <a:ext cx="5401056" cy="463526"/>
          </a:xfrm>
          <a:prstGeom prst="rect">
            <a:avLst/>
          </a:prstGeom>
          <a:noFill/>
        </p:spPr>
        <p:txBody>
          <a:bodyPr wrap="square" lIns="0" rIns="0" tIns="0" bIns="0" anchor="t">
            <a:noAutofit/>
          </a:bodyPr>
          <a:lstStyle/>
          <a:p>
            <a:pPr algn="l">
              <a:lnSpc>
                <a:spcPts val="1824"/>
              </a:lnSpc>
              <a:spcBef>
                <a:spcPts val="0"/>
              </a:spcBef>
              <a:spcAft>
                <a:spcPts val="0"/>
              </a:spcAft>
            </a:pPr>
            <a:r>
              <a:rPr sz="1175" b="0" i="0" lang="es-CO">
                <a:solidFill>
                  <a:srgbClr val="5B4A38"/>
                </a:solidFill>
                <a:latin typeface="Outfit"/>
              </a:rPr>
              <a:t>Es hermano del naranja pero más apagado: marca el foco de búsqueda sin</a:t>
            </a:r>
            <a:br/>
            <a:r>
              <a:rPr sz="1175" b="0" i="0" lang="es-CO">
                <a:solidFill>
                  <a:srgbClr val="5B4A38"/>
                </a:solidFill>
                <a:latin typeface="Outfit"/>
              </a:rPr>
              <a:t>confundirse con el botón de reservar.</a:t>
            </a:r>
          </a:p>
        </p:txBody>
      </p:sp>
      <p:sp>
        <p:nvSpPr>
          <p:cNvPr id="20" name="Rounded Rectangle 19"/>
          <p:cNvSpPr/>
          <p:nvPr/>
        </p:nvSpPr>
        <p:spPr>
          <a:xfrm>
            <a:off x="6423804" y="2723431"/>
            <a:ext cx="1785848" cy="276045"/>
          </a:xfrm>
          <a:prstGeom prst="roundRect">
            <a:avLst>
              <a:gd name="adj" fmla="val 50000"/>
            </a:avLst>
          </a:prstGeom>
          <a:solidFill>
            <a:srgbClr val="4A8C00">
              <a:alpha val="12000"/>
            </a:srgbClr>
          </a:solidFill>
          <a:ln w="11501" cap="flat">
            <a:solidFill>
              <a:srgbClr val="4A8C00">
                <a:alpha val="35000"/>
              </a:srgbClr>
            </a:solidFill>
          </a:ln>
        </p:spPr>
        <p:txBody>
          <a:bodyPr rtlCol="0" anchor="ctr"/>
          <a:lstStyle/>
          <a:p>
            <a:pPr algn="ctr"/>
          </a:p>
        </p:txBody>
      </p:sp>
      <p:sp>
        <p:nvSpPr>
          <p:cNvPr id="21" name="TextBox 20"/>
          <p:cNvSpPr txBox="1"/>
          <p:nvPr/>
        </p:nvSpPr>
        <p:spPr>
          <a:xfrm>
            <a:off x="6544574" y="2786692"/>
            <a:ext cx="1698739" cy="149525"/>
          </a:xfrm>
          <a:prstGeom prst="rect">
            <a:avLst/>
          </a:prstGeom>
          <a:noFill/>
        </p:spPr>
        <p:txBody>
          <a:bodyPr wrap="none" lIns="0" rIns="0" tIns="0" bIns="0" anchor="t">
            <a:noAutofit/>
          </a:bodyPr>
          <a:lstStyle/>
          <a:p>
            <a:pPr algn="l">
              <a:lnSpc>
                <a:spcPts val="1177"/>
              </a:lnSpc>
              <a:spcBef>
                <a:spcPts val="0"/>
              </a:spcBef>
              <a:spcAft>
                <a:spcPts val="0"/>
              </a:spcAft>
            </a:pPr>
            <a:r>
              <a:rPr sz="900" b="1" i="0" lang="es-CO" cap="all" spc="45">
                <a:solidFill>
                  <a:srgbClr val="4A9C55"/>
                </a:solidFill>
                <a:latin typeface="Outfit"/>
              </a:rPr>
              <a:t>texto blanco · 4.7:1 · AA</a:t>
            </a:r>
          </a:p>
        </p:txBody>
      </p:sp>
      <p:sp>
        <p:nvSpPr>
          <p:cNvPr id="22" name="Rounded Rectangle 21"/>
          <p:cNvSpPr/>
          <p:nvPr/>
        </p:nvSpPr>
        <p:spPr>
          <a:xfrm>
            <a:off x="460075" y="3465303"/>
            <a:ext cx="5532408" cy="2361122"/>
          </a:xfrm>
          <a:prstGeom prst="roundRect">
            <a:avLst>
              <a:gd name="adj" fmla="val 2922"/>
            </a:avLst>
          </a:prstGeom>
          <a:solidFill>
            <a:srgbClr val="D8C39C"/>
          </a:solidFill>
          <a:ln>
            <a:noFill/>
          </a:ln>
        </p:spPr>
        <p:txBody>
          <a:bodyPr rtlCol="0" anchor="ctr"/>
          <a:lstStyle/>
          <a:p>
            <a:pPr algn="ctr"/>
          </a:p>
        </p:txBody>
      </p:sp>
      <p:sp>
        <p:nvSpPr>
          <p:cNvPr id="23" name="Rounded Rectangle 22"/>
          <p:cNvSpPr/>
          <p:nvPr/>
        </p:nvSpPr>
        <p:spPr>
          <a:xfrm>
            <a:off x="465826" y="3436548"/>
            <a:ext cx="5520906" cy="2349620"/>
          </a:xfrm>
          <a:prstGeom prst="roundRect">
            <a:avLst>
              <a:gd name="adj" fmla="val 2692"/>
            </a:avLst>
          </a:prstGeom>
          <a:solidFill>
            <a:srgbClr val="EFE0C2"/>
          </a:solidFill>
          <a:ln w="11501" cap="flat">
            <a:solidFill>
              <a:srgbClr val="D8C39C"/>
            </a:solidFill>
          </a:ln>
        </p:spPr>
        <p:txBody>
          <a:bodyPr rtlCol="0" anchor="ctr"/>
          <a:lstStyle/>
          <a:p>
            <a:pPr algn="ctr"/>
          </a:p>
        </p:txBody>
      </p:sp>
      <p:sp>
        <p:nvSpPr>
          <p:cNvPr id="24" name="Round Same Side Corner Rectangle 23"/>
          <p:cNvSpPr/>
          <p:nvPr/>
        </p:nvSpPr>
        <p:spPr>
          <a:xfrm>
            <a:off x="471577" y="3442299"/>
            <a:ext cx="5509404" cy="529087"/>
          </a:xfrm>
          <a:prstGeom prst="round2SameRect">
            <a:avLst>
              <a:gd name="adj1" fmla="val 10869"/>
              <a:gd name="adj2" fmla="val 0"/>
            </a:avLst>
          </a:prstGeom>
          <a:solidFill>
            <a:srgbClr val="A855F7"/>
          </a:solidFill>
          <a:ln>
            <a:noFill/>
          </a:ln>
        </p:spPr>
        <p:txBody>
          <a:bodyPr rtlCol="0" anchor="ctr"/>
          <a:lstStyle/>
          <a:p>
            <a:pPr algn="ctr"/>
          </a:p>
        </p:txBody>
      </p:sp>
      <p:sp>
        <p:nvSpPr>
          <p:cNvPr id="25" name="TextBox 24"/>
          <p:cNvSpPr txBox="1"/>
          <p:nvPr/>
        </p:nvSpPr>
        <p:spPr>
          <a:xfrm>
            <a:off x="678611" y="4155416"/>
            <a:ext cx="1907103" cy="161026"/>
          </a:xfrm>
          <a:prstGeom prst="rect">
            <a:avLst/>
          </a:prstGeom>
          <a:noFill/>
        </p:spPr>
        <p:txBody>
          <a:bodyPr wrap="none" lIns="0" rIns="0" tIns="0" bIns="0" anchor="t">
            <a:noAutofit/>
          </a:bodyPr>
          <a:lstStyle/>
          <a:p>
            <a:pPr algn="l">
              <a:lnSpc>
                <a:spcPts val="1267"/>
              </a:lnSpc>
              <a:spcBef>
                <a:spcPts val="0"/>
              </a:spcBef>
              <a:spcAft>
                <a:spcPts val="0"/>
              </a:spcAft>
            </a:pPr>
            <a:r>
              <a:rPr sz="1000" b="1" i="0" lang="es-CO" cap="all" spc="80">
                <a:solidFill>
                  <a:srgbClr val="D97224"/>
                </a:solidFill>
                <a:latin typeface="Outfit"/>
              </a:rPr>
              <a:t>Rol de administrador</a:t>
            </a:r>
          </a:p>
        </p:txBody>
      </p:sp>
      <p:sp>
        <p:nvSpPr>
          <p:cNvPr id="26" name="TextBox 25"/>
          <p:cNvSpPr txBox="1"/>
          <p:nvPr/>
        </p:nvSpPr>
        <p:spPr>
          <a:xfrm>
            <a:off x="678611" y="4408458"/>
            <a:ext cx="2183867" cy="253042"/>
          </a:xfrm>
          <a:prstGeom prst="rect">
            <a:avLst/>
          </a:prstGeom>
          <a:noFill/>
        </p:spPr>
        <p:txBody>
          <a:bodyPr wrap="none" lIns="0" rIns="0" tIns="0" bIns="0" anchor="t">
            <a:noAutofit/>
          </a:bodyPr>
          <a:lstStyle/>
          <a:p>
            <a:pPr algn="l">
              <a:lnSpc>
                <a:spcPts val="1992"/>
              </a:lnSpc>
              <a:spcBef>
                <a:spcPts val="0"/>
              </a:spcBef>
              <a:spcAft>
                <a:spcPts val="0"/>
              </a:spcAft>
            </a:pPr>
            <a:r>
              <a:rPr sz="1550" b="1" i="0" lang="es-CO">
                <a:solidFill>
                  <a:srgbClr val="5C3A1E"/>
                </a:solidFill>
                <a:latin typeface="Playfair Display"/>
              </a:rPr>
              <a:t>Púrpura Admin </a:t>
            </a:r>
            <a:r>
              <a:rPr sz="1000" b="0" i="0" lang="es-CO">
                <a:solidFill>
                  <a:srgbClr val="8A7860"/>
                </a:solidFill>
                <a:latin typeface="Consolas"/>
              </a:rPr>
              <a:t>#A855F7</a:t>
            </a:r>
          </a:p>
        </p:txBody>
      </p:sp>
      <p:sp>
        <p:nvSpPr>
          <p:cNvPr id="27" name="TextBox 26"/>
          <p:cNvSpPr txBox="1"/>
          <p:nvPr/>
        </p:nvSpPr>
        <p:spPr>
          <a:xfrm>
            <a:off x="678611" y="4729648"/>
            <a:ext cx="5401056" cy="463526"/>
          </a:xfrm>
          <a:prstGeom prst="rect">
            <a:avLst/>
          </a:prstGeom>
          <a:noFill/>
        </p:spPr>
        <p:txBody>
          <a:bodyPr wrap="square" lIns="0" rIns="0" tIns="0" bIns="0" anchor="t">
            <a:noAutofit/>
          </a:bodyPr>
          <a:lstStyle/>
          <a:p>
            <a:pPr algn="l">
              <a:lnSpc>
                <a:spcPts val="1824"/>
              </a:lnSpc>
              <a:spcBef>
                <a:spcPts val="0"/>
              </a:spcBef>
              <a:spcAft>
                <a:spcPts val="0"/>
              </a:spcAft>
            </a:pPr>
            <a:r>
              <a:rPr sz="1175" b="0" i="0" lang="es-CO">
                <a:solidFill>
                  <a:srgbClr val="5B4A38"/>
                </a:solidFill>
                <a:latin typeface="Outfit"/>
              </a:rPr>
              <a:t>Está fuera de la paleta cálida a propósito: separa el panel de administración</a:t>
            </a:r>
            <a:br/>
            <a:r>
              <a:rPr sz="1175" b="0" i="0" lang="es-CO">
                <a:solidFill>
                  <a:srgbClr val="5B4A38"/>
                </a:solidFill>
                <a:latin typeface="Outfit"/>
              </a:rPr>
              <a:t>de la experiencia de comprador y cocinera, y reduce errores de contexto.</a:t>
            </a:r>
          </a:p>
        </p:txBody>
      </p:sp>
      <p:sp>
        <p:nvSpPr>
          <p:cNvPr id="28" name="Rounded Rectangle 27"/>
          <p:cNvSpPr/>
          <p:nvPr/>
        </p:nvSpPr>
        <p:spPr>
          <a:xfrm>
            <a:off x="684362" y="5291587"/>
            <a:ext cx="2968745" cy="276045"/>
          </a:xfrm>
          <a:prstGeom prst="roundRect">
            <a:avLst>
              <a:gd name="adj" fmla="val 50000"/>
            </a:avLst>
          </a:prstGeom>
          <a:solidFill>
            <a:srgbClr val="FF6600">
              <a:alpha val="12000"/>
            </a:srgbClr>
          </a:solidFill>
          <a:ln w="11501" cap="flat">
            <a:solidFill>
              <a:srgbClr val="FF6600">
                <a:alpha val="35000"/>
              </a:srgbClr>
            </a:solidFill>
          </a:ln>
        </p:spPr>
        <p:txBody>
          <a:bodyPr rtlCol="0" anchor="ctr"/>
          <a:lstStyle/>
          <a:p>
            <a:pPr algn="ctr"/>
          </a:p>
        </p:txBody>
      </p:sp>
      <p:sp>
        <p:nvSpPr>
          <p:cNvPr id="29" name="TextBox 28"/>
          <p:cNvSpPr txBox="1"/>
          <p:nvPr/>
        </p:nvSpPr>
        <p:spPr>
          <a:xfrm>
            <a:off x="805132" y="5354847"/>
            <a:ext cx="2999926" cy="149525"/>
          </a:xfrm>
          <a:prstGeom prst="rect">
            <a:avLst/>
          </a:prstGeom>
          <a:noFill/>
        </p:spPr>
        <p:txBody>
          <a:bodyPr wrap="none" lIns="0" rIns="0" tIns="0" bIns="0" anchor="t">
            <a:noAutofit/>
          </a:bodyPr>
          <a:lstStyle/>
          <a:p>
            <a:pPr algn="l">
              <a:lnSpc>
                <a:spcPts val="1177"/>
              </a:lnSpc>
              <a:spcBef>
                <a:spcPts val="0"/>
              </a:spcBef>
              <a:spcAft>
                <a:spcPts val="0"/>
              </a:spcAft>
            </a:pPr>
            <a:r>
              <a:rPr sz="900" b="1" i="0" lang="es-CO" cap="all" spc="45">
                <a:solidFill>
                  <a:srgbClr val="D97224"/>
                </a:solidFill>
                <a:latin typeface="Outfit"/>
              </a:rPr>
              <a:t>texto oscuro · 4.0:1 · solo texto grande</a:t>
            </a:r>
          </a:p>
        </p:txBody>
      </p:sp>
      <p:sp>
        <p:nvSpPr>
          <p:cNvPr id="30" name="Rounded Rectangle 29"/>
          <p:cNvSpPr/>
          <p:nvPr/>
        </p:nvSpPr>
        <p:spPr>
          <a:xfrm>
            <a:off x="6199517" y="3465303"/>
            <a:ext cx="5532408" cy="2361122"/>
          </a:xfrm>
          <a:prstGeom prst="roundRect">
            <a:avLst>
              <a:gd name="adj" fmla="val 2922"/>
            </a:avLst>
          </a:prstGeom>
          <a:solidFill>
            <a:srgbClr val="D8C39C"/>
          </a:solidFill>
          <a:ln>
            <a:noFill/>
          </a:ln>
        </p:spPr>
        <p:txBody>
          <a:bodyPr rtlCol="0" anchor="ctr"/>
          <a:lstStyle/>
          <a:p>
            <a:pPr algn="ctr"/>
          </a:p>
        </p:txBody>
      </p:sp>
      <p:sp>
        <p:nvSpPr>
          <p:cNvPr id="31" name="Rounded Rectangle 30"/>
          <p:cNvSpPr/>
          <p:nvPr/>
        </p:nvSpPr>
        <p:spPr>
          <a:xfrm>
            <a:off x="6205268" y="3436548"/>
            <a:ext cx="5520906" cy="2349620"/>
          </a:xfrm>
          <a:prstGeom prst="roundRect">
            <a:avLst>
              <a:gd name="adj" fmla="val 2692"/>
            </a:avLst>
          </a:prstGeom>
          <a:solidFill>
            <a:srgbClr val="EFE0C2"/>
          </a:solidFill>
          <a:ln w="11501" cap="flat">
            <a:solidFill>
              <a:srgbClr val="D8C39C"/>
            </a:solidFill>
          </a:ln>
        </p:spPr>
        <p:txBody>
          <a:bodyPr rtlCol="0" anchor="ctr"/>
          <a:lstStyle/>
          <a:p>
            <a:pPr algn="ctr"/>
          </a:p>
        </p:txBody>
      </p:sp>
      <p:sp>
        <p:nvSpPr>
          <p:cNvPr id="32" name="Round Same Side Corner Rectangle 31"/>
          <p:cNvSpPr/>
          <p:nvPr/>
        </p:nvSpPr>
        <p:spPr>
          <a:xfrm>
            <a:off x="6211019" y="3442299"/>
            <a:ext cx="5509404" cy="529087"/>
          </a:xfrm>
          <a:prstGeom prst="round2SameRect">
            <a:avLst>
              <a:gd name="adj1" fmla="val 10869"/>
              <a:gd name="adj2" fmla="val 0"/>
            </a:avLst>
          </a:prstGeom>
          <a:solidFill>
            <a:srgbClr val="E5484D"/>
          </a:solidFill>
          <a:ln>
            <a:noFill/>
          </a:ln>
        </p:spPr>
        <p:txBody>
          <a:bodyPr rtlCol="0" anchor="ctr"/>
          <a:lstStyle/>
          <a:p>
            <a:pPr algn="ctr"/>
          </a:p>
        </p:txBody>
      </p:sp>
      <p:sp>
        <p:nvSpPr>
          <p:cNvPr id="33" name="TextBox 32"/>
          <p:cNvSpPr txBox="1"/>
          <p:nvPr/>
        </p:nvSpPr>
        <p:spPr>
          <a:xfrm>
            <a:off x="6418053" y="4155416"/>
            <a:ext cx="2035205" cy="161026"/>
          </a:xfrm>
          <a:prstGeom prst="rect">
            <a:avLst/>
          </a:prstGeom>
          <a:noFill/>
        </p:spPr>
        <p:txBody>
          <a:bodyPr wrap="none" lIns="0" rIns="0" tIns="0" bIns="0" anchor="t">
            <a:noAutofit/>
          </a:bodyPr>
          <a:lstStyle/>
          <a:p>
            <a:pPr algn="l">
              <a:lnSpc>
                <a:spcPts val="1267"/>
              </a:lnSpc>
              <a:spcBef>
                <a:spcPts val="0"/>
              </a:spcBef>
              <a:spcAft>
                <a:spcPts val="0"/>
              </a:spcAft>
            </a:pPr>
            <a:r>
              <a:rPr sz="1000" b="1" i="0" lang="es-CO" cap="all" spc="80">
                <a:solidFill>
                  <a:srgbClr val="D97224"/>
                </a:solidFill>
                <a:latin typeface="Outfit"/>
              </a:rPr>
              <a:t>Errores y validaciones</a:t>
            </a:r>
          </a:p>
        </p:txBody>
      </p:sp>
      <p:sp>
        <p:nvSpPr>
          <p:cNvPr id="34" name="TextBox 33"/>
          <p:cNvSpPr txBox="1"/>
          <p:nvPr/>
        </p:nvSpPr>
        <p:spPr>
          <a:xfrm>
            <a:off x="6418053" y="4408458"/>
            <a:ext cx="1188504" cy="253042"/>
          </a:xfrm>
          <a:prstGeom prst="rect">
            <a:avLst/>
          </a:prstGeom>
          <a:noFill/>
        </p:spPr>
        <p:txBody>
          <a:bodyPr wrap="none" lIns="0" rIns="0" tIns="0" bIns="0" anchor="t">
            <a:noAutofit/>
          </a:bodyPr>
          <a:lstStyle/>
          <a:p>
            <a:pPr algn="l">
              <a:lnSpc>
                <a:spcPts val="1992"/>
              </a:lnSpc>
              <a:spcBef>
                <a:spcPts val="0"/>
              </a:spcBef>
              <a:spcAft>
                <a:spcPts val="0"/>
              </a:spcAft>
            </a:pPr>
            <a:r>
              <a:rPr sz="1550" b="1" i="0" lang="es-CO">
                <a:solidFill>
                  <a:srgbClr val="5C3A1E"/>
                </a:solidFill>
                <a:latin typeface="Playfair Display"/>
              </a:rPr>
              <a:t>Error </a:t>
            </a:r>
            <a:r>
              <a:rPr sz="1000" b="0" i="0" lang="es-CO">
                <a:solidFill>
                  <a:srgbClr val="8A7860"/>
                </a:solidFill>
                <a:latin typeface="Consolas"/>
              </a:rPr>
              <a:t>#E5484D</a:t>
            </a:r>
          </a:p>
        </p:txBody>
      </p:sp>
      <p:sp>
        <p:nvSpPr>
          <p:cNvPr id="35" name="TextBox 34"/>
          <p:cNvSpPr txBox="1"/>
          <p:nvPr/>
        </p:nvSpPr>
        <p:spPr>
          <a:xfrm>
            <a:off x="6418053" y="4729648"/>
            <a:ext cx="5401056" cy="463526"/>
          </a:xfrm>
          <a:prstGeom prst="rect">
            <a:avLst/>
          </a:prstGeom>
          <a:noFill/>
        </p:spPr>
        <p:txBody>
          <a:bodyPr wrap="square" lIns="0" rIns="0" tIns="0" bIns="0" anchor="t">
            <a:noAutofit/>
          </a:bodyPr>
          <a:lstStyle/>
          <a:p>
            <a:pPr algn="l">
              <a:lnSpc>
                <a:spcPts val="1824"/>
              </a:lnSpc>
              <a:spcBef>
                <a:spcPts val="0"/>
              </a:spcBef>
              <a:spcAft>
                <a:spcPts val="0"/>
              </a:spcAft>
            </a:pPr>
            <a:r>
              <a:rPr sz="1175" b="0" i="0" lang="es-CO">
                <a:solidFill>
                  <a:srgbClr val="5B4A38"/>
                </a:solidFill>
                <a:latin typeface="Outfit"/>
              </a:rPr>
              <a:t>Rojo reconocible por convención, más vivo que el Vino para que un error no</a:t>
            </a:r>
            <a:br/>
            <a:r>
              <a:rPr sz="1175" b="0" i="0" lang="es-CO">
                <a:solidFill>
                  <a:srgbClr val="5B4A38"/>
                </a:solidFill>
                <a:latin typeface="Outfit"/>
              </a:rPr>
              <a:t>se confunda con un acento de marca.</a:t>
            </a:r>
          </a:p>
        </p:txBody>
      </p:sp>
      <p:sp>
        <p:nvSpPr>
          <p:cNvPr id="36" name="Rounded Rectangle 35"/>
          <p:cNvSpPr/>
          <p:nvPr/>
        </p:nvSpPr>
        <p:spPr>
          <a:xfrm>
            <a:off x="6423804" y="5291587"/>
            <a:ext cx="2968745" cy="276045"/>
          </a:xfrm>
          <a:prstGeom prst="roundRect">
            <a:avLst>
              <a:gd name="adj" fmla="val 50000"/>
            </a:avLst>
          </a:prstGeom>
          <a:solidFill>
            <a:srgbClr val="FF6600">
              <a:alpha val="12000"/>
            </a:srgbClr>
          </a:solidFill>
          <a:ln w="11501" cap="flat">
            <a:solidFill>
              <a:srgbClr val="FF6600">
                <a:alpha val="35000"/>
              </a:srgbClr>
            </a:solidFill>
          </a:ln>
        </p:spPr>
        <p:txBody>
          <a:bodyPr rtlCol="0" anchor="ctr"/>
          <a:lstStyle/>
          <a:p>
            <a:pPr algn="ctr"/>
          </a:p>
        </p:txBody>
      </p:sp>
      <p:sp>
        <p:nvSpPr>
          <p:cNvPr id="37" name="TextBox 36"/>
          <p:cNvSpPr txBox="1"/>
          <p:nvPr/>
        </p:nvSpPr>
        <p:spPr>
          <a:xfrm>
            <a:off x="6544574" y="5354847"/>
            <a:ext cx="2999926" cy="149525"/>
          </a:xfrm>
          <a:prstGeom prst="rect">
            <a:avLst/>
          </a:prstGeom>
          <a:noFill/>
        </p:spPr>
        <p:txBody>
          <a:bodyPr wrap="none" lIns="0" rIns="0" tIns="0" bIns="0" anchor="t">
            <a:noAutofit/>
          </a:bodyPr>
          <a:lstStyle/>
          <a:p>
            <a:pPr algn="l">
              <a:lnSpc>
                <a:spcPts val="1177"/>
              </a:lnSpc>
              <a:spcBef>
                <a:spcPts val="0"/>
              </a:spcBef>
              <a:spcAft>
                <a:spcPts val="0"/>
              </a:spcAft>
            </a:pPr>
            <a:r>
              <a:rPr sz="900" b="1" i="0" lang="es-CO" cap="all" spc="45">
                <a:solidFill>
                  <a:srgbClr val="D97224"/>
                </a:solidFill>
                <a:latin typeface="Outfit"/>
              </a:rPr>
              <a:t>texto oscuro · 4.0:1 · solo texto grande</a:t>
            </a:r>
          </a:p>
        </p:txBody>
      </p:sp>
      <p:sp>
        <p:nvSpPr>
          <p:cNvPr id="38" name="Rounded Rectangle 37"/>
          <p:cNvSpPr/>
          <p:nvPr/>
        </p:nvSpPr>
        <p:spPr>
          <a:xfrm>
            <a:off x="460075" y="5952945"/>
            <a:ext cx="11271849" cy="703772"/>
          </a:xfrm>
          <a:prstGeom prst="roundRect">
            <a:avLst>
              <a:gd name="adj" fmla="val 13074"/>
            </a:avLst>
          </a:prstGeom>
          <a:solidFill>
            <a:srgbClr val="F0822D">
              <a:alpha val="10000"/>
            </a:srgbClr>
          </a:solidFill>
          <a:ln>
            <a:noFill/>
          </a:ln>
        </p:spPr>
        <p:txBody>
          <a:bodyPr rtlCol="0" anchor="ctr"/>
          <a:lstStyle/>
          <a:p>
            <a:pPr algn="ctr"/>
          </a:p>
        </p:txBody>
      </p:sp>
      <p:cxnSp>
        <p:nvCxnSpPr>
          <p:cNvPr id="39" name="Connector 38"/>
          <p:cNvCxnSpPr/>
          <p:nvPr/>
        </p:nvCxnSpPr>
        <p:spPr>
          <a:xfrm>
            <a:off x="483079" y="5952945"/>
            <a:ext cx="0" cy="703772"/>
          </a:xfrm>
          <a:prstGeom prst="line">
            <a:avLst/>
          </a:prstGeom>
          <a:ln w="46007" cap="flat">
            <a:solidFill>
              <a:srgbClr val="F0822D"/>
            </a:solidFill>
          </a:ln>
        </p:spPr>
      </p:cxnSp>
      <p:sp>
        <p:nvSpPr>
          <p:cNvPr id="40" name="TextBox 39"/>
          <p:cNvSpPr txBox="1"/>
          <p:nvPr/>
        </p:nvSpPr>
        <p:spPr>
          <a:xfrm>
            <a:off x="690113" y="6081766"/>
            <a:ext cx="11509248" cy="427870"/>
          </a:xfrm>
          <a:prstGeom prst="rect">
            <a:avLst/>
          </a:prstGeom>
          <a:noFill/>
        </p:spPr>
        <p:txBody>
          <a:bodyPr wrap="square" lIns="0" rIns="0" tIns="0" bIns="0" anchor="t">
            <a:noAutofit/>
          </a:bodyPr>
          <a:lstStyle/>
          <a:p>
            <a:pPr algn="l">
              <a:lnSpc>
                <a:spcPts val="1684"/>
              </a:lnSpc>
              <a:spcBef>
                <a:spcPts val="0"/>
              </a:spcBef>
              <a:spcAft>
                <a:spcPts val="0"/>
              </a:spcAft>
            </a:pPr>
            <a:r>
              <a:rPr sz="1075" b="0" i="0" lang="es-CO">
                <a:solidFill>
                  <a:srgbClr val="5B4A38"/>
                </a:solidFill>
                <a:latin typeface="Outfit"/>
              </a:rPr>
              <a:t>Principio general: una sola paleta cálida para el comprador y la cocinera, un color distinto para el rol admin, y estados (éxito, error) con color y texto, nunca solo color, para que la</a:t>
            </a:r>
            <a:br/>
            <a:r>
              <a:rPr sz="1075" b="0" i="0" lang="es-CO">
                <a:solidFill>
                  <a:srgbClr val="5B4A38"/>
                </a:solidFill>
                <a:latin typeface="Outfit"/>
              </a:rPr>
              <a:t>interfaz siga siendo clara para personas con daltonismo.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60075" y="414068"/>
            <a:ext cx="299049" cy="3450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874143" y="345057"/>
            <a:ext cx="290782" cy="172528"/>
          </a:xfrm>
          <a:prstGeom prst="rect">
            <a:avLst/>
          </a:prstGeom>
          <a:noFill/>
        </p:spPr>
        <p:txBody>
          <a:bodyPr wrap="none" lIns="0" rIns="0" tIns="0" bIns="0" anchor="t">
            <a:noAutofit/>
          </a:bodyPr>
          <a:lstStyle/>
          <a:p>
            <a:pPr algn="l">
              <a:lnSpc>
                <a:spcPts val="1358"/>
              </a:lnSpc>
              <a:spcBef>
                <a:spcPts val="0"/>
              </a:spcBef>
              <a:spcAft>
                <a:spcPts val="0"/>
              </a:spcAft>
            </a:pPr>
            <a:r>
              <a:rPr sz="1075" b="1" i="0" lang="es-CO" cap="all" spc="109">
                <a:solidFill>
                  <a:srgbClr val="D97224"/>
                </a:solidFill>
                <a:latin typeface="Outfit"/>
              </a:rPr>
              <a:t>08</a:t>
            </a:r>
          </a:p>
        </p:txBody>
      </p:sp>
      <p:sp>
        <p:nvSpPr>
          <p:cNvPr id="5" name="TextBox 4"/>
          <p:cNvSpPr txBox="1"/>
          <p:nvPr/>
        </p:nvSpPr>
        <p:spPr>
          <a:xfrm>
            <a:off x="1187929" y="345057"/>
            <a:ext cx="1771686" cy="172528"/>
          </a:xfrm>
          <a:prstGeom prst="rect">
            <a:avLst/>
          </a:prstGeom>
          <a:noFill/>
        </p:spPr>
        <p:txBody>
          <a:bodyPr wrap="none" lIns="0" rIns="0" tIns="0" bIns="0" anchor="t">
            <a:noAutofit/>
          </a:bodyPr>
          <a:lstStyle/>
          <a:p>
            <a:pPr algn="l">
              <a:lnSpc>
                <a:spcPts val="1358"/>
              </a:lnSpc>
              <a:spcBef>
                <a:spcPts val="0"/>
              </a:spcBef>
              <a:spcAft>
                <a:spcPts val="0"/>
              </a:spcAft>
            </a:pPr>
            <a:r>
              <a:rPr sz="1075" b="1" i="0" lang="es-CO" cap="all" spc="109">
                <a:solidFill>
                  <a:srgbClr val="5B4A38"/>
                </a:solidFill>
                <a:latin typeface="Outfit"/>
              </a:rPr>
              <a:t>/ Identidad Visual</a:t>
            </a:r>
          </a:p>
        </p:txBody>
      </p:sp>
      <p:sp>
        <p:nvSpPr>
          <p:cNvPr id="6" name="TextBox 5"/>
          <p:cNvSpPr txBox="1"/>
          <p:nvPr/>
        </p:nvSpPr>
        <p:spPr>
          <a:xfrm>
            <a:off x="460075" y="931653"/>
            <a:ext cx="3012578" cy="310551"/>
          </a:xfrm>
          <a:prstGeom prst="rect">
            <a:avLst/>
          </a:prstGeom>
          <a:noFill/>
        </p:spPr>
        <p:txBody>
          <a:bodyPr wrap="none" lIns="0" rIns="0" tIns="0" bIns="0" anchor="t">
            <a:noAutofit/>
          </a:bodyPr>
          <a:lstStyle/>
          <a:p>
            <a:pPr algn="l">
              <a:lnSpc>
                <a:spcPts val="2445"/>
              </a:lnSpc>
              <a:spcBef>
                <a:spcPts val="0"/>
              </a:spcBef>
              <a:spcAft>
                <a:spcPts val="0"/>
              </a:spcAft>
            </a:pPr>
            <a:r>
              <a:rPr sz="1800" b="1" i="0" lang="es-CO">
                <a:solidFill>
                  <a:srgbClr val="5C3A1E"/>
                </a:solidFill>
                <a:latin typeface="Playfair Display"/>
              </a:rPr>
              <a:t>Colores de interfaz en uso</a:t>
            </a:r>
          </a:p>
        </p:txBody>
      </p:sp>
      <p:sp>
        <p:nvSpPr>
          <p:cNvPr id="7" name="TextBox 6"/>
          <p:cNvSpPr txBox="1"/>
          <p:nvPr/>
        </p:nvSpPr>
        <p:spPr>
          <a:xfrm>
            <a:off x="460075" y="1313515"/>
            <a:ext cx="11948160" cy="427870"/>
          </a:xfrm>
          <a:prstGeom prst="rect">
            <a:avLst/>
          </a:prstGeom>
          <a:noFill/>
        </p:spPr>
        <p:txBody>
          <a:bodyPr wrap="square" lIns="0" rIns="0" tIns="0" bIns="0" anchor="t">
            <a:noAutofit/>
          </a:bodyPr>
          <a:lstStyle/>
          <a:p>
            <a:pPr algn="l">
              <a:lnSpc>
                <a:spcPts val="1684"/>
              </a:lnSpc>
              <a:spcBef>
                <a:spcPts val="0"/>
              </a:spcBef>
              <a:spcAft>
                <a:spcPts val="0"/>
              </a:spcAft>
            </a:pPr>
            <a:r>
              <a:rPr sz="1075" b="0" i="0" lang="es-CO">
                <a:solidFill>
                  <a:srgbClr val="5B4A38"/>
                </a:solidFill>
                <a:latin typeface="Outfit"/>
              </a:rPr>
              <a:t>Muestras tomadas de las vistas principales y del tema oscuro. La interfaz también usa transparencias, sombras y matices derivados; aquí se muestran los tonos base observables</a:t>
            </a:r>
            <a:br/>
            <a:r>
              <a:rPr sz="1075" b="0" i="0" lang="es-CO">
                <a:solidFill>
                  <a:srgbClr val="5B4A38"/>
                </a:solidFill>
                <a:latin typeface="Outfit"/>
              </a:rPr>
              <a:t>agrupados por función.</a:t>
            </a:r>
          </a:p>
        </p:txBody>
      </p:sp>
      <p:sp>
        <p:nvSpPr>
          <p:cNvPr id="8" name="TextBox 7"/>
          <p:cNvSpPr txBox="1"/>
          <p:nvPr/>
        </p:nvSpPr>
        <p:spPr>
          <a:xfrm>
            <a:off x="460075" y="1980481"/>
            <a:ext cx="1895637" cy="241540"/>
          </a:xfrm>
          <a:prstGeom prst="rect">
            <a:avLst/>
          </a:prstGeom>
          <a:noFill/>
        </p:spPr>
        <p:txBody>
          <a:bodyPr wrap="none" lIns="0" rIns="0" tIns="0" bIns="0" anchor="t">
            <a:noAutofit/>
          </a:bodyPr>
          <a:lstStyle/>
          <a:p>
            <a:pPr algn="l">
              <a:lnSpc>
                <a:spcPts val="1901"/>
              </a:lnSpc>
              <a:spcBef>
                <a:spcPts val="0"/>
              </a:spcBef>
              <a:spcAft>
                <a:spcPts val="0"/>
              </a:spcAft>
            </a:pPr>
            <a:r>
              <a:rPr sz="1450" b="1" i="0" lang="es-CO">
                <a:solidFill>
                  <a:srgbClr val="5C3A1E"/>
                </a:solidFill>
                <a:latin typeface="Playfair Display"/>
              </a:rPr>
              <a:t>Fondos y superficies</a:t>
            </a:r>
          </a:p>
        </p:txBody>
      </p:sp>
      <p:sp>
        <p:nvSpPr>
          <p:cNvPr id="9" name="Rounded Rectangle 8"/>
          <p:cNvSpPr/>
          <p:nvPr/>
        </p:nvSpPr>
        <p:spPr>
          <a:xfrm>
            <a:off x="465826" y="2331289"/>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10" name="Rounded Rectangle 9"/>
          <p:cNvSpPr/>
          <p:nvPr/>
        </p:nvSpPr>
        <p:spPr>
          <a:xfrm>
            <a:off x="569343" y="2434806"/>
            <a:ext cx="333555" cy="333555"/>
          </a:xfrm>
          <a:prstGeom prst="roundRect">
            <a:avLst>
              <a:gd name="adj" fmla="val 18965"/>
            </a:avLst>
          </a:prstGeom>
          <a:solidFill>
            <a:srgbClr val="000000"/>
          </a:solidFill>
          <a:ln w="11501" cap="flat">
            <a:solidFill>
              <a:srgbClr val="2B2117">
                <a:alpha val="20000"/>
              </a:srgbClr>
            </a:solidFill>
          </a:ln>
        </p:spPr>
        <p:txBody>
          <a:bodyPr rtlCol="0" anchor="ctr"/>
          <a:lstStyle/>
          <a:p>
            <a:pPr algn="ctr"/>
          </a:p>
        </p:txBody>
      </p:sp>
      <p:sp>
        <p:nvSpPr>
          <p:cNvPr id="11" name="TextBox 10"/>
          <p:cNvSpPr txBox="1"/>
          <p:nvPr/>
        </p:nvSpPr>
        <p:spPr>
          <a:xfrm>
            <a:off x="1012166" y="2440557"/>
            <a:ext cx="845568"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Fondo global</a:t>
            </a:r>
          </a:p>
        </p:txBody>
      </p:sp>
      <p:sp>
        <p:nvSpPr>
          <p:cNvPr id="12" name="TextBox 11"/>
          <p:cNvSpPr txBox="1"/>
          <p:nvPr/>
        </p:nvSpPr>
        <p:spPr>
          <a:xfrm>
            <a:off x="1012166" y="2600145"/>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#000000</a:t>
            </a:r>
          </a:p>
        </p:txBody>
      </p:sp>
      <p:sp>
        <p:nvSpPr>
          <p:cNvPr id="13" name="Rounded Rectangle 12"/>
          <p:cNvSpPr/>
          <p:nvPr/>
        </p:nvSpPr>
        <p:spPr>
          <a:xfrm>
            <a:off x="3306792" y="2331289"/>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14" name="Rounded Rectangle 13"/>
          <p:cNvSpPr/>
          <p:nvPr/>
        </p:nvSpPr>
        <p:spPr>
          <a:xfrm>
            <a:off x="3410309" y="2434806"/>
            <a:ext cx="333555" cy="333555"/>
          </a:xfrm>
          <a:prstGeom prst="roundRect">
            <a:avLst>
              <a:gd name="adj" fmla="val 18965"/>
            </a:avLst>
          </a:prstGeom>
          <a:solidFill>
            <a:srgbClr val="17130F"/>
          </a:solidFill>
          <a:ln w="11501" cap="flat">
            <a:solidFill>
              <a:srgbClr val="2B2117">
                <a:alpha val="20000"/>
              </a:srgbClr>
            </a:solidFill>
          </a:ln>
        </p:spPr>
        <p:txBody>
          <a:bodyPr rtlCol="0" anchor="ctr"/>
          <a:lstStyle/>
          <a:p>
            <a:pPr algn="ctr"/>
          </a:p>
        </p:txBody>
      </p:sp>
      <p:sp>
        <p:nvSpPr>
          <p:cNvPr id="15" name="TextBox 14"/>
          <p:cNvSpPr txBox="1"/>
          <p:nvPr/>
        </p:nvSpPr>
        <p:spPr>
          <a:xfrm>
            <a:off x="3853132" y="2440557"/>
            <a:ext cx="1006775"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Fondo nocturno</a:t>
            </a:r>
          </a:p>
        </p:txBody>
      </p:sp>
      <p:sp>
        <p:nvSpPr>
          <p:cNvPr id="16" name="TextBox 15"/>
          <p:cNvSpPr txBox="1"/>
          <p:nvPr/>
        </p:nvSpPr>
        <p:spPr>
          <a:xfrm>
            <a:off x="3853132" y="2600145"/>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#17130F</a:t>
            </a:r>
          </a:p>
        </p:txBody>
      </p:sp>
      <p:sp>
        <p:nvSpPr>
          <p:cNvPr id="17" name="Rounded Rectangle 16"/>
          <p:cNvSpPr/>
          <p:nvPr/>
        </p:nvSpPr>
        <p:spPr>
          <a:xfrm>
            <a:off x="6147758" y="2331289"/>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18" name="Rounded Rectangle 17"/>
          <p:cNvSpPr/>
          <p:nvPr/>
        </p:nvSpPr>
        <p:spPr>
          <a:xfrm>
            <a:off x="6251275" y="2434806"/>
            <a:ext cx="333555" cy="333555"/>
          </a:xfrm>
          <a:prstGeom prst="roundRect">
            <a:avLst>
              <a:gd name="adj" fmla="val 18965"/>
            </a:avLst>
          </a:prstGeom>
          <a:solidFill>
            <a:srgbClr val="2A1E17"/>
          </a:solidFill>
          <a:ln w="11501" cap="flat">
            <a:solidFill>
              <a:srgbClr val="2B2117">
                <a:alpha val="20000"/>
              </a:srgbClr>
            </a:solidFill>
          </a:ln>
        </p:spPr>
        <p:txBody>
          <a:bodyPr rtlCol="0" anchor="ctr"/>
          <a:lstStyle/>
          <a:p>
            <a:pPr algn="ctr"/>
          </a:p>
        </p:txBody>
      </p:sp>
      <p:sp>
        <p:nvSpPr>
          <p:cNvPr id="19" name="TextBox 18"/>
          <p:cNvSpPr txBox="1"/>
          <p:nvPr/>
        </p:nvSpPr>
        <p:spPr>
          <a:xfrm>
            <a:off x="6694098" y="2440557"/>
            <a:ext cx="1021062"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Fondo del mapa</a:t>
            </a:r>
          </a:p>
        </p:txBody>
      </p:sp>
      <p:sp>
        <p:nvSpPr>
          <p:cNvPr id="20" name="TextBox 19"/>
          <p:cNvSpPr txBox="1"/>
          <p:nvPr/>
        </p:nvSpPr>
        <p:spPr>
          <a:xfrm>
            <a:off x="6694098" y="2600145"/>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#2A1E17</a:t>
            </a:r>
          </a:p>
        </p:txBody>
      </p:sp>
      <p:sp>
        <p:nvSpPr>
          <p:cNvPr id="21" name="Rounded Rectangle 20"/>
          <p:cNvSpPr/>
          <p:nvPr/>
        </p:nvSpPr>
        <p:spPr>
          <a:xfrm>
            <a:off x="8988725" y="2331289"/>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22" name="Rounded Rectangle 21"/>
          <p:cNvSpPr/>
          <p:nvPr/>
        </p:nvSpPr>
        <p:spPr>
          <a:xfrm>
            <a:off x="9092242" y="2434806"/>
            <a:ext cx="333555" cy="333555"/>
          </a:xfrm>
          <a:prstGeom prst="roundRect">
            <a:avLst>
              <a:gd name="adj" fmla="val 18965"/>
            </a:avLst>
          </a:prstGeom>
          <a:solidFill>
            <a:srgbClr val="CBA679"/>
          </a:solidFill>
          <a:ln w="11501" cap="flat">
            <a:solidFill>
              <a:srgbClr val="2B2117">
                <a:alpha val="20000"/>
              </a:srgbClr>
            </a:solidFill>
          </a:ln>
        </p:spPr>
        <p:txBody>
          <a:bodyPr rtlCol="0" anchor="ctr"/>
          <a:lstStyle/>
          <a:p>
            <a:pPr algn="ctr"/>
          </a:p>
        </p:txBody>
      </p:sp>
      <p:sp>
        <p:nvSpPr>
          <p:cNvPr id="23" name="TextBox 22"/>
          <p:cNvSpPr txBox="1"/>
          <p:nvPr/>
        </p:nvSpPr>
        <p:spPr>
          <a:xfrm>
            <a:off x="9535064" y="2440557"/>
            <a:ext cx="1194633"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Fondo del Libretón</a:t>
            </a:r>
          </a:p>
        </p:txBody>
      </p:sp>
      <p:sp>
        <p:nvSpPr>
          <p:cNvPr id="24" name="TextBox 23"/>
          <p:cNvSpPr txBox="1"/>
          <p:nvPr/>
        </p:nvSpPr>
        <p:spPr>
          <a:xfrm>
            <a:off x="9535064" y="2600145"/>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#CBA679</a:t>
            </a:r>
          </a:p>
        </p:txBody>
      </p:sp>
      <p:sp>
        <p:nvSpPr>
          <p:cNvPr id="25" name="Rounded Rectangle 24"/>
          <p:cNvSpPr/>
          <p:nvPr/>
        </p:nvSpPr>
        <p:spPr>
          <a:xfrm>
            <a:off x="465826" y="2975394"/>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26" name="Rounded Rectangle 25"/>
          <p:cNvSpPr/>
          <p:nvPr/>
        </p:nvSpPr>
        <p:spPr>
          <a:xfrm>
            <a:off x="569343" y="3078911"/>
            <a:ext cx="333555" cy="333555"/>
          </a:xfrm>
          <a:prstGeom prst="roundRect">
            <a:avLst>
              <a:gd name="adj" fmla="val 18965"/>
            </a:avLst>
          </a:prstGeom>
          <a:solidFill>
            <a:srgbClr val="28221B"/>
          </a:solidFill>
          <a:ln w="11501" cap="flat">
            <a:solidFill>
              <a:srgbClr val="2B2117">
                <a:alpha val="20000"/>
              </a:srgbClr>
            </a:solidFill>
          </a:ln>
        </p:spPr>
        <p:txBody>
          <a:bodyPr rtlCol="0" anchor="ctr"/>
          <a:lstStyle/>
          <a:p>
            <a:pPr algn="ctr"/>
          </a:p>
        </p:txBody>
      </p:sp>
      <p:sp>
        <p:nvSpPr>
          <p:cNvPr id="27" name="TextBox 26"/>
          <p:cNvSpPr txBox="1"/>
          <p:nvPr/>
        </p:nvSpPr>
        <p:spPr>
          <a:xfrm>
            <a:off x="1012166" y="3084662"/>
            <a:ext cx="967417"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Panel nocturno</a:t>
            </a:r>
          </a:p>
        </p:txBody>
      </p:sp>
      <p:sp>
        <p:nvSpPr>
          <p:cNvPr id="28" name="TextBox 27"/>
          <p:cNvSpPr txBox="1"/>
          <p:nvPr/>
        </p:nvSpPr>
        <p:spPr>
          <a:xfrm>
            <a:off x="1012166" y="3244251"/>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#28221B</a:t>
            </a:r>
          </a:p>
        </p:txBody>
      </p:sp>
      <p:sp>
        <p:nvSpPr>
          <p:cNvPr id="29" name="Rounded Rectangle 28"/>
          <p:cNvSpPr/>
          <p:nvPr/>
        </p:nvSpPr>
        <p:spPr>
          <a:xfrm>
            <a:off x="3306792" y="2975394"/>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30" name="Rounded Rectangle 29"/>
          <p:cNvSpPr/>
          <p:nvPr/>
        </p:nvSpPr>
        <p:spPr>
          <a:xfrm>
            <a:off x="3410309" y="3078911"/>
            <a:ext cx="333555" cy="333555"/>
          </a:xfrm>
          <a:prstGeom prst="roundRect">
            <a:avLst>
              <a:gd name="adj" fmla="val 18965"/>
            </a:avLst>
          </a:prstGeom>
          <a:solidFill>
            <a:srgbClr val="3A3025"/>
          </a:solidFill>
          <a:ln w="11501" cap="flat">
            <a:solidFill>
              <a:srgbClr val="2B2117">
                <a:alpha val="20000"/>
              </a:srgbClr>
            </a:solidFill>
          </a:ln>
        </p:spPr>
        <p:txBody>
          <a:bodyPr rtlCol="0" anchor="ctr"/>
          <a:lstStyle/>
          <a:p>
            <a:pPr algn="ctr"/>
          </a:p>
        </p:txBody>
      </p:sp>
      <p:sp>
        <p:nvSpPr>
          <p:cNvPr id="31" name="TextBox 30"/>
          <p:cNvSpPr txBox="1"/>
          <p:nvPr/>
        </p:nvSpPr>
        <p:spPr>
          <a:xfrm>
            <a:off x="3853132" y="3084662"/>
            <a:ext cx="1412486"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Panel oscuro del menú</a:t>
            </a:r>
          </a:p>
        </p:txBody>
      </p:sp>
      <p:sp>
        <p:nvSpPr>
          <p:cNvPr id="32" name="TextBox 31"/>
          <p:cNvSpPr txBox="1"/>
          <p:nvPr/>
        </p:nvSpPr>
        <p:spPr>
          <a:xfrm>
            <a:off x="3853132" y="3244251"/>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#3A3025</a:t>
            </a:r>
          </a:p>
        </p:txBody>
      </p:sp>
      <p:sp>
        <p:nvSpPr>
          <p:cNvPr id="33" name="Rounded Rectangle 32"/>
          <p:cNvSpPr/>
          <p:nvPr/>
        </p:nvSpPr>
        <p:spPr>
          <a:xfrm>
            <a:off x="6147758" y="2975394"/>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34" name="Rounded Rectangle 33"/>
          <p:cNvSpPr/>
          <p:nvPr/>
        </p:nvSpPr>
        <p:spPr>
          <a:xfrm>
            <a:off x="6251275" y="3078911"/>
            <a:ext cx="333555" cy="333555"/>
          </a:xfrm>
          <a:prstGeom prst="roundRect">
            <a:avLst>
              <a:gd name="adj" fmla="val 18965"/>
            </a:avLst>
          </a:prstGeom>
          <a:solidFill>
            <a:srgbClr val="EFE0C2"/>
          </a:solidFill>
          <a:ln w="11501" cap="flat">
            <a:solidFill>
              <a:srgbClr val="2B2117">
                <a:alpha val="20000"/>
              </a:srgbClr>
            </a:solidFill>
          </a:ln>
        </p:spPr>
        <p:txBody>
          <a:bodyPr rtlCol="0" anchor="ctr"/>
          <a:lstStyle/>
          <a:p>
            <a:pPr algn="ctr"/>
          </a:p>
        </p:txBody>
      </p:sp>
      <p:sp>
        <p:nvSpPr>
          <p:cNvPr id="35" name="TextBox 34"/>
          <p:cNvSpPr txBox="1"/>
          <p:nvPr/>
        </p:nvSpPr>
        <p:spPr>
          <a:xfrm>
            <a:off x="6694098" y="3084662"/>
            <a:ext cx="1154700"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Papel del Libretón</a:t>
            </a:r>
          </a:p>
        </p:txBody>
      </p:sp>
      <p:sp>
        <p:nvSpPr>
          <p:cNvPr id="36" name="TextBox 35"/>
          <p:cNvSpPr txBox="1"/>
          <p:nvPr/>
        </p:nvSpPr>
        <p:spPr>
          <a:xfrm>
            <a:off x="6694098" y="3244251"/>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#EFE0C2</a:t>
            </a:r>
          </a:p>
        </p:txBody>
      </p:sp>
      <p:sp>
        <p:nvSpPr>
          <p:cNvPr id="37" name="Rounded Rectangle 36"/>
          <p:cNvSpPr/>
          <p:nvPr/>
        </p:nvSpPr>
        <p:spPr>
          <a:xfrm>
            <a:off x="8988725" y="2975394"/>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38" name="Rounded Rectangle 37"/>
          <p:cNvSpPr/>
          <p:nvPr/>
        </p:nvSpPr>
        <p:spPr>
          <a:xfrm>
            <a:off x="9092242" y="3078911"/>
            <a:ext cx="333555" cy="333555"/>
          </a:xfrm>
          <a:prstGeom prst="roundRect">
            <a:avLst>
              <a:gd name="adj" fmla="val 18965"/>
            </a:avLst>
          </a:prstGeom>
          <a:solidFill>
            <a:srgbClr val="FAF6F0"/>
          </a:solidFill>
          <a:ln w="11501" cap="flat">
            <a:solidFill>
              <a:srgbClr val="2B2117">
                <a:alpha val="20000"/>
              </a:srgbClr>
            </a:solidFill>
          </a:ln>
        </p:spPr>
        <p:txBody>
          <a:bodyPr rtlCol="0" anchor="ctr"/>
          <a:lstStyle/>
          <a:p>
            <a:pPr algn="ctr"/>
          </a:p>
        </p:txBody>
      </p:sp>
      <p:sp>
        <p:nvSpPr>
          <p:cNvPr id="39" name="TextBox 38"/>
          <p:cNvSpPr txBox="1"/>
          <p:nvPr/>
        </p:nvSpPr>
        <p:spPr>
          <a:xfrm>
            <a:off x="9535064" y="3084662"/>
            <a:ext cx="1159049"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Crema de interfaz</a:t>
            </a:r>
          </a:p>
        </p:txBody>
      </p:sp>
      <p:sp>
        <p:nvSpPr>
          <p:cNvPr id="40" name="TextBox 39"/>
          <p:cNvSpPr txBox="1"/>
          <p:nvPr/>
        </p:nvSpPr>
        <p:spPr>
          <a:xfrm>
            <a:off x="9535064" y="3244251"/>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#FAF6F0</a:t>
            </a:r>
          </a:p>
        </p:txBody>
      </p:sp>
      <p:sp>
        <p:nvSpPr>
          <p:cNvPr id="41" name="Rounded Rectangle 40"/>
          <p:cNvSpPr/>
          <p:nvPr/>
        </p:nvSpPr>
        <p:spPr>
          <a:xfrm>
            <a:off x="465826" y="3619500"/>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42" name="Rounded Rectangle 41"/>
          <p:cNvSpPr/>
          <p:nvPr/>
        </p:nvSpPr>
        <p:spPr>
          <a:xfrm>
            <a:off x="569343" y="3723017"/>
            <a:ext cx="333555" cy="333555"/>
          </a:xfrm>
          <a:prstGeom prst="roundRect">
            <a:avLst>
              <a:gd name="adj" fmla="val 18965"/>
            </a:avLst>
          </a:prstGeom>
          <a:solidFill>
            <a:srgbClr val="F5E9D2"/>
          </a:solidFill>
          <a:ln w="11501" cap="flat">
            <a:solidFill>
              <a:srgbClr val="2B2117">
                <a:alpha val="20000"/>
              </a:srgbClr>
            </a:solidFill>
          </a:ln>
        </p:spPr>
        <p:txBody>
          <a:bodyPr rtlCol="0" anchor="ctr"/>
          <a:lstStyle/>
          <a:p>
            <a:pPr algn="ctr"/>
          </a:p>
        </p:txBody>
      </p:sp>
      <p:sp>
        <p:nvSpPr>
          <p:cNvPr id="43" name="TextBox 42"/>
          <p:cNvSpPr txBox="1"/>
          <p:nvPr/>
        </p:nvSpPr>
        <p:spPr>
          <a:xfrm>
            <a:off x="1012166" y="3728768"/>
            <a:ext cx="1220925"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Cabecera del menú</a:t>
            </a:r>
          </a:p>
        </p:txBody>
      </p:sp>
      <p:sp>
        <p:nvSpPr>
          <p:cNvPr id="44" name="TextBox 43"/>
          <p:cNvSpPr txBox="1"/>
          <p:nvPr/>
        </p:nvSpPr>
        <p:spPr>
          <a:xfrm>
            <a:off x="1012166" y="388835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#F5E9D2</a:t>
            </a:r>
          </a:p>
        </p:txBody>
      </p:sp>
      <p:sp>
        <p:nvSpPr>
          <p:cNvPr id="45" name="Rounded Rectangle 44"/>
          <p:cNvSpPr/>
          <p:nvPr/>
        </p:nvSpPr>
        <p:spPr>
          <a:xfrm>
            <a:off x="3306792" y="3619500"/>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46" name="Rounded Rectangle 45"/>
          <p:cNvSpPr/>
          <p:nvPr/>
        </p:nvSpPr>
        <p:spPr>
          <a:xfrm>
            <a:off x="3410309" y="3723017"/>
            <a:ext cx="333555" cy="333555"/>
          </a:xfrm>
          <a:prstGeom prst="roundRect">
            <a:avLst>
              <a:gd name="adj" fmla="val 18965"/>
            </a:avLst>
          </a:prstGeom>
          <a:solidFill>
            <a:srgbClr val="F7EDDB"/>
          </a:solidFill>
          <a:ln w="11501" cap="flat">
            <a:solidFill>
              <a:srgbClr val="2B2117">
                <a:alpha val="20000"/>
              </a:srgbClr>
            </a:solidFill>
          </a:ln>
        </p:spPr>
        <p:txBody>
          <a:bodyPr rtlCol="0" anchor="ctr"/>
          <a:lstStyle/>
          <a:p>
            <a:pPr algn="ctr"/>
          </a:p>
        </p:txBody>
      </p:sp>
      <p:sp>
        <p:nvSpPr>
          <p:cNvPr id="47" name="TextBox 46"/>
          <p:cNvSpPr txBox="1"/>
          <p:nvPr/>
        </p:nvSpPr>
        <p:spPr>
          <a:xfrm>
            <a:off x="3853132" y="3728768"/>
            <a:ext cx="732886"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Ficha clara</a:t>
            </a:r>
          </a:p>
        </p:txBody>
      </p:sp>
      <p:sp>
        <p:nvSpPr>
          <p:cNvPr id="48" name="TextBox 47"/>
          <p:cNvSpPr txBox="1"/>
          <p:nvPr/>
        </p:nvSpPr>
        <p:spPr>
          <a:xfrm>
            <a:off x="3853132" y="388835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#F7EDDB</a:t>
            </a:r>
          </a:p>
        </p:txBody>
      </p:sp>
      <p:sp>
        <p:nvSpPr>
          <p:cNvPr id="49" name="Rounded Rectangle 48"/>
          <p:cNvSpPr/>
          <p:nvPr/>
        </p:nvSpPr>
        <p:spPr>
          <a:xfrm>
            <a:off x="6147758" y="3619500"/>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50" name="Rounded Rectangle 49"/>
          <p:cNvSpPr/>
          <p:nvPr/>
        </p:nvSpPr>
        <p:spPr>
          <a:xfrm>
            <a:off x="6251275" y="3723017"/>
            <a:ext cx="333555" cy="333555"/>
          </a:xfrm>
          <a:prstGeom prst="roundRect">
            <a:avLst>
              <a:gd name="adj" fmla="val 18965"/>
            </a:avLst>
          </a:prstGeom>
          <a:solidFill>
            <a:srgbClr val="DCE4CE"/>
          </a:solidFill>
          <a:ln w="11501" cap="flat">
            <a:solidFill>
              <a:srgbClr val="2B2117">
                <a:alpha val="20000"/>
              </a:srgbClr>
            </a:solidFill>
          </a:ln>
        </p:spPr>
        <p:txBody>
          <a:bodyPr rtlCol="0" anchor="ctr"/>
          <a:lstStyle/>
          <a:p>
            <a:pPr algn="ctr"/>
          </a:p>
        </p:txBody>
      </p:sp>
      <p:sp>
        <p:nvSpPr>
          <p:cNvPr id="51" name="TextBox 50"/>
          <p:cNvSpPr txBox="1"/>
          <p:nvPr/>
        </p:nvSpPr>
        <p:spPr>
          <a:xfrm>
            <a:off x="6694098" y="3728768"/>
            <a:ext cx="1393112"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Superficie verde clara</a:t>
            </a:r>
          </a:p>
        </p:txBody>
      </p:sp>
      <p:sp>
        <p:nvSpPr>
          <p:cNvPr id="52" name="TextBox 51"/>
          <p:cNvSpPr txBox="1"/>
          <p:nvPr/>
        </p:nvSpPr>
        <p:spPr>
          <a:xfrm>
            <a:off x="6694098" y="388835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#DCE4CE</a:t>
            </a:r>
          </a:p>
        </p:txBody>
      </p:sp>
      <p:sp>
        <p:nvSpPr>
          <p:cNvPr id="53" name="Rounded Rectangle 52"/>
          <p:cNvSpPr/>
          <p:nvPr/>
        </p:nvSpPr>
        <p:spPr>
          <a:xfrm>
            <a:off x="8988725" y="3619500"/>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54" name="Rounded Rectangle 53"/>
          <p:cNvSpPr/>
          <p:nvPr/>
        </p:nvSpPr>
        <p:spPr>
          <a:xfrm>
            <a:off x="9092242" y="3723017"/>
            <a:ext cx="333555" cy="333555"/>
          </a:xfrm>
          <a:prstGeom prst="roundRect">
            <a:avLst>
              <a:gd name="adj" fmla="val 18965"/>
            </a:avLst>
          </a:prstGeom>
          <a:solidFill>
            <a:srgbClr val="46513B"/>
          </a:solidFill>
          <a:ln w="11501" cap="flat">
            <a:solidFill>
              <a:srgbClr val="2B2117">
                <a:alpha val="20000"/>
              </a:srgbClr>
            </a:solidFill>
          </a:ln>
        </p:spPr>
        <p:txBody>
          <a:bodyPr rtlCol="0" anchor="ctr"/>
          <a:lstStyle/>
          <a:p>
            <a:pPr algn="ctr"/>
          </a:p>
        </p:txBody>
      </p:sp>
      <p:sp>
        <p:nvSpPr>
          <p:cNvPr id="55" name="TextBox 54"/>
          <p:cNvSpPr txBox="1"/>
          <p:nvPr/>
        </p:nvSpPr>
        <p:spPr>
          <a:xfrm>
            <a:off x="9535064" y="3728768"/>
            <a:ext cx="1492945"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Superficie verde oscura</a:t>
            </a:r>
          </a:p>
        </p:txBody>
      </p:sp>
      <p:sp>
        <p:nvSpPr>
          <p:cNvPr id="56" name="TextBox 55"/>
          <p:cNvSpPr txBox="1"/>
          <p:nvPr/>
        </p:nvSpPr>
        <p:spPr>
          <a:xfrm>
            <a:off x="9535064" y="388835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#46513B</a:t>
            </a:r>
          </a:p>
        </p:txBody>
      </p:sp>
      <p:sp>
        <p:nvSpPr>
          <p:cNvPr id="57" name="TextBox 56"/>
          <p:cNvSpPr txBox="1"/>
          <p:nvPr/>
        </p:nvSpPr>
        <p:spPr>
          <a:xfrm>
            <a:off x="460075" y="4395877"/>
            <a:ext cx="1348434" cy="241540"/>
          </a:xfrm>
          <a:prstGeom prst="rect">
            <a:avLst/>
          </a:prstGeom>
          <a:noFill/>
        </p:spPr>
        <p:txBody>
          <a:bodyPr wrap="none" lIns="0" rIns="0" tIns="0" bIns="0" anchor="t">
            <a:noAutofit/>
          </a:bodyPr>
          <a:lstStyle/>
          <a:p>
            <a:pPr algn="l">
              <a:lnSpc>
                <a:spcPts val="1901"/>
              </a:lnSpc>
              <a:spcBef>
                <a:spcPts val="0"/>
              </a:spcBef>
              <a:spcAft>
                <a:spcPts val="0"/>
              </a:spcAft>
            </a:pPr>
            <a:r>
              <a:rPr sz="1450" b="1" i="0" lang="es-CO">
                <a:solidFill>
                  <a:srgbClr val="5C3A1E"/>
                </a:solidFill>
                <a:latin typeface="Playfair Display"/>
              </a:rPr>
              <a:t>Texto y bordes</a:t>
            </a:r>
          </a:p>
        </p:txBody>
      </p:sp>
      <p:sp>
        <p:nvSpPr>
          <p:cNvPr id="58" name="Rounded Rectangle 57"/>
          <p:cNvSpPr/>
          <p:nvPr/>
        </p:nvSpPr>
        <p:spPr>
          <a:xfrm>
            <a:off x="465826" y="4746685"/>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59" name="Rounded Rectangle 58"/>
          <p:cNvSpPr/>
          <p:nvPr/>
        </p:nvSpPr>
        <p:spPr>
          <a:xfrm>
            <a:off x="569343" y="4850202"/>
            <a:ext cx="333555" cy="333555"/>
          </a:xfrm>
          <a:prstGeom prst="roundRect">
            <a:avLst>
              <a:gd name="adj" fmla="val 18965"/>
            </a:avLst>
          </a:prstGeom>
          <a:solidFill>
            <a:srgbClr val="F4F3EF"/>
          </a:solidFill>
          <a:ln w="11501" cap="flat">
            <a:solidFill>
              <a:srgbClr val="2B2117">
                <a:alpha val="20000"/>
              </a:srgbClr>
            </a:solidFill>
          </a:ln>
        </p:spPr>
        <p:txBody>
          <a:bodyPr rtlCol="0" anchor="ctr"/>
          <a:lstStyle/>
          <a:p>
            <a:pPr algn="ctr"/>
          </a:p>
        </p:txBody>
      </p:sp>
      <p:sp>
        <p:nvSpPr>
          <p:cNvPr id="60" name="TextBox 59"/>
          <p:cNvSpPr txBox="1"/>
          <p:nvPr/>
        </p:nvSpPr>
        <p:spPr>
          <a:xfrm>
            <a:off x="1012166" y="4855953"/>
            <a:ext cx="1132954"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Texto claro global</a:t>
            </a:r>
          </a:p>
        </p:txBody>
      </p:sp>
      <p:sp>
        <p:nvSpPr>
          <p:cNvPr id="61" name="TextBox 60"/>
          <p:cNvSpPr txBox="1"/>
          <p:nvPr/>
        </p:nvSpPr>
        <p:spPr>
          <a:xfrm>
            <a:off x="1012166" y="5015542"/>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#F4F3EF</a:t>
            </a:r>
          </a:p>
        </p:txBody>
      </p:sp>
      <p:sp>
        <p:nvSpPr>
          <p:cNvPr id="62" name="Rounded Rectangle 61"/>
          <p:cNvSpPr/>
          <p:nvPr/>
        </p:nvSpPr>
        <p:spPr>
          <a:xfrm>
            <a:off x="3306792" y="4746685"/>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63" name="Rounded Rectangle 62"/>
          <p:cNvSpPr/>
          <p:nvPr/>
        </p:nvSpPr>
        <p:spPr>
          <a:xfrm>
            <a:off x="3410309" y="4850202"/>
            <a:ext cx="333555" cy="333555"/>
          </a:xfrm>
          <a:prstGeom prst="roundRect">
            <a:avLst>
              <a:gd name="adj" fmla="val 18965"/>
            </a:avLst>
          </a:prstGeom>
          <a:solidFill>
            <a:srgbClr val="F0E5D3"/>
          </a:solidFill>
          <a:ln w="11501" cap="flat">
            <a:solidFill>
              <a:srgbClr val="2B2117">
                <a:alpha val="20000"/>
              </a:srgbClr>
            </a:solidFill>
          </a:ln>
        </p:spPr>
        <p:txBody>
          <a:bodyPr rtlCol="0" anchor="ctr"/>
          <a:lstStyle/>
          <a:p>
            <a:pPr algn="ctr"/>
          </a:p>
        </p:txBody>
      </p:sp>
      <p:sp>
        <p:nvSpPr>
          <p:cNvPr id="64" name="TextBox 63"/>
          <p:cNvSpPr txBox="1"/>
          <p:nvPr/>
        </p:nvSpPr>
        <p:spPr>
          <a:xfrm>
            <a:off x="3853132" y="4855953"/>
            <a:ext cx="1702297"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Texto claro en tema oscuro</a:t>
            </a:r>
          </a:p>
        </p:txBody>
      </p:sp>
      <p:sp>
        <p:nvSpPr>
          <p:cNvPr id="65" name="TextBox 64"/>
          <p:cNvSpPr txBox="1"/>
          <p:nvPr/>
        </p:nvSpPr>
        <p:spPr>
          <a:xfrm>
            <a:off x="3853132" y="5015542"/>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#F0E5D3</a:t>
            </a:r>
          </a:p>
        </p:txBody>
      </p:sp>
      <p:sp>
        <p:nvSpPr>
          <p:cNvPr id="66" name="Rounded Rectangle 65"/>
          <p:cNvSpPr/>
          <p:nvPr/>
        </p:nvSpPr>
        <p:spPr>
          <a:xfrm>
            <a:off x="6147758" y="4746685"/>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67" name="Rounded Rectangle 66"/>
          <p:cNvSpPr/>
          <p:nvPr/>
        </p:nvSpPr>
        <p:spPr>
          <a:xfrm>
            <a:off x="6251275" y="4850202"/>
            <a:ext cx="333555" cy="333555"/>
          </a:xfrm>
          <a:prstGeom prst="roundRect">
            <a:avLst>
              <a:gd name="adj" fmla="val 18965"/>
            </a:avLst>
          </a:prstGeom>
          <a:solidFill>
            <a:srgbClr val="2C241E"/>
          </a:solidFill>
          <a:ln w="11501" cap="flat">
            <a:solidFill>
              <a:srgbClr val="2B2117">
                <a:alpha val="20000"/>
              </a:srgbClr>
            </a:solidFill>
          </a:ln>
        </p:spPr>
        <p:txBody>
          <a:bodyPr rtlCol="0" anchor="ctr"/>
          <a:lstStyle/>
          <a:p>
            <a:pPr algn="ctr"/>
          </a:p>
        </p:txBody>
      </p:sp>
      <p:sp>
        <p:nvSpPr>
          <p:cNvPr id="68" name="TextBox 67"/>
          <p:cNvSpPr txBox="1"/>
          <p:nvPr/>
        </p:nvSpPr>
        <p:spPr>
          <a:xfrm>
            <a:off x="6694098" y="4855953"/>
            <a:ext cx="1564508"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Texto principal del mapa</a:t>
            </a:r>
          </a:p>
        </p:txBody>
      </p:sp>
      <p:sp>
        <p:nvSpPr>
          <p:cNvPr id="69" name="TextBox 68"/>
          <p:cNvSpPr txBox="1"/>
          <p:nvPr/>
        </p:nvSpPr>
        <p:spPr>
          <a:xfrm>
            <a:off x="6694098" y="5015542"/>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#2C241E</a:t>
            </a:r>
          </a:p>
        </p:txBody>
      </p:sp>
      <p:sp>
        <p:nvSpPr>
          <p:cNvPr id="70" name="Rounded Rectangle 69"/>
          <p:cNvSpPr/>
          <p:nvPr/>
        </p:nvSpPr>
        <p:spPr>
          <a:xfrm>
            <a:off x="8988725" y="4746685"/>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71" name="Rounded Rectangle 70"/>
          <p:cNvSpPr/>
          <p:nvPr/>
        </p:nvSpPr>
        <p:spPr>
          <a:xfrm>
            <a:off x="9092242" y="4850202"/>
            <a:ext cx="333555" cy="333555"/>
          </a:xfrm>
          <a:prstGeom prst="roundRect">
            <a:avLst>
              <a:gd name="adj" fmla="val 18965"/>
            </a:avLst>
          </a:prstGeom>
          <a:solidFill>
            <a:srgbClr val="2B2117"/>
          </a:solidFill>
          <a:ln w="11501" cap="flat">
            <a:solidFill>
              <a:srgbClr val="2B2117">
                <a:alpha val="20000"/>
              </a:srgbClr>
            </a:solidFill>
          </a:ln>
        </p:spPr>
        <p:txBody>
          <a:bodyPr rtlCol="0" anchor="ctr"/>
          <a:lstStyle/>
          <a:p>
            <a:pPr algn="ctr"/>
          </a:p>
        </p:txBody>
      </p:sp>
      <p:sp>
        <p:nvSpPr>
          <p:cNvPr id="72" name="TextBox 71"/>
          <p:cNvSpPr txBox="1"/>
          <p:nvPr/>
        </p:nvSpPr>
        <p:spPr>
          <a:xfrm>
            <a:off x="9535064" y="4855953"/>
            <a:ext cx="1115360"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Tinta sobre papel</a:t>
            </a:r>
          </a:p>
        </p:txBody>
      </p:sp>
      <p:sp>
        <p:nvSpPr>
          <p:cNvPr id="73" name="TextBox 72"/>
          <p:cNvSpPr txBox="1"/>
          <p:nvPr/>
        </p:nvSpPr>
        <p:spPr>
          <a:xfrm>
            <a:off x="9535064" y="5015542"/>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#2B2117</a:t>
            </a:r>
          </a:p>
        </p:txBody>
      </p:sp>
      <p:sp>
        <p:nvSpPr>
          <p:cNvPr id="74" name="Rounded Rectangle 73"/>
          <p:cNvSpPr/>
          <p:nvPr/>
        </p:nvSpPr>
        <p:spPr>
          <a:xfrm>
            <a:off x="465826" y="5390791"/>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75" name="Rounded Rectangle 74"/>
          <p:cNvSpPr/>
          <p:nvPr/>
        </p:nvSpPr>
        <p:spPr>
          <a:xfrm>
            <a:off x="569343" y="5494308"/>
            <a:ext cx="333555" cy="333555"/>
          </a:xfrm>
          <a:prstGeom prst="roundRect">
            <a:avLst>
              <a:gd name="adj" fmla="val 18965"/>
            </a:avLst>
          </a:prstGeom>
          <a:solidFill>
            <a:srgbClr val="5B4A38"/>
          </a:solidFill>
          <a:ln w="11501" cap="flat">
            <a:solidFill>
              <a:srgbClr val="2B2117">
                <a:alpha val="20000"/>
              </a:srgbClr>
            </a:solidFill>
          </a:ln>
        </p:spPr>
        <p:txBody>
          <a:bodyPr rtlCol="0" anchor="ctr"/>
          <a:lstStyle/>
          <a:p>
            <a:pPr algn="ctr"/>
          </a:p>
        </p:txBody>
      </p:sp>
      <p:sp>
        <p:nvSpPr>
          <p:cNvPr id="76" name="TextBox 75"/>
          <p:cNvSpPr txBox="1"/>
          <p:nvPr/>
        </p:nvSpPr>
        <p:spPr>
          <a:xfrm>
            <a:off x="1012166" y="5500058"/>
            <a:ext cx="1085904"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Texto secundario</a:t>
            </a:r>
          </a:p>
        </p:txBody>
      </p:sp>
      <p:sp>
        <p:nvSpPr>
          <p:cNvPr id="77" name="TextBox 76"/>
          <p:cNvSpPr txBox="1"/>
          <p:nvPr/>
        </p:nvSpPr>
        <p:spPr>
          <a:xfrm>
            <a:off x="1012166" y="565964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#5B4A38</a:t>
            </a:r>
          </a:p>
        </p:txBody>
      </p:sp>
      <p:sp>
        <p:nvSpPr>
          <p:cNvPr id="78" name="Rounded Rectangle 77"/>
          <p:cNvSpPr/>
          <p:nvPr/>
        </p:nvSpPr>
        <p:spPr>
          <a:xfrm>
            <a:off x="3306792" y="5390791"/>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79" name="Rounded Rectangle 78"/>
          <p:cNvSpPr/>
          <p:nvPr/>
        </p:nvSpPr>
        <p:spPr>
          <a:xfrm>
            <a:off x="3410309" y="5494308"/>
            <a:ext cx="333555" cy="333555"/>
          </a:xfrm>
          <a:prstGeom prst="roundRect">
            <a:avLst>
              <a:gd name="adj" fmla="val 18965"/>
            </a:avLst>
          </a:prstGeom>
          <a:solidFill>
            <a:srgbClr val="52663D"/>
          </a:solidFill>
          <a:ln w="11501" cap="flat">
            <a:solidFill>
              <a:srgbClr val="2B2117">
                <a:alpha val="20000"/>
              </a:srgbClr>
            </a:solidFill>
          </a:ln>
        </p:spPr>
        <p:txBody>
          <a:bodyPr rtlCol="0" anchor="ctr"/>
          <a:lstStyle/>
          <a:p>
            <a:pPr algn="ctr"/>
          </a:p>
        </p:txBody>
      </p:sp>
      <p:sp>
        <p:nvSpPr>
          <p:cNvPr id="80" name="TextBox 79"/>
          <p:cNvSpPr txBox="1"/>
          <p:nvPr/>
        </p:nvSpPr>
        <p:spPr>
          <a:xfrm>
            <a:off x="3853132" y="5500058"/>
            <a:ext cx="1398647"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Texto verde de estado</a:t>
            </a:r>
          </a:p>
        </p:txBody>
      </p:sp>
      <p:sp>
        <p:nvSpPr>
          <p:cNvPr id="81" name="TextBox 80"/>
          <p:cNvSpPr txBox="1"/>
          <p:nvPr/>
        </p:nvSpPr>
        <p:spPr>
          <a:xfrm>
            <a:off x="3853132" y="565964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#52663D</a:t>
            </a:r>
          </a:p>
        </p:txBody>
      </p:sp>
      <p:sp>
        <p:nvSpPr>
          <p:cNvPr id="82" name="Rounded Rectangle 81"/>
          <p:cNvSpPr/>
          <p:nvPr/>
        </p:nvSpPr>
        <p:spPr>
          <a:xfrm>
            <a:off x="6147758" y="5390791"/>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83" name="Rounded Rectangle 82"/>
          <p:cNvSpPr/>
          <p:nvPr/>
        </p:nvSpPr>
        <p:spPr>
          <a:xfrm>
            <a:off x="6251275" y="5494308"/>
            <a:ext cx="333555" cy="333555"/>
          </a:xfrm>
          <a:prstGeom prst="roundRect">
            <a:avLst>
              <a:gd name="adj" fmla="val 18965"/>
            </a:avLst>
          </a:prstGeom>
          <a:solidFill>
            <a:srgbClr val="AA8B5E"/>
          </a:solidFill>
          <a:ln w="11501" cap="flat">
            <a:solidFill>
              <a:srgbClr val="2B2117">
                <a:alpha val="20000"/>
              </a:srgbClr>
            </a:solidFill>
          </a:ln>
        </p:spPr>
        <p:txBody>
          <a:bodyPr rtlCol="0" anchor="ctr"/>
          <a:lstStyle/>
          <a:p>
            <a:pPr algn="ctr"/>
          </a:p>
        </p:txBody>
      </p:sp>
      <p:sp>
        <p:nvSpPr>
          <p:cNvPr id="84" name="TextBox 83"/>
          <p:cNvSpPr txBox="1"/>
          <p:nvPr/>
        </p:nvSpPr>
        <p:spPr>
          <a:xfrm>
            <a:off x="6694098" y="5500058"/>
            <a:ext cx="817712"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Borde cálido</a:t>
            </a:r>
          </a:p>
        </p:txBody>
      </p:sp>
      <p:sp>
        <p:nvSpPr>
          <p:cNvPr id="85" name="TextBox 84"/>
          <p:cNvSpPr txBox="1"/>
          <p:nvPr/>
        </p:nvSpPr>
        <p:spPr>
          <a:xfrm>
            <a:off x="6694098" y="565964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#AA8B5E</a:t>
            </a:r>
          </a:p>
        </p:txBody>
      </p:sp>
      <p:sp>
        <p:nvSpPr>
          <p:cNvPr id="86" name="Rounded Rectangle 85"/>
          <p:cNvSpPr/>
          <p:nvPr/>
        </p:nvSpPr>
        <p:spPr>
          <a:xfrm>
            <a:off x="8988725" y="5390791"/>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87" name="Rounded Rectangle 86"/>
          <p:cNvSpPr/>
          <p:nvPr/>
        </p:nvSpPr>
        <p:spPr>
          <a:xfrm>
            <a:off x="9092242" y="5494308"/>
            <a:ext cx="333555" cy="333555"/>
          </a:xfrm>
          <a:prstGeom prst="roundRect">
            <a:avLst>
              <a:gd name="adj" fmla="val 18965"/>
            </a:avLst>
          </a:prstGeom>
          <a:solidFill>
            <a:srgbClr val="705A40"/>
          </a:solidFill>
          <a:ln w="11501" cap="flat">
            <a:solidFill>
              <a:srgbClr val="2B2117">
                <a:alpha val="20000"/>
              </a:srgbClr>
            </a:solidFill>
          </a:ln>
        </p:spPr>
        <p:txBody>
          <a:bodyPr rtlCol="0" anchor="ctr"/>
          <a:lstStyle/>
          <a:p>
            <a:pPr algn="ctr"/>
          </a:p>
        </p:txBody>
      </p:sp>
      <p:sp>
        <p:nvSpPr>
          <p:cNvPr id="88" name="TextBox 87"/>
          <p:cNvSpPr txBox="1"/>
          <p:nvPr/>
        </p:nvSpPr>
        <p:spPr>
          <a:xfrm>
            <a:off x="9535064" y="5500058"/>
            <a:ext cx="1681342"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Borde de superficie oscura</a:t>
            </a:r>
          </a:p>
        </p:txBody>
      </p:sp>
      <p:sp>
        <p:nvSpPr>
          <p:cNvPr id="89" name="TextBox 88"/>
          <p:cNvSpPr txBox="1"/>
          <p:nvPr/>
        </p:nvSpPr>
        <p:spPr>
          <a:xfrm>
            <a:off x="9535064" y="5659647"/>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#705A40</a:t>
            </a:r>
          </a:p>
        </p:txBody>
      </p:sp>
      <p:sp>
        <p:nvSpPr>
          <p:cNvPr id="90" name="Rounded Rectangle 89"/>
          <p:cNvSpPr/>
          <p:nvPr/>
        </p:nvSpPr>
        <p:spPr>
          <a:xfrm>
            <a:off x="465826" y="6034896"/>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91" name="Rounded Rectangle 90"/>
          <p:cNvSpPr/>
          <p:nvPr/>
        </p:nvSpPr>
        <p:spPr>
          <a:xfrm>
            <a:off x="569343" y="6138413"/>
            <a:ext cx="333555" cy="333555"/>
          </a:xfrm>
          <a:prstGeom prst="roundRect">
            <a:avLst>
              <a:gd name="adj" fmla="val 18965"/>
            </a:avLst>
          </a:prstGeom>
          <a:solidFill>
            <a:srgbClr val="715A3E"/>
          </a:solidFill>
          <a:ln w="11501" cap="flat">
            <a:solidFill>
              <a:srgbClr val="2B2117">
                <a:alpha val="20000"/>
              </a:srgbClr>
            </a:solidFill>
          </a:ln>
        </p:spPr>
        <p:txBody>
          <a:bodyPr rtlCol="0" anchor="ctr"/>
          <a:lstStyle/>
          <a:p>
            <a:pPr algn="ctr"/>
          </a:p>
        </p:txBody>
      </p:sp>
      <p:sp>
        <p:nvSpPr>
          <p:cNvPr id="92" name="TextBox 91"/>
          <p:cNvSpPr txBox="1"/>
          <p:nvPr/>
        </p:nvSpPr>
        <p:spPr>
          <a:xfrm>
            <a:off x="1012166" y="6144164"/>
            <a:ext cx="1438778"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Borde oscuro del menú</a:t>
            </a:r>
          </a:p>
        </p:txBody>
      </p:sp>
      <p:sp>
        <p:nvSpPr>
          <p:cNvPr id="93" name="TextBox 92"/>
          <p:cNvSpPr txBox="1"/>
          <p:nvPr/>
        </p:nvSpPr>
        <p:spPr>
          <a:xfrm>
            <a:off x="1012166" y="6303753"/>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#715A3E</a:t>
            </a:r>
          </a:p>
        </p:txBody>
      </p:sp>
      <p:sp>
        <p:nvSpPr>
          <p:cNvPr id="94" name="Rounded Rectangle 93"/>
          <p:cNvSpPr/>
          <p:nvPr/>
        </p:nvSpPr>
        <p:spPr>
          <a:xfrm>
            <a:off x="3306792" y="6034896"/>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95" name="Rounded Rectangle 94"/>
          <p:cNvSpPr/>
          <p:nvPr/>
        </p:nvSpPr>
        <p:spPr>
          <a:xfrm>
            <a:off x="3410309" y="6138413"/>
            <a:ext cx="333555" cy="333555"/>
          </a:xfrm>
          <a:prstGeom prst="roundRect">
            <a:avLst>
              <a:gd name="adj" fmla="val 18965"/>
            </a:avLst>
          </a:prstGeom>
          <a:solidFill>
            <a:srgbClr val="71805D"/>
          </a:solidFill>
          <a:ln w="11501" cap="flat">
            <a:solidFill>
              <a:srgbClr val="2B2117">
                <a:alpha val="20000"/>
              </a:srgbClr>
            </a:solidFill>
          </a:ln>
        </p:spPr>
        <p:txBody>
          <a:bodyPr rtlCol="0" anchor="ctr"/>
          <a:lstStyle/>
          <a:p>
            <a:pPr algn="ctr"/>
          </a:p>
        </p:txBody>
      </p:sp>
      <p:sp>
        <p:nvSpPr>
          <p:cNvPr id="96" name="TextBox 95"/>
          <p:cNvSpPr txBox="1"/>
          <p:nvPr/>
        </p:nvSpPr>
        <p:spPr>
          <a:xfrm>
            <a:off x="3853132" y="6144164"/>
            <a:ext cx="1230217"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Borde verde oscuro</a:t>
            </a:r>
          </a:p>
        </p:txBody>
      </p:sp>
      <p:sp>
        <p:nvSpPr>
          <p:cNvPr id="97" name="TextBox 96"/>
          <p:cNvSpPr txBox="1"/>
          <p:nvPr/>
        </p:nvSpPr>
        <p:spPr>
          <a:xfrm>
            <a:off x="3853132" y="6303753"/>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#71805D</a:t>
            </a:r>
          </a:p>
        </p:txBody>
      </p:sp>
      <p:sp>
        <p:nvSpPr>
          <p:cNvPr id="98" name="Rounded Rectangle 97"/>
          <p:cNvSpPr/>
          <p:nvPr/>
        </p:nvSpPr>
        <p:spPr>
          <a:xfrm>
            <a:off x="6147758" y="6034896"/>
            <a:ext cx="2737449" cy="540589"/>
          </a:xfrm>
          <a:prstGeom prst="roundRect">
            <a:avLst>
              <a:gd name="adj" fmla="val 15957"/>
            </a:avLst>
          </a:prstGeom>
          <a:solidFill>
            <a:srgbClr val="FFFAF1"/>
          </a:solidFill>
          <a:ln w="11501" cap="flat">
            <a:solidFill>
              <a:srgbClr val="D8C39C"/>
            </a:solidFill>
          </a:ln>
        </p:spPr>
        <p:txBody>
          <a:bodyPr rtlCol="0" anchor="ctr"/>
          <a:lstStyle/>
          <a:p>
            <a:pPr algn="ctr"/>
          </a:p>
        </p:txBody>
      </p:sp>
      <p:sp>
        <p:nvSpPr>
          <p:cNvPr id="99" name="Rounded Rectangle 98"/>
          <p:cNvSpPr/>
          <p:nvPr/>
        </p:nvSpPr>
        <p:spPr>
          <a:xfrm>
            <a:off x="6251275" y="6138413"/>
            <a:ext cx="333555" cy="333555"/>
          </a:xfrm>
          <a:prstGeom prst="roundRect">
            <a:avLst>
              <a:gd name="adj" fmla="val 18965"/>
            </a:avLst>
          </a:prstGeom>
          <a:solidFill>
            <a:srgbClr val="F0E3CE"/>
          </a:solidFill>
          <a:ln w="11501" cap="flat">
            <a:solidFill>
              <a:srgbClr val="2B2117">
                <a:alpha val="20000"/>
              </a:srgbClr>
            </a:solidFill>
          </a:ln>
        </p:spPr>
        <p:txBody>
          <a:bodyPr rtlCol="0" anchor="ctr"/>
          <a:lstStyle/>
          <a:p>
            <a:pPr algn="ctr"/>
          </a:p>
        </p:txBody>
      </p:sp>
      <p:sp>
        <p:nvSpPr>
          <p:cNvPr id="100" name="TextBox 99"/>
          <p:cNvSpPr txBox="1"/>
          <p:nvPr/>
        </p:nvSpPr>
        <p:spPr>
          <a:xfrm>
            <a:off x="6694098" y="6144164"/>
            <a:ext cx="1407148" cy="158151"/>
          </a:xfrm>
          <a:prstGeom prst="rect">
            <a:avLst/>
          </a:prstGeom>
          <a:noFill/>
        </p:spPr>
        <p:txBody>
          <a:bodyPr wrap="none" lIns="0" rIns="0" tIns="0" bIns="0" anchor="t">
            <a:noAutofit/>
          </a:bodyPr>
          <a:lstStyle/>
          <a:p>
            <a:pPr algn="l">
              <a:lnSpc>
                <a:spcPts val="1245"/>
              </a:lnSpc>
              <a:spcBef>
                <a:spcPts val="0"/>
              </a:spcBef>
              <a:spcAft>
                <a:spcPts val="0"/>
              </a:spcAft>
            </a:pPr>
            <a:r>
              <a:rPr sz="1000" b="1" i="0" lang="es-CO">
                <a:solidFill>
                  <a:srgbClr val="2B2117"/>
                </a:solidFill>
                <a:latin typeface="Outfit"/>
              </a:rPr>
              <a:t>Texto del menú oscuro</a:t>
            </a:r>
          </a:p>
        </p:txBody>
      </p:sp>
      <p:sp>
        <p:nvSpPr>
          <p:cNvPr id="101" name="TextBox 100"/>
          <p:cNvSpPr txBox="1"/>
          <p:nvPr/>
        </p:nvSpPr>
        <p:spPr>
          <a:xfrm>
            <a:off x="6694098" y="6303753"/>
            <a:ext cx="576892" cy="143774"/>
          </a:xfrm>
          <a:prstGeom prst="rect">
            <a:avLst/>
          </a:prstGeom>
          <a:noFill/>
        </p:spPr>
        <p:txBody>
          <a:bodyPr wrap="none" lIns="0" rIns="0" tIns="0" bIns="0" anchor="t">
            <a:noAutofit/>
          </a:bodyPr>
          <a:lstStyle/>
          <a:p>
            <a:pPr algn="l">
              <a:lnSpc>
                <a:spcPts val="1132"/>
              </a:lnSpc>
              <a:spcBef>
                <a:spcPts val="0"/>
              </a:spcBef>
              <a:spcAft>
                <a:spcPts val="0"/>
              </a:spcAft>
            </a:pPr>
            <a:r>
              <a:rPr sz="900" b="0" i="0" lang="es-CO">
                <a:solidFill>
                  <a:srgbClr val="5B4A38"/>
                </a:solidFill>
                <a:latin typeface="Consolas"/>
              </a:rPr>
              <a:t>#F0E3CE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08229"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08</a:t>
            </a:r>
          </a:p>
        </p:txBody>
      </p:sp>
      <p:sp>
        <p:nvSpPr>
          <p:cNvPr id="5" name="TextBox 4"/>
          <p:cNvSpPr txBox="1"/>
          <p:nvPr/>
        </p:nvSpPr>
        <p:spPr>
          <a:xfrm>
            <a:off x="1259205" y="365760"/>
            <a:ext cx="1877987"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Identidad Visual</a:t>
            </a:r>
          </a:p>
        </p:txBody>
      </p:sp>
      <p:sp>
        <p:nvSpPr>
          <p:cNvPr id="6" name="TextBox 5"/>
          <p:cNvSpPr txBox="1"/>
          <p:nvPr/>
        </p:nvSpPr>
        <p:spPr>
          <a:xfrm>
            <a:off x="487680" y="963168"/>
            <a:ext cx="1803806"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5C3A1E"/>
                </a:solidFill>
                <a:latin typeface="Playfair Display"/>
              </a:rPr>
              <a:t>Acciones y señales</a:t>
            </a:r>
          </a:p>
        </p:txBody>
      </p:sp>
      <p:sp>
        <p:nvSpPr>
          <p:cNvPr id="7" name="Rounded Rectangle 6"/>
          <p:cNvSpPr/>
          <p:nvPr/>
        </p:nvSpPr>
        <p:spPr>
          <a:xfrm>
            <a:off x="493776" y="1335024"/>
            <a:ext cx="2718816" cy="573024"/>
          </a:xfrm>
          <a:prstGeom prst="roundRect">
            <a:avLst>
              <a:gd name="adj" fmla="val 15957"/>
            </a:avLst>
          </a:prstGeom>
          <a:solidFill>
            <a:srgbClr val="FFFAF1"/>
          </a:solidFill>
          <a:ln w="12192" cap="flat">
            <a:solidFill>
              <a:srgbClr val="D8C39C"/>
            </a:solidFill>
          </a:ln>
        </p:spPr>
        <p:txBody>
          <a:bodyPr rtlCol="0" anchor="ctr"/>
          <a:lstStyle/>
          <a:p>
            <a:pPr algn="ctr"/>
          </a:p>
        </p:txBody>
      </p:sp>
      <p:sp>
        <p:nvSpPr>
          <p:cNvPr id="8" name="Rounded Rectangle 7"/>
          <p:cNvSpPr/>
          <p:nvPr/>
        </p:nvSpPr>
        <p:spPr>
          <a:xfrm>
            <a:off x="603504" y="1444752"/>
            <a:ext cx="353568" cy="353568"/>
          </a:xfrm>
          <a:prstGeom prst="roundRect">
            <a:avLst>
              <a:gd name="adj" fmla="val 18965"/>
            </a:avLst>
          </a:prstGeom>
          <a:solidFill>
            <a:srgbClr val="F0822D"/>
          </a:solidFill>
          <a:ln w="12192" cap="flat">
            <a:solidFill>
              <a:srgbClr val="2B2117">
                <a:alpha val="20000"/>
              </a:srgbClr>
            </a:solidFill>
          </a:ln>
        </p:spPr>
        <p:txBody>
          <a:bodyPr rtlCol="0" anchor="ctr"/>
          <a:lstStyle/>
          <a:p>
            <a:pPr algn="ctr"/>
          </a:p>
        </p:txBody>
      </p:sp>
      <p:sp>
        <p:nvSpPr>
          <p:cNvPr id="9" name="TextBox 8"/>
          <p:cNvSpPr txBox="1"/>
          <p:nvPr/>
        </p:nvSpPr>
        <p:spPr>
          <a:xfrm>
            <a:off x="1072896" y="1450848"/>
            <a:ext cx="1602429" cy="167640"/>
          </a:xfrm>
          <a:prstGeom prst="rect">
            <a:avLst/>
          </a:prstGeom>
          <a:noFill/>
        </p:spPr>
        <p:txBody>
          <a:bodyPr wrap="none" lIns="0" rIns="0" tIns="0" bIns="0" anchor="t">
            <a:noAutofit/>
          </a:bodyPr>
          <a:lstStyle/>
          <a:p>
            <a:pPr algn="l">
              <a:lnSpc>
                <a:spcPts val="1320"/>
              </a:lnSpc>
              <a:spcBef>
                <a:spcPts val="0"/>
              </a:spcBef>
              <a:spcAft>
                <a:spcPts val="0"/>
              </a:spcAft>
            </a:pPr>
            <a:r>
              <a:rPr sz="1050" b="1" i="0" lang="es-CO">
                <a:solidFill>
                  <a:srgbClr val="2B2117"/>
                </a:solidFill>
                <a:latin typeface="Outfit"/>
              </a:rPr>
              <a:t>Naranja Olla / selección</a:t>
            </a:r>
          </a:p>
        </p:txBody>
      </p:sp>
      <p:sp>
        <p:nvSpPr>
          <p:cNvPr id="10" name="TextBox 9"/>
          <p:cNvSpPr txBox="1"/>
          <p:nvPr/>
        </p:nvSpPr>
        <p:spPr>
          <a:xfrm>
            <a:off x="1072896" y="1620012"/>
            <a:ext cx="611505" cy="152400"/>
          </a:xfrm>
          <a:prstGeom prst="rect">
            <a:avLst/>
          </a:prstGeom>
          <a:noFill/>
        </p:spPr>
        <p:txBody>
          <a:bodyPr wrap="none" lIns="0" rIns="0" tIns="0" bIns="0" anchor="t">
            <a:noAutofit/>
          </a:bodyPr>
          <a:lstStyle/>
          <a:p>
            <a:pPr algn="l">
              <a:lnSpc>
                <a:spcPts val="1200"/>
              </a:lnSpc>
              <a:spcBef>
                <a:spcPts val="0"/>
              </a:spcBef>
              <a:spcAft>
                <a:spcPts val="0"/>
              </a:spcAft>
            </a:pPr>
            <a:r>
              <a:rPr sz="950" b="0" i="0" lang="es-CO">
                <a:solidFill>
                  <a:srgbClr val="5B4A38"/>
                </a:solidFill>
                <a:latin typeface="Consolas"/>
              </a:rPr>
              <a:t>#F0822D</a:t>
            </a:r>
          </a:p>
        </p:txBody>
      </p:sp>
      <p:sp>
        <p:nvSpPr>
          <p:cNvPr id="11" name="Rounded Rectangle 10"/>
          <p:cNvSpPr/>
          <p:nvPr/>
        </p:nvSpPr>
        <p:spPr>
          <a:xfrm>
            <a:off x="3322320" y="1335024"/>
            <a:ext cx="2718816" cy="573024"/>
          </a:xfrm>
          <a:prstGeom prst="roundRect">
            <a:avLst>
              <a:gd name="adj" fmla="val 15957"/>
            </a:avLst>
          </a:prstGeom>
          <a:solidFill>
            <a:srgbClr val="FFFAF1"/>
          </a:solidFill>
          <a:ln w="12192" cap="flat">
            <a:solidFill>
              <a:srgbClr val="D8C39C"/>
            </a:solidFill>
          </a:ln>
        </p:spPr>
        <p:txBody>
          <a:bodyPr rtlCol="0" anchor="ctr"/>
          <a:lstStyle/>
          <a:p>
            <a:pPr algn="ctr"/>
          </a:p>
        </p:txBody>
      </p:sp>
      <p:sp>
        <p:nvSpPr>
          <p:cNvPr id="12" name="Rounded Rectangle 11"/>
          <p:cNvSpPr/>
          <p:nvPr/>
        </p:nvSpPr>
        <p:spPr>
          <a:xfrm>
            <a:off x="3432048" y="1444752"/>
            <a:ext cx="353568" cy="353568"/>
          </a:xfrm>
          <a:prstGeom prst="roundRect">
            <a:avLst>
              <a:gd name="adj" fmla="val 18965"/>
            </a:avLst>
          </a:prstGeom>
          <a:solidFill>
            <a:srgbClr val="62B869"/>
          </a:solidFill>
          <a:ln w="12192" cap="flat">
            <a:solidFill>
              <a:srgbClr val="2B2117">
                <a:alpha val="20000"/>
              </a:srgbClr>
            </a:solidFill>
          </a:ln>
        </p:spPr>
        <p:txBody>
          <a:bodyPr rtlCol="0" anchor="ctr"/>
          <a:lstStyle/>
          <a:p>
            <a:pPr algn="ctr"/>
          </a:p>
        </p:txBody>
      </p:sp>
      <p:sp>
        <p:nvSpPr>
          <p:cNvPr id="13" name="TextBox 12"/>
          <p:cNvSpPr txBox="1"/>
          <p:nvPr/>
        </p:nvSpPr>
        <p:spPr>
          <a:xfrm>
            <a:off x="3901440" y="1450848"/>
            <a:ext cx="1812608" cy="167640"/>
          </a:xfrm>
          <a:prstGeom prst="rect">
            <a:avLst/>
          </a:prstGeom>
          <a:noFill/>
        </p:spPr>
        <p:txBody>
          <a:bodyPr wrap="none" lIns="0" rIns="0" tIns="0" bIns="0" anchor="t">
            <a:noAutofit/>
          </a:bodyPr>
          <a:lstStyle/>
          <a:p>
            <a:pPr algn="l">
              <a:lnSpc>
                <a:spcPts val="1320"/>
              </a:lnSpc>
              <a:spcBef>
                <a:spcPts val="0"/>
              </a:spcBef>
              <a:spcAft>
                <a:spcPts val="0"/>
              </a:spcAft>
            </a:pPr>
            <a:r>
              <a:rPr sz="1050" b="1" i="0" lang="es-CO">
                <a:solidFill>
                  <a:srgbClr val="2B2117"/>
                </a:solidFill>
                <a:latin typeface="Outfit"/>
              </a:rPr>
              <a:t>Verde Cercana / disponible</a:t>
            </a:r>
          </a:p>
        </p:txBody>
      </p:sp>
      <p:sp>
        <p:nvSpPr>
          <p:cNvPr id="14" name="TextBox 13"/>
          <p:cNvSpPr txBox="1"/>
          <p:nvPr/>
        </p:nvSpPr>
        <p:spPr>
          <a:xfrm>
            <a:off x="3901440" y="1620012"/>
            <a:ext cx="611505" cy="152400"/>
          </a:xfrm>
          <a:prstGeom prst="rect">
            <a:avLst/>
          </a:prstGeom>
          <a:noFill/>
        </p:spPr>
        <p:txBody>
          <a:bodyPr wrap="none" lIns="0" rIns="0" tIns="0" bIns="0" anchor="t">
            <a:noAutofit/>
          </a:bodyPr>
          <a:lstStyle/>
          <a:p>
            <a:pPr algn="l">
              <a:lnSpc>
                <a:spcPts val="1200"/>
              </a:lnSpc>
              <a:spcBef>
                <a:spcPts val="0"/>
              </a:spcBef>
              <a:spcAft>
                <a:spcPts val="0"/>
              </a:spcAft>
            </a:pPr>
            <a:r>
              <a:rPr sz="950" b="0" i="0" lang="es-CO">
                <a:solidFill>
                  <a:srgbClr val="5B4A38"/>
                </a:solidFill>
                <a:latin typeface="Consolas"/>
              </a:rPr>
              <a:t>#62B869</a:t>
            </a:r>
          </a:p>
        </p:txBody>
      </p:sp>
      <p:sp>
        <p:nvSpPr>
          <p:cNvPr id="15" name="Rounded Rectangle 14"/>
          <p:cNvSpPr/>
          <p:nvPr/>
        </p:nvSpPr>
        <p:spPr>
          <a:xfrm>
            <a:off x="6150864" y="1335024"/>
            <a:ext cx="2718816" cy="573024"/>
          </a:xfrm>
          <a:prstGeom prst="roundRect">
            <a:avLst>
              <a:gd name="adj" fmla="val 15957"/>
            </a:avLst>
          </a:prstGeom>
          <a:solidFill>
            <a:srgbClr val="FFFAF1"/>
          </a:solidFill>
          <a:ln w="12192" cap="flat">
            <a:solidFill>
              <a:srgbClr val="D8C39C"/>
            </a:solidFill>
          </a:ln>
        </p:spPr>
        <p:txBody>
          <a:bodyPr rtlCol="0" anchor="ctr"/>
          <a:lstStyle/>
          <a:p>
            <a:pPr algn="ctr"/>
          </a:p>
        </p:txBody>
      </p:sp>
      <p:sp>
        <p:nvSpPr>
          <p:cNvPr id="16" name="Rounded Rectangle 15"/>
          <p:cNvSpPr/>
          <p:nvPr/>
        </p:nvSpPr>
        <p:spPr>
          <a:xfrm>
            <a:off x="6260592" y="1444752"/>
            <a:ext cx="353568" cy="353568"/>
          </a:xfrm>
          <a:prstGeom prst="roundRect">
            <a:avLst>
              <a:gd name="adj" fmla="val 18965"/>
            </a:avLst>
          </a:prstGeom>
          <a:solidFill>
            <a:srgbClr val="C84B31"/>
          </a:solidFill>
          <a:ln w="12192" cap="flat">
            <a:solidFill>
              <a:srgbClr val="2B2117">
                <a:alpha val="20000"/>
              </a:srgbClr>
            </a:solidFill>
          </a:ln>
        </p:spPr>
        <p:txBody>
          <a:bodyPr rtlCol="0" anchor="ctr"/>
          <a:lstStyle/>
          <a:p>
            <a:pPr algn="ctr"/>
          </a:p>
        </p:txBody>
      </p:sp>
      <p:sp>
        <p:nvSpPr>
          <p:cNvPr id="17" name="TextBox 16"/>
          <p:cNvSpPr txBox="1"/>
          <p:nvPr/>
        </p:nvSpPr>
        <p:spPr>
          <a:xfrm>
            <a:off x="6729984" y="1450848"/>
            <a:ext cx="1222096" cy="167640"/>
          </a:xfrm>
          <a:prstGeom prst="rect">
            <a:avLst/>
          </a:prstGeom>
          <a:noFill/>
        </p:spPr>
        <p:txBody>
          <a:bodyPr wrap="none" lIns="0" rIns="0" tIns="0" bIns="0" anchor="t">
            <a:noAutofit/>
          </a:bodyPr>
          <a:lstStyle/>
          <a:p>
            <a:pPr algn="l">
              <a:lnSpc>
                <a:spcPts val="1320"/>
              </a:lnSpc>
              <a:spcBef>
                <a:spcPts val="0"/>
              </a:spcBef>
              <a:spcAft>
                <a:spcPts val="0"/>
              </a:spcAft>
            </a:pPr>
            <a:r>
              <a:rPr sz="1050" b="1" i="0" lang="es-CO">
                <a:solidFill>
                  <a:srgbClr val="2B2117"/>
                </a:solidFill>
                <a:latin typeface="Outfit"/>
              </a:rPr>
              <a:t>Terracota / acción</a:t>
            </a:r>
          </a:p>
        </p:txBody>
      </p:sp>
      <p:sp>
        <p:nvSpPr>
          <p:cNvPr id="18" name="TextBox 17"/>
          <p:cNvSpPr txBox="1"/>
          <p:nvPr/>
        </p:nvSpPr>
        <p:spPr>
          <a:xfrm>
            <a:off x="6729984" y="1620012"/>
            <a:ext cx="611505" cy="152400"/>
          </a:xfrm>
          <a:prstGeom prst="rect">
            <a:avLst/>
          </a:prstGeom>
          <a:noFill/>
        </p:spPr>
        <p:txBody>
          <a:bodyPr wrap="none" lIns="0" rIns="0" tIns="0" bIns="0" anchor="t">
            <a:noAutofit/>
          </a:bodyPr>
          <a:lstStyle/>
          <a:p>
            <a:pPr algn="l">
              <a:lnSpc>
                <a:spcPts val="1200"/>
              </a:lnSpc>
              <a:spcBef>
                <a:spcPts val="0"/>
              </a:spcBef>
              <a:spcAft>
                <a:spcPts val="0"/>
              </a:spcAft>
            </a:pPr>
            <a:r>
              <a:rPr sz="950" b="0" i="0" lang="es-CO">
                <a:solidFill>
                  <a:srgbClr val="5B4A38"/>
                </a:solidFill>
                <a:latin typeface="Consolas"/>
              </a:rPr>
              <a:t>#C84B31</a:t>
            </a:r>
          </a:p>
        </p:txBody>
      </p:sp>
      <p:sp>
        <p:nvSpPr>
          <p:cNvPr id="19" name="Rounded Rectangle 18"/>
          <p:cNvSpPr/>
          <p:nvPr/>
        </p:nvSpPr>
        <p:spPr>
          <a:xfrm>
            <a:off x="8979408" y="1335024"/>
            <a:ext cx="2718816" cy="573024"/>
          </a:xfrm>
          <a:prstGeom prst="roundRect">
            <a:avLst>
              <a:gd name="adj" fmla="val 15957"/>
            </a:avLst>
          </a:prstGeom>
          <a:solidFill>
            <a:srgbClr val="FFFAF1"/>
          </a:solidFill>
          <a:ln w="12192" cap="flat">
            <a:solidFill>
              <a:srgbClr val="D8C39C"/>
            </a:solidFill>
          </a:ln>
        </p:spPr>
        <p:txBody>
          <a:bodyPr rtlCol="0" anchor="ctr"/>
          <a:lstStyle/>
          <a:p>
            <a:pPr algn="ctr"/>
          </a:p>
        </p:txBody>
      </p:sp>
      <p:sp>
        <p:nvSpPr>
          <p:cNvPr id="20" name="Rounded Rectangle 19"/>
          <p:cNvSpPr/>
          <p:nvPr/>
        </p:nvSpPr>
        <p:spPr>
          <a:xfrm>
            <a:off x="9089136" y="1444752"/>
            <a:ext cx="353568" cy="353568"/>
          </a:xfrm>
          <a:prstGeom prst="roundRect">
            <a:avLst>
              <a:gd name="adj" fmla="val 18965"/>
            </a:avLst>
          </a:prstGeom>
          <a:solidFill>
            <a:srgbClr val="F4C430"/>
          </a:solidFill>
          <a:ln w="12192" cap="flat">
            <a:solidFill>
              <a:srgbClr val="2B2117">
                <a:alpha val="20000"/>
              </a:srgbClr>
            </a:solidFill>
          </a:ln>
        </p:spPr>
        <p:txBody>
          <a:bodyPr rtlCol="0" anchor="ctr"/>
          <a:lstStyle/>
          <a:p>
            <a:pPr algn="ctr"/>
          </a:p>
        </p:txBody>
      </p:sp>
      <p:sp>
        <p:nvSpPr>
          <p:cNvPr id="21" name="TextBox 20"/>
          <p:cNvSpPr txBox="1"/>
          <p:nvPr/>
        </p:nvSpPr>
        <p:spPr>
          <a:xfrm>
            <a:off x="9558528" y="1450848"/>
            <a:ext cx="1471041" cy="167640"/>
          </a:xfrm>
          <a:prstGeom prst="rect">
            <a:avLst/>
          </a:prstGeom>
          <a:noFill/>
        </p:spPr>
        <p:txBody>
          <a:bodyPr wrap="none" lIns="0" rIns="0" tIns="0" bIns="0" anchor="t">
            <a:noAutofit/>
          </a:bodyPr>
          <a:lstStyle/>
          <a:p>
            <a:pPr algn="l">
              <a:lnSpc>
                <a:spcPts val="1320"/>
              </a:lnSpc>
              <a:spcBef>
                <a:spcPts val="0"/>
              </a:spcBef>
              <a:spcAft>
                <a:spcPts val="0"/>
              </a:spcAft>
            </a:pPr>
            <a:r>
              <a:rPr sz="1050" b="1" i="0" lang="es-CO">
                <a:solidFill>
                  <a:srgbClr val="2B2117"/>
                </a:solidFill>
                <a:latin typeface="Outfit"/>
              </a:rPr>
              <a:t>Amarillo / calificación</a:t>
            </a:r>
          </a:p>
        </p:txBody>
      </p:sp>
      <p:sp>
        <p:nvSpPr>
          <p:cNvPr id="22" name="TextBox 21"/>
          <p:cNvSpPr txBox="1"/>
          <p:nvPr/>
        </p:nvSpPr>
        <p:spPr>
          <a:xfrm>
            <a:off x="9558528" y="1620012"/>
            <a:ext cx="611505" cy="152400"/>
          </a:xfrm>
          <a:prstGeom prst="rect">
            <a:avLst/>
          </a:prstGeom>
          <a:noFill/>
        </p:spPr>
        <p:txBody>
          <a:bodyPr wrap="none" lIns="0" rIns="0" tIns="0" bIns="0" anchor="t">
            <a:noAutofit/>
          </a:bodyPr>
          <a:lstStyle/>
          <a:p>
            <a:pPr algn="l">
              <a:lnSpc>
                <a:spcPts val="1200"/>
              </a:lnSpc>
              <a:spcBef>
                <a:spcPts val="0"/>
              </a:spcBef>
              <a:spcAft>
                <a:spcPts val="0"/>
              </a:spcAft>
            </a:pPr>
            <a:r>
              <a:rPr sz="950" b="0" i="0" lang="es-CO">
                <a:solidFill>
                  <a:srgbClr val="5B4A38"/>
                </a:solidFill>
                <a:latin typeface="Consolas"/>
              </a:rPr>
              <a:t>#F4C430</a:t>
            </a:r>
          </a:p>
        </p:txBody>
      </p:sp>
      <p:sp>
        <p:nvSpPr>
          <p:cNvPr id="23" name="Rounded Rectangle 22"/>
          <p:cNvSpPr/>
          <p:nvPr/>
        </p:nvSpPr>
        <p:spPr>
          <a:xfrm>
            <a:off x="493776" y="2017776"/>
            <a:ext cx="2718816" cy="573024"/>
          </a:xfrm>
          <a:prstGeom prst="roundRect">
            <a:avLst>
              <a:gd name="adj" fmla="val 15957"/>
            </a:avLst>
          </a:prstGeom>
          <a:solidFill>
            <a:srgbClr val="FFFAF1"/>
          </a:solidFill>
          <a:ln w="12192" cap="flat">
            <a:solidFill>
              <a:srgbClr val="D8C39C"/>
            </a:solidFill>
          </a:ln>
        </p:spPr>
        <p:txBody>
          <a:bodyPr rtlCol="0" anchor="ctr"/>
          <a:lstStyle/>
          <a:p>
            <a:pPr algn="ctr"/>
          </a:p>
        </p:txBody>
      </p:sp>
      <p:sp>
        <p:nvSpPr>
          <p:cNvPr id="24" name="Rounded Rectangle 23"/>
          <p:cNvSpPr/>
          <p:nvPr/>
        </p:nvSpPr>
        <p:spPr>
          <a:xfrm>
            <a:off x="603504" y="2127504"/>
            <a:ext cx="353568" cy="353568"/>
          </a:xfrm>
          <a:prstGeom prst="roundRect">
            <a:avLst>
              <a:gd name="adj" fmla="val 18965"/>
            </a:avLst>
          </a:prstGeom>
          <a:solidFill>
            <a:srgbClr val="8B5E34"/>
          </a:solidFill>
          <a:ln w="12192" cap="flat">
            <a:solidFill>
              <a:srgbClr val="2B2117">
                <a:alpha val="20000"/>
              </a:srgbClr>
            </a:solidFill>
          </a:ln>
        </p:spPr>
        <p:txBody>
          <a:bodyPr rtlCol="0" anchor="ctr"/>
          <a:lstStyle/>
          <a:p>
            <a:pPr algn="ctr"/>
          </a:p>
        </p:txBody>
      </p:sp>
      <p:sp>
        <p:nvSpPr>
          <p:cNvPr id="25" name="TextBox 24"/>
          <p:cNvSpPr txBox="1"/>
          <p:nvPr/>
        </p:nvSpPr>
        <p:spPr>
          <a:xfrm>
            <a:off x="1072896" y="2133600"/>
            <a:ext cx="1955730" cy="167640"/>
          </a:xfrm>
          <a:prstGeom prst="rect">
            <a:avLst/>
          </a:prstGeom>
          <a:noFill/>
        </p:spPr>
        <p:txBody>
          <a:bodyPr wrap="none" lIns="0" rIns="0" tIns="0" bIns="0" anchor="t">
            <a:noAutofit/>
          </a:bodyPr>
          <a:lstStyle/>
          <a:p>
            <a:pPr algn="l">
              <a:lnSpc>
                <a:spcPts val="1320"/>
              </a:lnSpc>
              <a:spcBef>
                <a:spcPts val="0"/>
              </a:spcBef>
              <a:spcAft>
                <a:spcPts val="0"/>
              </a:spcAft>
            </a:pPr>
            <a:r>
              <a:rPr sz="1050" b="1" i="0" lang="es-CO">
                <a:solidFill>
                  <a:srgbClr val="2B2117"/>
                </a:solidFill>
                <a:latin typeface="Outfit"/>
              </a:rPr>
              <a:t>Madera / contorno de tarjeta</a:t>
            </a:r>
          </a:p>
        </p:txBody>
      </p:sp>
      <p:sp>
        <p:nvSpPr>
          <p:cNvPr id="26" name="TextBox 25"/>
          <p:cNvSpPr txBox="1"/>
          <p:nvPr/>
        </p:nvSpPr>
        <p:spPr>
          <a:xfrm>
            <a:off x="1072896" y="2302764"/>
            <a:ext cx="611505" cy="152400"/>
          </a:xfrm>
          <a:prstGeom prst="rect">
            <a:avLst/>
          </a:prstGeom>
          <a:noFill/>
        </p:spPr>
        <p:txBody>
          <a:bodyPr wrap="none" lIns="0" rIns="0" tIns="0" bIns="0" anchor="t">
            <a:noAutofit/>
          </a:bodyPr>
          <a:lstStyle/>
          <a:p>
            <a:pPr algn="l">
              <a:lnSpc>
                <a:spcPts val="1200"/>
              </a:lnSpc>
              <a:spcBef>
                <a:spcPts val="0"/>
              </a:spcBef>
              <a:spcAft>
                <a:spcPts val="0"/>
              </a:spcAft>
            </a:pPr>
            <a:r>
              <a:rPr sz="950" b="0" i="0" lang="es-CO">
                <a:solidFill>
                  <a:srgbClr val="5B4A38"/>
                </a:solidFill>
                <a:latin typeface="Consolas"/>
              </a:rPr>
              <a:t>#8B5E34</a:t>
            </a:r>
          </a:p>
        </p:txBody>
      </p:sp>
      <p:sp>
        <p:nvSpPr>
          <p:cNvPr id="27" name="Rounded Rectangle 26"/>
          <p:cNvSpPr/>
          <p:nvPr/>
        </p:nvSpPr>
        <p:spPr>
          <a:xfrm>
            <a:off x="3322320" y="2017776"/>
            <a:ext cx="2718816" cy="573024"/>
          </a:xfrm>
          <a:prstGeom prst="roundRect">
            <a:avLst>
              <a:gd name="adj" fmla="val 15957"/>
            </a:avLst>
          </a:prstGeom>
          <a:solidFill>
            <a:srgbClr val="FFFAF1"/>
          </a:solidFill>
          <a:ln w="12192" cap="flat">
            <a:solidFill>
              <a:srgbClr val="D8C39C"/>
            </a:solidFill>
          </a:ln>
        </p:spPr>
        <p:txBody>
          <a:bodyPr rtlCol="0" anchor="ctr"/>
          <a:lstStyle/>
          <a:p>
            <a:pPr algn="ctr"/>
          </a:p>
        </p:txBody>
      </p:sp>
      <p:sp>
        <p:nvSpPr>
          <p:cNvPr id="28" name="Rounded Rectangle 27"/>
          <p:cNvSpPr/>
          <p:nvPr/>
        </p:nvSpPr>
        <p:spPr>
          <a:xfrm>
            <a:off x="3432048" y="2127504"/>
            <a:ext cx="353568" cy="353568"/>
          </a:xfrm>
          <a:prstGeom prst="roundRect">
            <a:avLst>
              <a:gd name="adj" fmla="val 18965"/>
            </a:avLst>
          </a:prstGeom>
          <a:solidFill>
            <a:srgbClr val="448A9C"/>
          </a:solidFill>
          <a:ln w="12192" cap="flat">
            <a:solidFill>
              <a:srgbClr val="2B2117">
                <a:alpha val="20000"/>
              </a:srgbClr>
            </a:solidFill>
          </a:ln>
        </p:spPr>
        <p:txBody>
          <a:bodyPr rtlCol="0" anchor="ctr"/>
          <a:lstStyle/>
          <a:p>
            <a:pPr algn="ctr"/>
          </a:p>
        </p:txBody>
      </p:sp>
      <p:sp>
        <p:nvSpPr>
          <p:cNvPr id="29" name="TextBox 28"/>
          <p:cNvSpPr txBox="1"/>
          <p:nvPr/>
        </p:nvSpPr>
        <p:spPr>
          <a:xfrm>
            <a:off x="3901440" y="2133600"/>
            <a:ext cx="1405871" cy="167640"/>
          </a:xfrm>
          <a:prstGeom prst="rect">
            <a:avLst/>
          </a:prstGeom>
          <a:noFill/>
        </p:spPr>
        <p:txBody>
          <a:bodyPr wrap="none" lIns="0" rIns="0" tIns="0" bIns="0" anchor="t">
            <a:noAutofit/>
          </a:bodyPr>
          <a:lstStyle/>
          <a:p>
            <a:pPr algn="l">
              <a:lnSpc>
                <a:spcPts val="1320"/>
              </a:lnSpc>
              <a:spcBef>
                <a:spcPts val="0"/>
              </a:spcBef>
              <a:spcAft>
                <a:spcPts val="0"/>
              </a:spcAft>
            </a:pPr>
            <a:r>
              <a:rPr sz="1050" b="1" i="0" lang="es-CO">
                <a:solidFill>
                  <a:srgbClr val="2B2117"/>
                </a:solidFill>
                <a:latin typeface="Outfit"/>
              </a:rPr>
              <a:t>Azul del mapa / agua</a:t>
            </a:r>
          </a:p>
        </p:txBody>
      </p:sp>
      <p:sp>
        <p:nvSpPr>
          <p:cNvPr id="30" name="TextBox 29"/>
          <p:cNvSpPr txBox="1"/>
          <p:nvPr/>
        </p:nvSpPr>
        <p:spPr>
          <a:xfrm>
            <a:off x="3901440" y="2302764"/>
            <a:ext cx="611505" cy="152400"/>
          </a:xfrm>
          <a:prstGeom prst="rect">
            <a:avLst/>
          </a:prstGeom>
          <a:noFill/>
        </p:spPr>
        <p:txBody>
          <a:bodyPr wrap="none" lIns="0" rIns="0" tIns="0" bIns="0" anchor="t">
            <a:noAutofit/>
          </a:bodyPr>
          <a:lstStyle/>
          <a:p>
            <a:pPr algn="l">
              <a:lnSpc>
                <a:spcPts val="1200"/>
              </a:lnSpc>
              <a:spcBef>
                <a:spcPts val="0"/>
              </a:spcBef>
              <a:spcAft>
                <a:spcPts val="0"/>
              </a:spcAft>
            </a:pPr>
            <a:r>
              <a:rPr sz="950" b="0" i="0" lang="es-CO">
                <a:solidFill>
                  <a:srgbClr val="5B4A38"/>
                </a:solidFill>
                <a:latin typeface="Consolas"/>
              </a:rPr>
              <a:t>#448A9C</a:t>
            </a:r>
          </a:p>
        </p:txBody>
      </p:sp>
      <p:sp>
        <p:nvSpPr>
          <p:cNvPr id="31" name="Rounded Rectangle 30"/>
          <p:cNvSpPr/>
          <p:nvPr/>
        </p:nvSpPr>
        <p:spPr>
          <a:xfrm>
            <a:off x="493776" y="2822448"/>
            <a:ext cx="11204448" cy="1330452"/>
          </a:xfrm>
          <a:prstGeom prst="roundRect">
            <a:avLst>
              <a:gd name="adj" fmla="val 8705"/>
            </a:avLst>
          </a:prstGeom>
          <a:solidFill>
            <a:srgbClr val="E5484D">
              <a:alpha val="8000"/>
            </a:srgbClr>
          </a:solidFill>
          <a:ln w="12192" cap="flat">
            <a:solidFill>
              <a:srgbClr val="E5484D">
                <a:alpha val="35000"/>
              </a:srgbClr>
            </a:solidFill>
          </a:ln>
        </p:spPr>
        <p:txBody>
          <a:bodyPr rtlCol="0" anchor="ctr"/>
          <a:lstStyle/>
          <a:p>
            <a:pPr algn="ctr"/>
          </a:p>
        </p:txBody>
      </p:sp>
      <p:sp>
        <p:nvSpPr>
          <p:cNvPr id="32" name="TextBox 31"/>
          <p:cNvSpPr txBox="1"/>
          <p:nvPr/>
        </p:nvSpPr>
        <p:spPr>
          <a:xfrm>
            <a:off x="719328" y="3023616"/>
            <a:ext cx="1832724"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E5484D"/>
                </a:solidFill>
                <a:latin typeface="Outfit"/>
              </a:rPr>
              <a:t>Accesibilidad WCAG</a:t>
            </a:r>
          </a:p>
        </p:txBody>
      </p:sp>
      <p:sp>
        <p:nvSpPr>
          <p:cNvPr id="33" name="TextBox 32"/>
          <p:cNvSpPr txBox="1"/>
          <p:nvPr/>
        </p:nvSpPr>
        <p:spPr>
          <a:xfrm>
            <a:off x="719328" y="3234690"/>
            <a:ext cx="11398545" cy="708660"/>
          </a:xfrm>
          <a:prstGeom prst="rect">
            <a:avLst/>
          </a:prstGeom>
          <a:noFill/>
        </p:spPr>
        <p:txBody>
          <a:bodyPr wrap="square" lIns="0" rIns="0" tIns="0" bIns="0" anchor="t">
            <a:noAutofit/>
          </a:bodyPr>
          <a:lstStyle/>
          <a:p>
            <a:pPr algn="l">
              <a:lnSpc>
                <a:spcPts val="1859"/>
              </a:lnSpc>
              <a:spcBef>
                <a:spcPts val="0"/>
              </a:spcBef>
              <a:spcAft>
                <a:spcPts val="0"/>
              </a:spcAft>
            </a:pPr>
            <a:r>
              <a:rPr sz="1200" b="0" i="0" lang="es-CO">
                <a:solidFill>
                  <a:srgbClr val="5B4A38"/>
                </a:solidFill>
                <a:latin typeface="Outfit"/>
              </a:rPr>
              <a:t>Sobre fondos claros, evita texto blanco sobre Amarillo Cálido y usa texto oscuro. Comprueba el contraste de cada combinación de texto y fondo antes de</a:t>
            </a:r>
            <a:br/>
            <a:r>
              <a:rPr sz="1200" b="0" i="0" lang="es-CO">
                <a:solidFill>
                  <a:srgbClr val="5B4A38"/>
                </a:solidFill>
                <a:latin typeface="Outfit"/>
              </a:rPr>
              <a:t>publicar para cumplir WCAG AA. En botones pequeños, verifica el contraste del texto con el fondo; el naranja #F0822D requiere texto oscuro para cumplir AA en</a:t>
            </a:r>
            <a:br/>
            <a:r>
              <a:rPr sz="1200" b="0" i="0" lang="es-CO">
                <a:solidFill>
                  <a:srgbClr val="5B4A38"/>
                </a:solidFill>
                <a:latin typeface="Outfit"/>
              </a:rPr>
              <a:t>texto normal.</a:t>
            </a:r>
          </a:p>
        </p:txBody>
      </p:sp>
      <p:cxnSp>
        <p:nvCxnSpPr>
          <p:cNvPr id="34" name="Connector 33"/>
          <p:cNvCxnSpPr/>
          <p:nvPr/>
        </p:nvCxnSpPr>
        <p:spPr>
          <a:xfrm>
            <a:off x="487680" y="6327648"/>
            <a:ext cx="11216640" cy="0"/>
          </a:xfrm>
          <a:prstGeom prst="line">
            <a:avLst/>
          </a:prstGeom>
          <a:ln w="24384" cap="flat">
            <a:solidFill>
              <a:srgbClr val="D8C39C"/>
            </a:solidFill>
          </a:ln>
        </p:spPr>
      </p:cxnSp>
      <p:sp>
        <p:nvSpPr>
          <p:cNvPr id="35" name="TextBox 34"/>
          <p:cNvSpPr txBox="1"/>
          <p:nvPr/>
        </p:nvSpPr>
        <p:spPr>
          <a:xfrm>
            <a:off x="487680" y="6486144"/>
            <a:ext cx="2844013"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Brand Guidelines</a:t>
            </a:r>
          </a:p>
        </p:txBody>
      </p:sp>
      <p:sp>
        <p:nvSpPr>
          <p:cNvPr id="36" name="TextBox 35"/>
          <p:cNvSpPr txBox="1"/>
          <p:nvPr/>
        </p:nvSpPr>
        <p:spPr>
          <a:xfrm>
            <a:off x="11232642" y="6486144"/>
            <a:ext cx="569214"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08 /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399738" y="359764"/>
            <a:ext cx="259830" cy="29980"/>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759502" y="299803"/>
            <a:ext cx="253896" cy="149902"/>
          </a:xfrm>
          <a:prstGeom prst="rect">
            <a:avLst/>
          </a:prstGeom>
          <a:noFill/>
        </p:spPr>
        <p:txBody>
          <a:bodyPr wrap="none" lIns="0" rIns="0" tIns="0" bIns="0" anchor="t">
            <a:noAutofit/>
          </a:bodyPr>
          <a:lstStyle/>
          <a:p>
            <a:pPr algn="l">
              <a:lnSpc>
                <a:spcPts val="1180"/>
              </a:lnSpc>
              <a:spcBef>
                <a:spcPts val="0"/>
              </a:spcBef>
              <a:spcAft>
                <a:spcPts val="0"/>
              </a:spcAft>
            </a:pPr>
            <a:r>
              <a:rPr sz="950" b="1" i="0" lang="es-CO" cap="all" spc="94">
                <a:solidFill>
                  <a:srgbClr val="D97224"/>
                </a:solidFill>
                <a:latin typeface="Outfit"/>
              </a:rPr>
              <a:t>09</a:t>
            </a:r>
          </a:p>
        </p:txBody>
      </p:sp>
      <p:sp>
        <p:nvSpPr>
          <p:cNvPr id="5" name="TextBox 4"/>
          <p:cNvSpPr txBox="1"/>
          <p:nvPr/>
        </p:nvSpPr>
        <p:spPr>
          <a:xfrm>
            <a:off x="1033384" y="299803"/>
            <a:ext cx="1037960" cy="149902"/>
          </a:xfrm>
          <a:prstGeom prst="rect">
            <a:avLst/>
          </a:prstGeom>
          <a:noFill/>
        </p:spPr>
        <p:txBody>
          <a:bodyPr wrap="none" lIns="0" rIns="0" tIns="0" bIns="0" anchor="t">
            <a:noAutofit/>
          </a:bodyPr>
          <a:lstStyle/>
          <a:p>
            <a:pPr algn="l">
              <a:lnSpc>
                <a:spcPts val="1180"/>
              </a:lnSpc>
              <a:spcBef>
                <a:spcPts val="0"/>
              </a:spcBef>
              <a:spcAft>
                <a:spcPts val="0"/>
              </a:spcAft>
            </a:pPr>
            <a:r>
              <a:rPr sz="950" b="1" i="0" lang="es-CO" cap="all" spc="94">
                <a:solidFill>
                  <a:srgbClr val="5B4A38"/>
                </a:solidFill>
                <a:latin typeface="Outfit"/>
              </a:rPr>
              <a:t>/ Tipografía</a:t>
            </a:r>
          </a:p>
        </p:txBody>
      </p:sp>
      <p:sp>
        <p:nvSpPr>
          <p:cNvPr id="6" name="TextBox 5"/>
          <p:cNvSpPr txBox="1"/>
          <p:nvPr/>
        </p:nvSpPr>
        <p:spPr>
          <a:xfrm>
            <a:off x="399738" y="584616"/>
            <a:ext cx="3135177" cy="679554"/>
          </a:xfrm>
          <a:prstGeom prst="rect">
            <a:avLst/>
          </a:prstGeom>
          <a:noFill/>
        </p:spPr>
        <p:txBody>
          <a:bodyPr wrap="none" lIns="0" rIns="0" tIns="0" bIns="0" anchor="t">
            <a:noAutofit/>
          </a:bodyPr>
          <a:lstStyle/>
          <a:p>
            <a:pPr algn="l">
              <a:lnSpc>
                <a:spcPts val="5350"/>
              </a:lnSpc>
              <a:spcBef>
                <a:spcPts val="0"/>
              </a:spcBef>
              <a:spcAft>
                <a:spcPts val="0"/>
              </a:spcAft>
            </a:pPr>
            <a:r>
              <a:rPr sz="5350" b="1" i="0" lang="es-CO">
                <a:solidFill>
                  <a:srgbClr val="2B2117"/>
                </a:solidFill>
                <a:latin typeface="Playfair Display"/>
              </a:rPr>
              <a:t>Lenguaje</a:t>
            </a:r>
          </a:p>
        </p:txBody>
      </p:sp>
      <p:sp>
        <p:nvSpPr>
          <p:cNvPr id="7" name="TextBox 6"/>
          <p:cNvSpPr txBox="1"/>
          <p:nvPr/>
        </p:nvSpPr>
        <p:spPr>
          <a:xfrm>
            <a:off x="399738" y="1264170"/>
            <a:ext cx="2561835" cy="679554"/>
          </a:xfrm>
          <a:prstGeom prst="rect">
            <a:avLst/>
          </a:prstGeom>
          <a:noFill/>
        </p:spPr>
        <p:txBody>
          <a:bodyPr wrap="none" lIns="0" rIns="0" tIns="0" bIns="0" anchor="t">
            <a:noAutofit/>
          </a:bodyPr>
          <a:lstStyle/>
          <a:p>
            <a:pPr algn="l">
              <a:lnSpc>
                <a:spcPts val="5350"/>
              </a:lnSpc>
              <a:spcBef>
                <a:spcPts val="0"/>
              </a:spcBef>
              <a:spcAft>
                <a:spcPts val="0"/>
              </a:spcAft>
            </a:pPr>
            <a:r>
              <a:rPr sz="5350" b="1" i="0" lang="es-CO">
                <a:solidFill>
                  <a:srgbClr val="F0822D"/>
                </a:solidFill>
                <a:latin typeface="Playfair Display"/>
              </a:rPr>
              <a:t>escrito.</a:t>
            </a:r>
          </a:p>
        </p:txBody>
      </p:sp>
      <p:sp>
        <p:nvSpPr>
          <p:cNvPr id="8" name="TextBox 7"/>
          <p:cNvSpPr txBox="1"/>
          <p:nvPr/>
        </p:nvSpPr>
        <p:spPr>
          <a:xfrm>
            <a:off x="399738" y="2121608"/>
            <a:ext cx="6567690" cy="527654"/>
          </a:xfrm>
          <a:prstGeom prst="rect">
            <a:avLst/>
          </a:prstGeom>
          <a:noFill/>
        </p:spPr>
        <p:txBody>
          <a:bodyPr wrap="square" lIns="0" rIns="0" tIns="0" bIns="0" anchor="t">
            <a:noAutofit/>
          </a:bodyPr>
          <a:lstStyle/>
          <a:p>
            <a:pPr algn="l">
              <a:lnSpc>
                <a:spcPts val="2077"/>
              </a:lnSpc>
              <a:spcBef>
                <a:spcPts val="0"/>
              </a:spcBef>
              <a:spcAft>
                <a:spcPts val="0"/>
              </a:spcAft>
            </a:pPr>
            <a:r>
              <a:rPr sz="1250" b="0" i="0" lang="es-CO">
                <a:solidFill>
                  <a:srgbClr val="5B4A38"/>
                </a:solidFill>
                <a:latin typeface="Outfit"/>
              </a:rPr>
              <a:t>La interfaz vigente usa </a:t>
            </a:r>
            <a:r>
              <a:rPr sz="1250" b="1" i="0" lang="es-CO">
                <a:solidFill>
                  <a:srgbClr val="2B2117"/>
                </a:solidFill>
                <a:latin typeface="Outfit"/>
              </a:rPr>
              <a:t>Outfit</a:t>
            </a:r>
            <a:r>
              <a:rPr sz="1250" b="0" i="0" lang="es-CO">
                <a:solidFill>
                  <a:srgbClr val="5B4A38"/>
                </a:solidFill>
                <a:latin typeface="Outfit"/>
              </a:rPr>
              <a:t> para navegación y lectura, </a:t>
            </a:r>
            <a:r>
              <a:rPr sz="1250" b="1" i="0" lang="es-CO">
                <a:solidFill>
                  <a:srgbClr val="2B2117"/>
                </a:solidFill>
                <a:latin typeface="Playfair Display"/>
              </a:rPr>
              <a:t>Playfair Display</a:t>
            </a:r>
            <a:r>
              <a:rPr sz="1250" b="0" i="0" lang="es-CO">
                <a:solidFill>
                  <a:srgbClr val="5B4A38"/>
                </a:solidFill>
                <a:latin typeface="Outfit"/>
              </a:rPr>
              <a:t> para titulares</a:t>
            </a:r>
            <a:br/>
            <a:r>
              <a:rPr sz="1250" b="0" i="0" lang="es-CO">
                <a:solidFill>
                  <a:srgbClr val="5B4A38"/>
                </a:solidFill>
                <a:latin typeface="Outfit"/>
              </a:rPr>
              <a:t>editoriales y Caveat para acentos manuscritos.</a:t>
            </a:r>
          </a:p>
        </p:txBody>
      </p:sp>
      <p:sp>
        <p:nvSpPr>
          <p:cNvPr id="9" name="Rounded Rectangle 8"/>
          <p:cNvSpPr/>
          <p:nvPr/>
        </p:nvSpPr>
        <p:spPr>
          <a:xfrm>
            <a:off x="399738" y="2905906"/>
            <a:ext cx="11392525" cy="3467725"/>
          </a:xfrm>
          <a:prstGeom prst="roundRect">
            <a:avLst>
              <a:gd name="adj" fmla="val 1729"/>
            </a:avLst>
          </a:prstGeom>
          <a:solidFill>
            <a:srgbClr val="D8C39C"/>
          </a:solidFill>
          <a:ln>
            <a:noFill/>
          </a:ln>
        </p:spPr>
        <p:txBody>
          <a:bodyPr rtlCol="0" anchor="ctr"/>
          <a:lstStyle/>
          <a:p>
            <a:pPr algn="ctr"/>
          </a:p>
        </p:txBody>
      </p:sp>
      <p:sp>
        <p:nvSpPr>
          <p:cNvPr id="10" name="Rounded Rectangle 9"/>
          <p:cNvSpPr/>
          <p:nvPr/>
        </p:nvSpPr>
        <p:spPr>
          <a:xfrm>
            <a:off x="404734" y="2880922"/>
            <a:ext cx="11382531" cy="3457731"/>
          </a:xfrm>
          <a:prstGeom prst="roundRect">
            <a:avLst>
              <a:gd name="adj" fmla="val 1589"/>
            </a:avLst>
          </a:prstGeom>
          <a:solidFill>
            <a:srgbClr val="EFE0C2"/>
          </a:solidFill>
          <a:ln w="9993" cap="flat">
            <a:solidFill>
              <a:srgbClr val="D8C39C"/>
            </a:solidFill>
          </a:ln>
        </p:spPr>
        <p:txBody>
          <a:bodyPr rtlCol="0" anchor="ctr"/>
          <a:lstStyle/>
          <a:p>
            <a:pPr algn="ctr"/>
          </a:p>
        </p:txBody>
      </p:sp>
      <p:cxnSp>
        <p:nvCxnSpPr>
          <p:cNvPr id="11" name="Connector 10"/>
          <p:cNvCxnSpPr/>
          <p:nvPr/>
        </p:nvCxnSpPr>
        <p:spPr>
          <a:xfrm>
            <a:off x="629587" y="3860280"/>
            <a:ext cx="10932826" cy="0"/>
          </a:xfrm>
          <a:prstGeom prst="line">
            <a:avLst/>
          </a:prstGeom>
          <a:ln w="9993" cap="flat">
            <a:solidFill>
              <a:srgbClr val="D8C39C"/>
            </a:solidFill>
            <a:prstDash val="dash"/>
          </a:ln>
        </p:spPr>
      </p:cxnSp>
      <p:sp>
        <p:nvSpPr>
          <p:cNvPr id="12" name="TextBox 11"/>
          <p:cNvSpPr txBox="1"/>
          <p:nvPr/>
        </p:nvSpPr>
        <p:spPr>
          <a:xfrm>
            <a:off x="629587" y="3410575"/>
            <a:ext cx="576653" cy="139908"/>
          </a:xfrm>
          <a:prstGeom prst="rect">
            <a:avLst/>
          </a:prstGeom>
          <a:noFill/>
        </p:spPr>
        <p:txBody>
          <a:bodyPr wrap="none" lIns="0" rIns="0" tIns="0" bIns="0" anchor="t">
            <a:noAutofit/>
          </a:bodyPr>
          <a:lstStyle/>
          <a:p>
            <a:pPr algn="l">
              <a:lnSpc>
                <a:spcPts val="1101"/>
              </a:lnSpc>
              <a:spcBef>
                <a:spcPts val="0"/>
              </a:spcBef>
              <a:spcAft>
                <a:spcPts val="0"/>
              </a:spcAft>
            </a:pPr>
            <a:r>
              <a:rPr sz="875" b="1" i="0" lang="es-CO" cap="all" spc="52">
                <a:solidFill>
                  <a:srgbClr val="D97224"/>
                </a:solidFill>
                <a:latin typeface="Outfit"/>
              </a:rPr>
              <a:t>Display</a:t>
            </a:r>
          </a:p>
        </p:txBody>
      </p:sp>
      <p:sp>
        <p:nvSpPr>
          <p:cNvPr id="13" name="TextBox 12"/>
          <p:cNvSpPr txBox="1"/>
          <p:nvPr/>
        </p:nvSpPr>
        <p:spPr>
          <a:xfrm>
            <a:off x="1928734" y="3265670"/>
            <a:ext cx="2014256" cy="429718"/>
          </a:xfrm>
          <a:prstGeom prst="rect">
            <a:avLst/>
          </a:prstGeom>
          <a:noFill/>
        </p:spPr>
        <p:txBody>
          <a:bodyPr wrap="none" lIns="0" rIns="0" tIns="0" bIns="0" anchor="t">
            <a:noAutofit/>
          </a:bodyPr>
          <a:lstStyle/>
          <a:p>
            <a:pPr algn="l">
              <a:lnSpc>
                <a:spcPts val="3383"/>
              </a:lnSpc>
              <a:spcBef>
                <a:spcPts val="0"/>
              </a:spcBef>
              <a:spcAft>
                <a:spcPts val="0"/>
              </a:spcAft>
            </a:pPr>
            <a:r>
              <a:rPr sz="2525" b="1" i="0" lang="es-CO">
                <a:solidFill>
                  <a:srgbClr val="2B2117"/>
                </a:solidFill>
                <a:latin typeface="Playfair Display"/>
              </a:rPr>
              <a:t>OllaCercana</a:t>
            </a:r>
          </a:p>
        </p:txBody>
      </p:sp>
      <p:sp>
        <p:nvSpPr>
          <p:cNvPr id="14" name="TextBox 13"/>
          <p:cNvSpPr txBox="1"/>
          <p:nvPr/>
        </p:nvSpPr>
        <p:spPr>
          <a:xfrm>
            <a:off x="10106384" y="3415571"/>
            <a:ext cx="1456029" cy="129915"/>
          </a:xfrm>
          <a:prstGeom prst="rect">
            <a:avLst/>
          </a:prstGeom>
          <a:noFill/>
        </p:spPr>
        <p:txBody>
          <a:bodyPr wrap="none" lIns="0" rIns="0" tIns="0" bIns="0" anchor="t">
            <a:noAutofit/>
          </a:bodyPr>
          <a:lstStyle/>
          <a:p>
            <a:pPr algn="r">
              <a:lnSpc>
                <a:spcPts val="1022"/>
              </a:lnSpc>
              <a:spcBef>
                <a:spcPts val="0"/>
              </a:spcBef>
              <a:spcAft>
                <a:spcPts val="0"/>
              </a:spcAft>
            </a:pPr>
            <a:r>
              <a:rPr sz="875" b="0" i="0" lang="es-CO">
                <a:solidFill>
                  <a:srgbClr val="8A7860"/>
                </a:solidFill>
                <a:latin typeface="Consolas"/>
              </a:rPr>
              <a:t>Playfair Display 700</a:t>
            </a:r>
          </a:p>
        </p:txBody>
      </p:sp>
      <p:cxnSp>
        <p:nvCxnSpPr>
          <p:cNvPr id="15" name="Connector 14"/>
          <p:cNvCxnSpPr/>
          <p:nvPr/>
        </p:nvCxnSpPr>
        <p:spPr>
          <a:xfrm>
            <a:off x="629587" y="4509853"/>
            <a:ext cx="10932826" cy="0"/>
          </a:xfrm>
          <a:prstGeom prst="line">
            <a:avLst/>
          </a:prstGeom>
          <a:ln w="9993" cap="flat">
            <a:solidFill>
              <a:srgbClr val="D8C39C"/>
            </a:solidFill>
            <a:prstDash val="dash"/>
          </a:ln>
        </p:spPr>
      </p:cxnSp>
      <p:sp>
        <p:nvSpPr>
          <p:cNvPr id="16" name="TextBox 15"/>
          <p:cNvSpPr txBox="1"/>
          <p:nvPr/>
        </p:nvSpPr>
        <p:spPr>
          <a:xfrm>
            <a:off x="629587" y="4115112"/>
            <a:ext cx="215015" cy="139908"/>
          </a:xfrm>
          <a:prstGeom prst="rect">
            <a:avLst/>
          </a:prstGeom>
          <a:noFill/>
        </p:spPr>
        <p:txBody>
          <a:bodyPr wrap="none" lIns="0" rIns="0" tIns="0" bIns="0" anchor="t">
            <a:noAutofit/>
          </a:bodyPr>
          <a:lstStyle/>
          <a:p>
            <a:pPr algn="l">
              <a:lnSpc>
                <a:spcPts val="1101"/>
              </a:lnSpc>
              <a:spcBef>
                <a:spcPts val="0"/>
              </a:spcBef>
              <a:spcAft>
                <a:spcPts val="0"/>
              </a:spcAft>
            </a:pPr>
            <a:r>
              <a:rPr sz="875" b="1" i="0" lang="es-CO" cap="all" spc="52">
                <a:solidFill>
                  <a:srgbClr val="D97224"/>
                </a:solidFill>
                <a:latin typeface="Outfit"/>
              </a:rPr>
              <a:t>H1</a:t>
            </a:r>
          </a:p>
        </p:txBody>
      </p:sp>
      <p:sp>
        <p:nvSpPr>
          <p:cNvPr id="17" name="TextBox 16"/>
          <p:cNvSpPr txBox="1"/>
          <p:nvPr/>
        </p:nvSpPr>
        <p:spPr>
          <a:xfrm>
            <a:off x="1928734" y="4025171"/>
            <a:ext cx="3225352" cy="319790"/>
          </a:xfrm>
          <a:prstGeom prst="rect">
            <a:avLst/>
          </a:prstGeom>
          <a:noFill/>
        </p:spPr>
        <p:txBody>
          <a:bodyPr wrap="none" lIns="0" rIns="0" tIns="0" bIns="0" anchor="t">
            <a:noAutofit/>
          </a:bodyPr>
          <a:lstStyle/>
          <a:p>
            <a:pPr algn="l">
              <a:lnSpc>
                <a:spcPts val="2518"/>
              </a:lnSpc>
              <a:spcBef>
                <a:spcPts val="0"/>
              </a:spcBef>
              <a:spcAft>
                <a:spcPts val="0"/>
              </a:spcAft>
            </a:pPr>
            <a:r>
              <a:rPr sz="1900" b="1" i="0" lang="es-CO">
                <a:solidFill>
                  <a:srgbClr val="2B2117"/>
                </a:solidFill>
                <a:latin typeface="Playfair Display"/>
              </a:rPr>
              <a:t>Publica. Reserva. Disfruta.</a:t>
            </a:r>
          </a:p>
        </p:txBody>
      </p:sp>
      <p:sp>
        <p:nvSpPr>
          <p:cNvPr id="18" name="TextBox 17"/>
          <p:cNvSpPr txBox="1"/>
          <p:nvPr/>
        </p:nvSpPr>
        <p:spPr>
          <a:xfrm>
            <a:off x="10106384" y="4120109"/>
            <a:ext cx="1456029" cy="129915"/>
          </a:xfrm>
          <a:prstGeom prst="rect">
            <a:avLst/>
          </a:prstGeom>
          <a:noFill/>
        </p:spPr>
        <p:txBody>
          <a:bodyPr wrap="none" lIns="0" rIns="0" tIns="0" bIns="0" anchor="t">
            <a:noAutofit/>
          </a:bodyPr>
          <a:lstStyle/>
          <a:p>
            <a:pPr algn="r">
              <a:lnSpc>
                <a:spcPts val="1022"/>
              </a:lnSpc>
              <a:spcBef>
                <a:spcPts val="0"/>
              </a:spcBef>
              <a:spcAft>
                <a:spcPts val="0"/>
              </a:spcAft>
            </a:pPr>
            <a:r>
              <a:rPr sz="875" b="0" i="0" lang="es-CO">
                <a:solidFill>
                  <a:srgbClr val="8A7860"/>
                </a:solidFill>
                <a:latin typeface="Consolas"/>
              </a:rPr>
              <a:t>Playfair Display 700</a:t>
            </a:r>
          </a:p>
        </p:txBody>
      </p:sp>
      <p:cxnSp>
        <p:nvCxnSpPr>
          <p:cNvPr id="19" name="Connector 18"/>
          <p:cNvCxnSpPr/>
          <p:nvPr/>
        </p:nvCxnSpPr>
        <p:spPr>
          <a:xfrm>
            <a:off x="629587" y="5029512"/>
            <a:ext cx="10932826" cy="0"/>
          </a:xfrm>
          <a:prstGeom prst="line">
            <a:avLst/>
          </a:prstGeom>
          <a:ln w="9993" cap="flat">
            <a:solidFill>
              <a:srgbClr val="D8C39C"/>
            </a:solidFill>
            <a:prstDash val="dash"/>
          </a:ln>
        </p:spPr>
      </p:cxnSp>
      <p:sp>
        <p:nvSpPr>
          <p:cNvPr id="20" name="TextBox 19"/>
          <p:cNvSpPr txBox="1"/>
          <p:nvPr/>
        </p:nvSpPr>
        <p:spPr>
          <a:xfrm>
            <a:off x="629587" y="4699729"/>
            <a:ext cx="710784" cy="139908"/>
          </a:xfrm>
          <a:prstGeom prst="rect">
            <a:avLst/>
          </a:prstGeom>
          <a:noFill/>
        </p:spPr>
        <p:txBody>
          <a:bodyPr wrap="none" lIns="0" rIns="0" tIns="0" bIns="0" anchor="t">
            <a:noAutofit/>
          </a:bodyPr>
          <a:lstStyle/>
          <a:p>
            <a:pPr algn="l">
              <a:lnSpc>
                <a:spcPts val="1101"/>
              </a:lnSpc>
              <a:spcBef>
                <a:spcPts val="0"/>
              </a:spcBef>
              <a:spcAft>
                <a:spcPts val="0"/>
              </a:spcAft>
            </a:pPr>
            <a:r>
              <a:rPr sz="875" b="1" i="0" lang="es-CO" cap="all" spc="52">
                <a:solidFill>
                  <a:srgbClr val="D97224"/>
                </a:solidFill>
                <a:latin typeface="Outfit"/>
              </a:rPr>
              <a:t>H2 / Label</a:t>
            </a:r>
          </a:p>
        </p:txBody>
      </p:sp>
      <p:sp>
        <p:nvSpPr>
          <p:cNvPr id="21" name="TextBox 20"/>
          <p:cNvSpPr txBox="1"/>
          <p:nvPr/>
        </p:nvSpPr>
        <p:spPr>
          <a:xfrm>
            <a:off x="1928734" y="4674745"/>
            <a:ext cx="1635692" cy="189875"/>
          </a:xfrm>
          <a:prstGeom prst="rect">
            <a:avLst/>
          </a:prstGeom>
          <a:noFill/>
        </p:spPr>
        <p:txBody>
          <a:bodyPr wrap="none" lIns="0" rIns="0" tIns="0" bIns="0" anchor="t">
            <a:noAutofit/>
          </a:bodyPr>
          <a:lstStyle/>
          <a:p>
            <a:pPr algn="l">
              <a:lnSpc>
                <a:spcPts val="1495"/>
              </a:lnSpc>
              <a:spcBef>
                <a:spcPts val="0"/>
              </a:spcBef>
              <a:spcAft>
                <a:spcPts val="0"/>
              </a:spcAft>
            </a:pPr>
            <a:r>
              <a:rPr sz="1175" b="1" i="0" lang="es-CO" cap="all" spc="35">
                <a:solidFill>
                  <a:srgbClr val="2B2117"/>
                </a:solidFill>
                <a:latin typeface="Outfit"/>
              </a:rPr>
              <a:t>Público Objetivo</a:t>
            </a:r>
          </a:p>
        </p:txBody>
      </p:sp>
      <p:sp>
        <p:nvSpPr>
          <p:cNvPr id="22" name="TextBox 21"/>
          <p:cNvSpPr txBox="1"/>
          <p:nvPr/>
        </p:nvSpPr>
        <p:spPr>
          <a:xfrm>
            <a:off x="10820556" y="4704725"/>
            <a:ext cx="741857" cy="129915"/>
          </a:xfrm>
          <a:prstGeom prst="rect">
            <a:avLst/>
          </a:prstGeom>
          <a:noFill/>
        </p:spPr>
        <p:txBody>
          <a:bodyPr wrap="none" lIns="0" rIns="0" tIns="0" bIns="0" anchor="t">
            <a:noAutofit/>
          </a:bodyPr>
          <a:lstStyle/>
          <a:p>
            <a:pPr algn="r">
              <a:lnSpc>
                <a:spcPts val="1022"/>
              </a:lnSpc>
              <a:spcBef>
                <a:spcPts val="0"/>
              </a:spcBef>
              <a:spcAft>
                <a:spcPts val="0"/>
              </a:spcAft>
            </a:pPr>
            <a:r>
              <a:rPr sz="875" b="0" i="0" lang="es-CO">
                <a:solidFill>
                  <a:srgbClr val="8A7860"/>
                </a:solidFill>
                <a:latin typeface="Consolas"/>
              </a:rPr>
              <a:t>Outfit 700</a:t>
            </a:r>
          </a:p>
        </p:txBody>
      </p:sp>
      <p:cxnSp>
        <p:nvCxnSpPr>
          <p:cNvPr id="23" name="Connector 22"/>
          <p:cNvCxnSpPr/>
          <p:nvPr/>
        </p:nvCxnSpPr>
        <p:spPr>
          <a:xfrm>
            <a:off x="629587" y="5539178"/>
            <a:ext cx="10932826" cy="0"/>
          </a:xfrm>
          <a:prstGeom prst="line">
            <a:avLst/>
          </a:prstGeom>
          <a:ln w="9993" cap="flat">
            <a:solidFill>
              <a:srgbClr val="D8C39C"/>
            </a:solidFill>
            <a:prstDash val="dash"/>
          </a:ln>
        </p:spPr>
      </p:cxnSp>
      <p:sp>
        <p:nvSpPr>
          <p:cNvPr id="24" name="TextBox 23"/>
          <p:cNvSpPr txBox="1"/>
          <p:nvPr/>
        </p:nvSpPr>
        <p:spPr>
          <a:xfrm>
            <a:off x="629587" y="5214391"/>
            <a:ext cx="423941" cy="139908"/>
          </a:xfrm>
          <a:prstGeom prst="rect">
            <a:avLst/>
          </a:prstGeom>
          <a:noFill/>
        </p:spPr>
        <p:txBody>
          <a:bodyPr wrap="none" lIns="0" rIns="0" tIns="0" bIns="0" anchor="t">
            <a:noAutofit/>
          </a:bodyPr>
          <a:lstStyle/>
          <a:p>
            <a:pPr algn="l">
              <a:lnSpc>
                <a:spcPts val="1101"/>
              </a:lnSpc>
              <a:spcBef>
                <a:spcPts val="0"/>
              </a:spcBef>
              <a:spcAft>
                <a:spcPts val="0"/>
              </a:spcAft>
            </a:pPr>
            <a:r>
              <a:rPr sz="875" b="1" i="0" lang="es-CO" cap="all" spc="52">
                <a:solidFill>
                  <a:srgbClr val="D97224"/>
                </a:solidFill>
                <a:latin typeface="Outfit"/>
              </a:rPr>
              <a:t>Body</a:t>
            </a:r>
          </a:p>
        </p:txBody>
      </p:sp>
      <p:sp>
        <p:nvSpPr>
          <p:cNvPr id="25" name="TextBox 24"/>
          <p:cNvSpPr txBox="1"/>
          <p:nvPr/>
        </p:nvSpPr>
        <p:spPr>
          <a:xfrm>
            <a:off x="1928734" y="5194404"/>
            <a:ext cx="4784782" cy="179882"/>
          </a:xfrm>
          <a:prstGeom prst="rect">
            <a:avLst/>
          </a:prstGeom>
          <a:noFill/>
        </p:spPr>
        <p:txBody>
          <a:bodyPr wrap="none" lIns="0" rIns="0" tIns="0" bIns="0" anchor="t">
            <a:noAutofit/>
          </a:bodyPr>
          <a:lstStyle/>
          <a:p>
            <a:pPr algn="l">
              <a:lnSpc>
                <a:spcPts val="1416"/>
              </a:lnSpc>
              <a:spcBef>
                <a:spcPts val="0"/>
              </a:spcBef>
              <a:spcAft>
                <a:spcPts val="0"/>
              </a:spcAft>
            </a:pPr>
            <a:r>
              <a:rPr sz="1100" b="0" i="0" lang="es-CO">
                <a:solidFill>
                  <a:srgbClr val="5B4A38"/>
                </a:solidFill>
                <a:latin typeface="Outfit"/>
              </a:rPr>
              <a:t>Vecinos y trabajadores con poco tiempo que valoran la comida casera.</a:t>
            </a:r>
          </a:p>
        </p:txBody>
      </p:sp>
      <p:sp>
        <p:nvSpPr>
          <p:cNvPr id="26" name="TextBox 25"/>
          <p:cNvSpPr txBox="1"/>
          <p:nvPr/>
        </p:nvSpPr>
        <p:spPr>
          <a:xfrm>
            <a:off x="10820556" y="5219388"/>
            <a:ext cx="741857" cy="129915"/>
          </a:xfrm>
          <a:prstGeom prst="rect">
            <a:avLst/>
          </a:prstGeom>
          <a:noFill/>
        </p:spPr>
        <p:txBody>
          <a:bodyPr wrap="none" lIns="0" rIns="0" tIns="0" bIns="0" anchor="t">
            <a:noAutofit/>
          </a:bodyPr>
          <a:lstStyle/>
          <a:p>
            <a:pPr algn="r">
              <a:lnSpc>
                <a:spcPts val="1022"/>
              </a:lnSpc>
              <a:spcBef>
                <a:spcPts val="0"/>
              </a:spcBef>
              <a:spcAft>
                <a:spcPts val="0"/>
              </a:spcAft>
            </a:pPr>
            <a:r>
              <a:rPr sz="875" b="0" i="0" lang="es-CO">
                <a:solidFill>
                  <a:srgbClr val="8A7860"/>
                </a:solidFill>
                <a:latin typeface="Consolas"/>
              </a:rPr>
              <a:t>Outfit 400</a:t>
            </a:r>
          </a:p>
        </p:txBody>
      </p:sp>
      <p:sp>
        <p:nvSpPr>
          <p:cNvPr id="27" name="TextBox 26"/>
          <p:cNvSpPr txBox="1"/>
          <p:nvPr/>
        </p:nvSpPr>
        <p:spPr>
          <a:xfrm>
            <a:off x="629587" y="5759034"/>
            <a:ext cx="520752" cy="139908"/>
          </a:xfrm>
          <a:prstGeom prst="rect">
            <a:avLst/>
          </a:prstGeom>
          <a:noFill/>
        </p:spPr>
        <p:txBody>
          <a:bodyPr wrap="none" lIns="0" rIns="0" tIns="0" bIns="0" anchor="t">
            <a:noAutofit/>
          </a:bodyPr>
          <a:lstStyle/>
          <a:p>
            <a:pPr algn="l">
              <a:lnSpc>
                <a:spcPts val="1101"/>
              </a:lnSpc>
              <a:spcBef>
                <a:spcPts val="0"/>
              </a:spcBef>
              <a:spcAft>
                <a:spcPts val="0"/>
              </a:spcAft>
            </a:pPr>
            <a:r>
              <a:rPr sz="875" b="1" i="0" lang="es-CO" cap="all" spc="52">
                <a:solidFill>
                  <a:srgbClr val="D97224"/>
                </a:solidFill>
                <a:latin typeface="Outfit"/>
              </a:rPr>
              <a:t>Precio</a:t>
            </a:r>
          </a:p>
        </p:txBody>
      </p:sp>
      <p:sp>
        <p:nvSpPr>
          <p:cNvPr id="28" name="TextBox 27"/>
          <p:cNvSpPr txBox="1"/>
          <p:nvPr/>
        </p:nvSpPr>
        <p:spPr>
          <a:xfrm>
            <a:off x="1928734" y="5704070"/>
            <a:ext cx="659255" cy="249836"/>
          </a:xfrm>
          <a:prstGeom prst="rect">
            <a:avLst/>
          </a:prstGeom>
          <a:noFill/>
        </p:spPr>
        <p:txBody>
          <a:bodyPr wrap="none" lIns="0" rIns="0" tIns="0" bIns="0" anchor="t">
            <a:noAutofit/>
          </a:bodyPr>
          <a:lstStyle/>
          <a:p>
            <a:pPr algn="l">
              <a:lnSpc>
                <a:spcPts val="1967"/>
              </a:lnSpc>
              <a:spcBef>
                <a:spcPts val="0"/>
              </a:spcBef>
              <a:spcAft>
                <a:spcPts val="0"/>
              </a:spcAft>
            </a:pPr>
            <a:r>
              <a:rPr sz="1575" b="1" i="0" lang="es-CO">
                <a:solidFill>
                  <a:srgbClr val="D97224"/>
                </a:solidFill>
                <a:latin typeface="Caveat"/>
              </a:rPr>
              <a:t>$18.000</a:t>
            </a:r>
          </a:p>
        </p:txBody>
      </p:sp>
      <p:sp>
        <p:nvSpPr>
          <p:cNvPr id="29" name="TextBox 28"/>
          <p:cNvSpPr txBox="1"/>
          <p:nvPr/>
        </p:nvSpPr>
        <p:spPr>
          <a:xfrm>
            <a:off x="10820556" y="5764030"/>
            <a:ext cx="741857" cy="129915"/>
          </a:xfrm>
          <a:prstGeom prst="rect">
            <a:avLst/>
          </a:prstGeom>
          <a:noFill/>
        </p:spPr>
        <p:txBody>
          <a:bodyPr wrap="none" lIns="0" rIns="0" tIns="0" bIns="0" anchor="t">
            <a:noAutofit/>
          </a:bodyPr>
          <a:lstStyle/>
          <a:p>
            <a:pPr algn="r">
              <a:lnSpc>
                <a:spcPts val="1022"/>
              </a:lnSpc>
              <a:spcBef>
                <a:spcPts val="0"/>
              </a:spcBef>
              <a:spcAft>
                <a:spcPts val="0"/>
              </a:spcAft>
            </a:pPr>
            <a:r>
              <a:rPr sz="875" b="0" i="0" lang="es-CO">
                <a:solidFill>
                  <a:srgbClr val="8A7860"/>
                </a:solidFill>
                <a:latin typeface="Consolas"/>
              </a:rPr>
              <a:t>Caveat 700</a:t>
            </a:r>
          </a:p>
        </p:txBody>
      </p:sp>
      <p:sp>
        <p:nvSpPr>
          <p:cNvPr id="30" name="TextBox 29"/>
          <p:cNvSpPr txBox="1"/>
          <p:nvPr/>
        </p:nvSpPr>
        <p:spPr>
          <a:xfrm>
            <a:off x="399738" y="6503545"/>
            <a:ext cx="11107009" cy="139908"/>
          </a:xfrm>
          <a:prstGeom prst="rect">
            <a:avLst/>
          </a:prstGeom>
          <a:noFill/>
        </p:spPr>
        <p:txBody>
          <a:bodyPr wrap="none" lIns="0" rIns="0" tIns="0" bIns="0" anchor="t">
            <a:noAutofit/>
          </a:bodyPr>
          <a:lstStyle/>
          <a:p>
            <a:pPr algn="l">
              <a:lnSpc>
                <a:spcPts val="1101"/>
              </a:lnSpc>
              <a:spcBef>
                <a:spcPts val="0"/>
              </a:spcBef>
              <a:spcAft>
                <a:spcPts val="0"/>
              </a:spcAft>
            </a:pPr>
            <a:r>
              <a:rPr sz="875" b="0" i="0" lang="es-CO">
                <a:solidFill>
                  <a:srgbClr val="8A7860"/>
                </a:solidFill>
                <a:latin typeface="Outfit"/>
              </a:rPr>
              <a:t>* Caveat se usa como acento manuscrito en encabezados, nombres y etiquetas de platos, precios, citas y algunos botones de la interfaz. Para párrafos largos, datos de lectura continua y formularios, usa Outfit.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309753"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09</a:t>
            </a:r>
          </a:p>
        </p:txBody>
      </p:sp>
      <p:sp>
        <p:nvSpPr>
          <p:cNvPr id="5" name="TextBox 4"/>
          <p:cNvSpPr txBox="1"/>
          <p:nvPr/>
        </p:nvSpPr>
        <p:spPr>
          <a:xfrm>
            <a:off x="1260729" y="365760"/>
            <a:ext cx="1266311"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Tipografía</a:t>
            </a:r>
          </a:p>
        </p:txBody>
      </p:sp>
      <p:sp>
        <p:nvSpPr>
          <p:cNvPr id="6" name="Rounded Rectangle 5"/>
          <p:cNvSpPr/>
          <p:nvPr/>
        </p:nvSpPr>
        <p:spPr>
          <a:xfrm>
            <a:off x="487680" y="1024128"/>
            <a:ext cx="5498592" cy="2152650"/>
          </a:xfrm>
          <a:prstGeom prst="roundRect">
            <a:avLst>
              <a:gd name="adj" fmla="val 3398"/>
            </a:avLst>
          </a:prstGeom>
          <a:solidFill>
            <a:srgbClr val="D8C39C"/>
          </a:solidFill>
          <a:ln>
            <a:noFill/>
          </a:ln>
        </p:spPr>
        <p:txBody>
          <a:bodyPr rtlCol="0" anchor="ctr"/>
          <a:lstStyle/>
          <a:p>
            <a:pPr algn="ctr"/>
          </a:p>
        </p:txBody>
      </p:sp>
      <p:sp>
        <p:nvSpPr>
          <p:cNvPr id="7" name="Rounded Rectangle 6"/>
          <p:cNvSpPr/>
          <p:nvPr/>
        </p:nvSpPr>
        <p:spPr>
          <a:xfrm>
            <a:off x="493776" y="993648"/>
            <a:ext cx="5486400" cy="2140458"/>
          </a:xfrm>
          <a:prstGeom prst="roundRect">
            <a:avLst>
              <a:gd name="adj" fmla="val 3132"/>
            </a:avLst>
          </a:prstGeom>
          <a:solidFill>
            <a:srgbClr val="EFE0C2"/>
          </a:solidFill>
          <a:ln w="12192" cap="flat">
            <a:solidFill>
              <a:srgbClr val="D8C39C"/>
            </a:solidFill>
          </a:ln>
        </p:spPr>
        <p:txBody>
          <a:bodyPr rtlCol="0" anchor="ctr"/>
          <a:lstStyle/>
          <a:p>
            <a:pPr algn="ctr"/>
          </a:p>
        </p:txBody>
      </p:sp>
      <p:sp>
        <p:nvSpPr>
          <p:cNvPr id="8" name="TextBox 7"/>
          <p:cNvSpPr txBox="1"/>
          <p:nvPr/>
        </p:nvSpPr>
        <p:spPr>
          <a:xfrm>
            <a:off x="768096" y="1267968"/>
            <a:ext cx="2327472"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Fuentes de contingencia</a:t>
            </a:r>
          </a:p>
        </p:txBody>
      </p:sp>
      <p:sp>
        <p:nvSpPr>
          <p:cNvPr id="9" name="TextBox 8"/>
          <p:cNvSpPr txBox="1"/>
          <p:nvPr/>
        </p:nvSpPr>
        <p:spPr>
          <a:xfrm>
            <a:off x="768096" y="1536192"/>
            <a:ext cx="2584380"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Si Google Fonts no carga</a:t>
            </a:r>
          </a:p>
        </p:txBody>
      </p:sp>
      <p:sp>
        <p:nvSpPr>
          <p:cNvPr id="10" name="TextBox 9"/>
          <p:cNvSpPr txBox="1"/>
          <p:nvPr/>
        </p:nvSpPr>
        <p:spPr>
          <a:xfrm>
            <a:off x="768096" y="1876654"/>
            <a:ext cx="5234026" cy="982675"/>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Playfair Display → </a:t>
            </a:r>
            <a:r>
              <a:rPr sz="1250" b="1" i="0" lang="es-CO">
                <a:solidFill>
                  <a:srgbClr val="5B4A38"/>
                </a:solidFill>
                <a:latin typeface="Outfit"/>
              </a:rPr>
              <a:t>Georgia</a:t>
            </a:r>
            <a:r>
              <a:rPr sz="1250" b="0" i="0" lang="es-CO">
                <a:solidFill>
                  <a:srgbClr val="5B4A38"/>
                </a:solidFill>
                <a:latin typeface="Outfit"/>
              </a:rPr>
              <a:t> o </a:t>
            </a:r>
            <a:r>
              <a:rPr sz="1250" b="1" i="0" lang="es-CO">
                <a:solidFill>
                  <a:srgbClr val="5B4A38"/>
                </a:solidFill>
                <a:latin typeface="Outfit"/>
              </a:rPr>
              <a:t>Merriweather</a:t>
            </a:r>
            <a:r>
              <a:rPr sz="1250" b="0" i="0" lang="es-CO">
                <a:solidFill>
                  <a:srgbClr val="5B4A38"/>
                </a:solidFill>
                <a:latin typeface="Outfit"/>
              </a:rPr>
              <a:t>. Outfit → </a:t>
            </a:r>
            <a:r>
              <a:rPr sz="1250" b="1" i="0" lang="es-CO">
                <a:solidFill>
                  <a:srgbClr val="5B4A38"/>
                </a:solidFill>
                <a:latin typeface="Outfit"/>
              </a:rPr>
              <a:t>Open Sans</a:t>
            </a:r>
            <a:r>
              <a:rPr sz="1250" b="0" i="0" lang="es-CO">
                <a:solidFill>
                  <a:srgbClr val="5B4A38"/>
                </a:solidFill>
                <a:latin typeface="Outfit"/>
              </a:rPr>
              <a:t> o</a:t>
            </a:r>
            <a:br/>
            <a:r>
              <a:rPr sz="1250" b="1" i="0" lang="es-CO">
                <a:solidFill>
                  <a:srgbClr val="5B4A38"/>
                </a:solidFill>
                <a:latin typeface="Outfit"/>
              </a:rPr>
              <a:t>Helvetica/Arial</a:t>
            </a:r>
            <a:r>
              <a:rPr sz="1250" b="0" i="0" lang="es-CO">
                <a:solidFill>
                  <a:srgbClr val="5B4A38"/>
                </a:solidFill>
                <a:latin typeface="Outfit"/>
              </a:rPr>
              <a:t>. Caveat → nunca Comic Sans ni Brush Script; si no está</a:t>
            </a:r>
            <a:br/>
            <a:r>
              <a:rPr sz="1250" b="0" i="0" lang="es-CO">
                <a:solidFill>
                  <a:srgbClr val="5B4A38"/>
                </a:solidFill>
                <a:latin typeface="Outfit"/>
              </a:rPr>
              <a:t>disponible, se renderiza como imagen vectorial o se sustituye por</a:t>
            </a:r>
            <a:br/>
            <a:r>
              <a:rPr sz="1250" b="0" i="0" lang="es-CO">
                <a:solidFill>
                  <a:srgbClr val="5B4A38"/>
                </a:solidFill>
                <a:latin typeface="Outfit"/>
              </a:rPr>
              <a:t>Outfit Italic.</a:t>
            </a:r>
          </a:p>
        </p:txBody>
      </p:sp>
      <p:sp>
        <p:nvSpPr>
          <p:cNvPr id="11" name="Rounded Rectangle 10"/>
          <p:cNvSpPr/>
          <p:nvPr/>
        </p:nvSpPr>
        <p:spPr>
          <a:xfrm>
            <a:off x="6205728" y="1024128"/>
            <a:ext cx="5498592" cy="2152650"/>
          </a:xfrm>
          <a:prstGeom prst="roundRect">
            <a:avLst>
              <a:gd name="adj" fmla="val 3398"/>
            </a:avLst>
          </a:prstGeom>
          <a:solidFill>
            <a:srgbClr val="D8C39C"/>
          </a:solidFill>
          <a:ln>
            <a:noFill/>
          </a:ln>
        </p:spPr>
        <p:txBody>
          <a:bodyPr rtlCol="0" anchor="ctr"/>
          <a:lstStyle/>
          <a:p>
            <a:pPr algn="ctr"/>
          </a:p>
        </p:txBody>
      </p:sp>
      <p:sp>
        <p:nvSpPr>
          <p:cNvPr id="12" name="Rounded Rectangle 11"/>
          <p:cNvSpPr/>
          <p:nvPr/>
        </p:nvSpPr>
        <p:spPr>
          <a:xfrm>
            <a:off x="6211824" y="993648"/>
            <a:ext cx="5486400" cy="2140458"/>
          </a:xfrm>
          <a:prstGeom prst="roundRect">
            <a:avLst>
              <a:gd name="adj" fmla="val 3132"/>
            </a:avLst>
          </a:prstGeom>
          <a:solidFill>
            <a:srgbClr val="EFE0C2"/>
          </a:solidFill>
          <a:ln w="12192" cap="flat">
            <a:solidFill>
              <a:srgbClr val="D8C39C"/>
            </a:solidFill>
          </a:ln>
        </p:spPr>
        <p:txBody>
          <a:bodyPr rtlCol="0" anchor="ctr"/>
          <a:lstStyle/>
          <a:p>
            <a:pPr algn="ctr"/>
          </a:p>
        </p:txBody>
      </p:sp>
      <p:sp>
        <p:nvSpPr>
          <p:cNvPr id="13" name="TextBox 12"/>
          <p:cNvSpPr txBox="1"/>
          <p:nvPr/>
        </p:nvSpPr>
        <p:spPr>
          <a:xfrm>
            <a:off x="6486144" y="1267968"/>
            <a:ext cx="1778451"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Archivos maestros</a:t>
            </a:r>
          </a:p>
        </p:txBody>
      </p:sp>
      <p:sp>
        <p:nvSpPr>
          <p:cNvPr id="14" name="TextBox 13"/>
          <p:cNvSpPr txBox="1"/>
          <p:nvPr/>
        </p:nvSpPr>
        <p:spPr>
          <a:xfrm>
            <a:off x="6486144" y="1536192"/>
            <a:ext cx="2153964"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Formatos de entrega</a:t>
            </a:r>
          </a:p>
        </p:txBody>
      </p:sp>
      <p:sp>
        <p:nvSpPr>
          <p:cNvPr id="15" name="TextBox 14"/>
          <p:cNvSpPr txBox="1"/>
          <p:nvPr/>
        </p:nvSpPr>
        <p:spPr>
          <a:xfrm>
            <a:off x="6486144" y="1876654"/>
            <a:ext cx="5234026" cy="737006"/>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Vectorial: </a:t>
            </a:r>
            <a:r>
              <a:rPr sz="1250" b="1" i="0" lang="es-CO">
                <a:solidFill>
                  <a:srgbClr val="5B4A38"/>
                </a:solidFill>
                <a:latin typeface="Outfit"/>
              </a:rPr>
              <a:t>.SVG</a:t>
            </a:r>
            <a:r>
              <a:rPr sz="1250" b="0" i="0" lang="es-CO">
                <a:solidFill>
                  <a:srgbClr val="5B4A38"/>
                </a:solidFill>
                <a:latin typeface="Outfit"/>
              </a:rPr>
              <a:t> (web/interfaz), </a:t>
            </a:r>
            <a:r>
              <a:rPr sz="1250" b="1" i="0" lang="es-CO">
                <a:solidFill>
                  <a:srgbClr val="5B4A38"/>
                </a:solidFill>
                <a:latin typeface="Outfit"/>
              </a:rPr>
              <a:t>.EPS / .AI</a:t>
            </a:r>
            <a:r>
              <a:rPr sz="1250" b="0" i="0" lang="es-CO">
                <a:solidFill>
                  <a:srgbClr val="5B4A38"/>
                </a:solidFill>
                <a:latin typeface="Outfit"/>
              </a:rPr>
              <a:t> (imprenta, bordado,</a:t>
            </a:r>
            <a:br/>
            <a:r>
              <a:rPr sz="1250" b="0" i="0" lang="es-CO">
                <a:solidFill>
                  <a:srgbClr val="5B4A38"/>
                </a:solidFill>
                <a:latin typeface="Outfit"/>
              </a:rPr>
              <a:t>rotulación). Bitmap: </a:t>
            </a:r>
            <a:r>
              <a:rPr sz="1250" b="1" i="0" lang="es-CO">
                <a:solidFill>
                  <a:srgbClr val="5B4A38"/>
                </a:solidFill>
                <a:latin typeface="Outfit"/>
              </a:rPr>
              <a:t>.PNG</a:t>
            </a:r>
            <a:r>
              <a:rPr sz="1250" b="0" i="0" lang="es-CO">
                <a:solidFill>
                  <a:srgbClr val="5B4A38"/>
                </a:solidFill>
                <a:latin typeface="Outfit"/>
              </a:rPr>
              <a:t> transparente en alta (300dpi) y baja (72dpi)</a:t>
            </a:r>
            <a:br/>
            <a:r>
              <a:rPr sz="1250" b="0" i="0" lang="es-CO">
                <a:solidFill>
                  <a:srgbClr val="5B4A38"/>
                </a:solidFill>
                <a:latin typeface="Outfit"/>
              </a:rPr>
              <a:t>resolución.</a:t>
            </a:r>
          </a:p>
        </p:txBody>
      </p:sp>
      <p:cxnSp>
        <p:nvCxnSpPr>
          <p:cNvPr id="16" name="Connector 15"/>
          <p:cNvCxnSpPr/>
          <p:nvPr/>
        </p:nvCxnSpPr>
        <p:spPr>
          <a:xfrm>
            <a:off x="487680" y="6327648"/>
            <a:ext cx="11216640" cy="0"/>
          </a:xfrm>
          <a:prstGeom prst="line">
            <a:avLst/>
          </a:prstGeom>
          <a:ln w="24384" cap="flat">
            <a:solidFill>
              <a:srgbClr val="D8C39C"/>
            </a:solidFill>
          </a:ln>
        </p:spPr>
      </p:cxnSp>
      <p:sp>
        <p:nvSpPr>
          <p:cNvPr id="17" name="TextBox 16"/>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18" name="TextBox 17"/>
          <p:cNvSpPr txBox="1"/>
          <p:nvPr/>
        </p:nvSpPr>
        <p:spPr>
          <a:xfrm>
            <a:off x="11233594" y="6486144"/>
            <a:ext cx="568262"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09 / 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82130"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10</a:t>
            </a:r>
          </a:p>
        </p:txBody>
      </p:sp>
      <p:sp>
        <p:nvSpPr>
          <p:cNvPr id="5" name="TextBox 4"/>
          <p:cNvSpPr txBox="1"/>
          <p:nvPr/>
        </p:nvSpPr>
        <p:spPr>
          <a:xfrm>
            <a:off x="1233106" y="365760"/>
            <a:ext cx="143604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Iconografía</a:t>
            </a:r>
          </a:p>
        </p:txBody>
      </p:sp>
      <p:sp>
        <p:nvSpPr>
          <p:cNvPr id="6" name="TextBox 5"/>
          <p:cNvSpPr txBox="1"/>
          <p:nvPr/>
        </p:nvSpPr>
        <p:spPr>
          <a:xfrm>
            <a:off x="487680" y="713232"/>
            <a:ext cx="2929090"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Sistema.</a:t>
            </a:r>
          </a:p>
        </p:txBody>
      </p:sp>
      <p:sp>
        <p:nvSpPr>
          <p:cNvPr id="7" name="TextBox 6"/>
          <p:cNvSpPr txBox="1"/>
          <p:nvPr/>
        </p:nvSpPr>
        <p:spPr>
          <a:xfrm>
            <a:off x="487680" y="1395984"/>
            <a:ext cx="2344026"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Visual.</a:t>
            </a:r>
          </a:p>
        </p:txBody>
      </p:sp>
      <p:sp>
        <p:nvSpPr>
          <p:cNvPr id="8" name="TextBox 7"/>
          <p:cNvSpPr txBox="1"/>
          <p:nvPr/>
        </p:nvSpPr>
        <p:spPr>
          <a:xfrm>
            <a:off x="487680" y="2301850"/>
            <a:ext cx="8012582" cy="1609344"/>
          </a:xfrm>
          <a:prstGeom prst="rect">
            <a:avLst/>
          </a:prstGeom>
          <a:noFill/>
        </p:spPr>
        <p:txBody>
          <a:bodyPr wrap="square" lIns="0" rIns="0" tIns="0" bIns="0" anchor="t">
            <a:noAutofit/>
          </a:bodyPr>
          <a:lstStyle/>
          <a:p>
            <a:pPr algn="l">
              <a:lnSpc>
                <a:spcPts val="2534"/>
              </a:lnSpc>
              <a:spcBef>
                <a:spcPts val="0"/>
              </a:spcBef>
              <a:spcAft>
                <a:spcPts val="0"/>
              </a:spcAft>
            </a:pPr>
            <a:r>
              <a:rPr sz="1525" b="0" i="0" lang="es-CO">
                <a:solidFill>
                  <a:srgbClr val="5B4A38"/>
                </a:solidFill>
                <a:latin typeface="Outfit"/>
              </a:rPr>
              <a:t>Lenguaje iconográfico lineal y cálido, estandarizado sobre una cuadrícula de </a:t>
            </a:r>
            <a:r>
              <a:rPr sz="1525" b="1" i="0" lang="es-CO">
                <a:solidFill>
                  <a:srgbClr val="2B2117"/>
                </a:solidFill>
                <a:latin typeface="Outfit"/>
              </a:rPr>
              <a:t>24×24px</a:t>
            </a:r>
            <a:br/>
            <a:r>
              <a:rPr sz="1525" b="0" i="0" lang="es-CO">
                <a:solidFill>
                  <a:srgbClr val="5B4A38"/>
                </a:solidFill>
                <a:latin typeface="Outfit"/>
              </a:rPr>
              <a:t>con trazo constante de </a:t>
            </a:r>
            <a:r>
              <a:rPr sz="1525" b="1" i="0" lang="es-CO">
                <a:solidFill>
                  <a:srgbClr val="2B2117"/>
                </a:solidFill>
                <a:latin typeface="Outfit"/>
              </a:rPr>
              <a:t>2px</a:t>
            </a:r>
            <a:r>
              <a:rPr sz="1525" b="0" i="0" lang="es-CO">
                <a:solidFill>
                  <a:srgbClr val="5B4A38"/>
                </a:solidFill>
                <a:latin typeface="Outfit"/>
              </a:rPr>
              <a:t>, terminales y uniones redondeadas (round cap / round join) y</a:t>
            </a:r>
            <a:br/>
            <a:r>
              <a:rPr sz="1525" b="0" i="0" lang="es-CO">
                <a:solidFill>
                  <a:srgbClr val="5B4A38"/>
                </a:solidFill>
                <a:latin typeface="Outfit"/>
              </a:rPr>
              <a:t>color monocromático según el estado del componente — pensado para convivir con las</a:t>
            </a:r>
            <a:br/>
            <a:r>
              <a:rPr sz="1525" b="0" i="0" lang="es-CO">
                <a:solidFill>
                  <a:srgbClr val="5B4A38"/>
                </a:solidFill>
                <a:latin typeface="Outfit"/>
              </a:rPr>
              <a:t>superficies cálidas de papel y madera de la interfaz; el desenfoque se reserva para</a:t>
            </a:r>
            <a:br/>
            <a:r>
              <a:rPr sz="1525" b="0" i="0" lang="es-CO">
                <a:solidFill>
                  <a:srgbClr val="5B4A38"/>
                </a:solidFill>
                <a:latin typeface="Outfit"/>
              </a:rPr>
              <a:t>algunos elementos superpuestos.</a:t>
            </a:r>
          </a:p>
        </p:txBody>
      </p:sp>
      <p:sp>
        <p:nvSpPr>
          <p:cNvPr id="9" name="Oval 8"/>
          <p:cNvSpPr/>
          <p:nvPr/>
        </p:nvSpPr>
        <p:spPr>
          <a:xfrm>
            <a:off x="499872" y="4193476"/>
            <a:ext cx="755904" cy="755904"/>
          </a:xfrm>
          <a:prstGeom prst="ellipse">
            <a:avLst/>
          </a:prstGeom>
          <a:solidFill>
            <a:srgbClr val="F3E7D2"/>
          </a:solidFill>
          <a:ln w="24384" cap="flat">
            <a:solidFill>
              <a:srgbClr val="D97224"/>
            </a:solidFill>
          </a:ln>
        </p:spPr>
        <p:txBody>
          <a:bodyPr rtlCol="0" anchor="ctr"/>
          <a:lstStyle/>
          <a:p>
            <a:pPr algn="ctr"/>
          </a:p>
        </p:txBody>
      </p:sp>
      <p:pic>
        <p:nvPicPr>
          <p:cNvPr id="10" name="Picture 9" descr="s20_r1.png"/>
          <p:cNvPicPr>
            <a:picLocks noChangeAspect="1"/>
          </p:cNvPicPr>
          <p:nvPr/>
        </p:nvPicPr>
        <p:blipFill>
          <a:blip r:embed="rId3"/>
          <a:stretch>
            <a:fillRect/>
          </a:stretch>
        </p:blipFill>
        <p:spPr>
          <a:xfrm>
            <a:off x="707136" y="4389120"/>
            <a:ext cx="341376" cy="353568"/>
          </a:xfrm>
          <a:prstGeom prst="rect">
            <a:avLst/>
          </a:prstGeom>
        </p:spPr>
      </p:pic>
      <p:sp>
        <p:nvSpPr>
          <p:cNvPr id="11" name="TextBox 10"/>
          <p:cNvSpPr txBox="1"/>
          <p:nvPr/>
        </p:nvSpPr>
        <p:spPr>
          <a:xfrm>
            <a:off x="487680" y="5181028"/>
            <a:ext cx="1324146"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D97224"/>
                </a:solidFill>
                <a:latin typeface="Playfair Display"/>
              </a:rPr>
              <a:t>Alimentación</a:t>
            </a:r>
          </a:p>
        </p:txBody>
      </p:sp>
      <p:sp>
        <p:nvSpPr>
          <p:cNvPr id="12" name="TextBox 11"/>
          <p:cNvSpPr txBox="1"/>
          <p:nvPr/>
        </p:nvSpPr>
        <p:spPr>
          <a:xfrm>
            <a:off x="487680" y="5510212"/>
            <a:ext cx="2684964" cy="195072"/>
          </a:xfrm>
          <a:prstGeom prst="rect">
            <a:avLst/>
          </a:prstGeom>
          <a:noFill/>
        </p:spPr>
        <p:txBody>
          <a:bodyPr wrap="none" lIns="0" rIns="0" tIns="0" bIns="0" anchor="t">
            <a:noAutofit/>
          </a:bodyPr>
          <a:lstStyle/>
          <a:p>
            <a:pPr algn="l">
              <a:lnSpc>
                <a:spcPts val="1536"/>
              </a:lnSpc>
              <a:spcBef>
                <a:spcPts val="0"/>
              </a:spcBef>
              <a:spcAft>
                <a:spcPts val="0"/>
              </a:spcAft>
            </a:pPr>
            <a:r>
              <a:rPr sz="1250" b="0" i="0" lang="es-CO">
                <a:solidFill>
                  <a:srgbClr val="5B4A38"/>
                </a:solidFill>
                <a:latin typeface="Outfit"/>
              </a:rPr>
              <a:t>Platos preparados, calidad casera.</a:t>
            </a:r>
          </a:p>
        </p:txBody>
      </p:sp>
      <p:cxnSp>
        <p:nvCxnSpPr>
          <p:cNvPr id="13" name="Connector 12"/>
          <p:cNvCxnSpPr/>
          <p:nvPr/>
        </p:nvCxnSpPr>
        <p:spPr>
          <a:xfrm>
            <a:off x="4311777" y="4181284"/>
            <a:ext cx="0" cy="1524000"/>
          </a:xfrm>
          <a:prstGeom prst="line">
            <a:avLst/>
          </a:prstGeom>
          <a:ln w="24384" cap="flat">
            <a:solidFill>
              <a:srgbClr val="D8C39C"/>
            </a:solidFill>
            <a:prstDash val="dash"/>
          </a:ln>
        </p:spPr>
      </p:cxnSp>
      <p:sp>
        <p:nvSpPr>
          <p:cNvPr id="14" name="Oval 13"/>
          <p:cNvSpPr/>
          <p:nvPr/>
        </p:nvSpPr>
        <p:spPr>
          <a:xfrm>
            <a:off x="4580001" y="4193476"/>
            <a:ext cx="755904" cy="755904"/>
          </a:xfrm>
          <a:prstGeom prst="ellipse">
            <a:avLst/>
          </a:prstGeom>
          <a:solidFill>
            <a:srgbClr val="F3E7D2"/>
          </a:solidFill>
          <a:ln w="24384" cap="flat">
            <a:solidFill>
              <a:srgbClr val="4A9C55"/>
            </a:solidFill>
          </a:ln>
        </p:spPr>
        <p:txBody>
          <a:bodyPr rtlCol="0" anchor="ctr"/>
          <a:lstStyle/>
          <a:p>
            <a:pPr algn="ctr"/>
          </a:p>
        </p:txBody>
      </p:sp>
      <p:pic>
        <p:nvPicPr>
          <p:cNvPr id="15" name="Picture 14" descr="s20_r2.png"/>
          <p:cNvPicPr>
            <a:picLocks noChangeAspect="1"/>
          </p:cNvPicPr>
          <p:nvPr/>
        </p:nvPicPr>
        <p:blipFill>
          <a:blip r:embed="rId4"/>
          <a:stretch>
            <a:fillRect/>
          </a:stretch>
        </p:blipFill>
        <p:spPr>
          <a:xfrm>
            <a:off x="4779264" y="4389120"/>
            <a:ext cx="353568" cy="353568"/>
          </a:xfrm>
          <a:prstGeom prst="rect">
            <a:avLst/>
          </a:prstGeom>
        </p:spPr>
      </p:pic>
      <p:sp>
        <p:nvSpPr>
          <p:cNvPr id="16" name="TextBox 15"/>
          <p:cNvSpPr txBox="1"/>
          <p:nvPr/>
        </p:nvSpPr>
        <p:spPr>
          <a:xfrm>
            <a:off x="4567809" y="5181028"/>
            <a:ext cx="900684"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4A9C55"/>
                </a:solidFill>
                <a:latin typeface="Playfair Display"/>
              </a:rPr>
              <a:t>Cercanía</a:t>
            </a:r>
          </a:p>
        </p:txBody>
      </p:sp>
      <p:sp>
        <p:nvSpPr>
          <p:cNvPr id="17" name="TextBox 16"/>
          <p:cNvSpPr txBox="1"/>
          <p:nvPr/>
        </p:nvSpPr>
        <p:spPr>
          <a:xfrm>
            <a:off x="4567809" y="5510212"/>
            <a:ext cx="2919032" cy="195072"/>
          </a:xfrm>
          <a:prstGeom prst="rect">
            <a:avLst/>
          </a:prstGeom>
          <a:noFill/>
        </p:spPr>
        <p:txBody>
          <a:bodyPr wrap="none" lIns="0" rIns="0" tIns="0" bIns="0" anchor="t">
            <a:noAutofit/>
          </a:bodyPr>
          <a:lstStyle/>
          <a:p>
            <a:pPr algn="l">
              <a:lnSpc>
                <a:spcPts val="1536"/>
              </a:lnSpc>
              <a:spcBef>
                <a:spcPts val="0"/>
              </a:spcBef>
              <a:spcAft>
                <a:spcPts val="0"/>
              </a:spcAft>
            </a:pPr>
            <a:r>
              <a:rPr sz="1250" b="0" i="0" lang="es-CO">
                <a:solidFill>
                  <a:srgbClr val="5B4A38"/>
                </a:solidFill>
                <a:latin typeface="Outfit"/>
              </a:rPr>
              <a:t>Radio de 500m de las cocinas activas.</a:t>
            </a:r>
          </a:p>
        </p:txBody>
      </p:sp>
      <p:cxnSp>
        <p:nvCxnSpPr>
          <p:cNvPr id="18" name="Connector 17"/>
          <p:cNvCxnSpPr/>
          <p:nvPr/>
        </p:nvCxnSpPr>
        <p:spPr>
          <a:xfrm>
            <a:off x="8123872" y="4181284"/>
            <a:ext cx="0" cy="1524000"/>
          </a:xfrm>
          <a:prstGeom prst="line">
            <a:avLst/>
          </a:prstGeom>
          <a:ln w="24384" cap="flat">
            <a:solidFill>
              <a:srgbClr val="D8C39C"/>
            </a:solidFill>
            <a:prstDash val="dash"/>
          </a:ln>
        </p:spPr>
      </p:cxnSp>
      <p:sp>
        <p:nvSpPr>
          <p:cNvPr id="19" name="Oval 18"/>
          <p:cNvSpPr/>
          <p:nvPr/>
        </p:nvSpPr>
        <p:spPr>
          <a:xfrm>
            <a:off x="8392096" y="4193476"/>
            <a:ext cx="755904" cy="755904"/>
          </a:xfrm>
          <a:prstGeom prst="ellipse">
            <a:avLst/>
          </a:prstGeom>
          <a:solidFill>
            <a:srgbClr val="F3E7D2"/>
          </a:solidFill>
          <a:ln w="24384" cap="flat">
            <a:solidFill>
              <a:srgbClr val="C99A1E"/>
            </a:solidFill>
          </a:ln>
        </p:spPr>
        <p:txBody>
          <a:bodyPr rtlCol="0" anchor="ctr"/>
          <a:lstStyle/>
          <a:p>
            <a:pPr algn="ctr"/>
          </a:p>
        </p:txBody>
      </p:sp>
      <p:pic>
        <p:nvPicPr>
          <p:cNvPr id="20" name="Picture 19" descr="s20_r3.png"/>
          <p:cNvPicPr>
            <a:picLocks noChangeAspect="1"/>
          </p:cNvPicPr>
          <p:nvPr/>
        </p:nvPicPr>
        <p:blipFill>
          <a:blip r:embed="rId5"/>
          <a:stretch>
            <a:fillRect/>
          </a:stretch>
        </p:blipFill>
        <p:spPr>
          <a:xfrm>
            <a:off x="8595360" y="4389120"/>
            <a:ext cx="353568" cy="353568"/>
          </a:xfrm>
          <a:prstGeom prst="rect">
            <a:avLst/>
          </a:prstGeom>
        </p:spPr>
      </p:pic>
      <p:sp>
        <p:nvSpPr>
          <p:cNvPr id="21" name="TextBox 20"/>
          <p:cNvSpPr txBox="1"/>
          <p:nvPr/>
        </p:nvSpPr>
        <p:spPr>
          <a:xfrm>
            <a:off x="8379904" y="5181028"/>
            <a:ext cx="1164050" cy="256032"/>
          </a:xfrm>
          <a:prstGeom prst="rect">
            <a:avLst/>
          </a:prstGeom>
          <a:noFill/>
        </p:spPr>
        <p:txBody>
          <a:bodyPr wrap="none" lIns="0" rIns="0" tIns="0" bIns="0" anchor="t">
            <a:noAutofit/>
          </a:bodyPr>
          <a:lstStyle/>
          <a:p>
            <a:pPr algn="l">
              <a:lnSpc>
                <a:spcPts val="2016"/>
              </a:lnSpc>
              <a:spcBef>
                <a:spcPts val="0"/>
              </a:spcBef>
              <a:spcAft>
                <a:spcPts val="0"/>
              </a:spcAft>
            </a:pPr>
            <a:r>
              <a:rPr sz="1525" b="1" i="0" lang="es-CO">
                <a:solidFill>
                  <a:srgbClr val="C99A1E"/>
                </a:solidFill>
                <a:latin typeface="Playfair Display"/>
              </a:rPr>
              <a:t>Comunidad</a:t>
            </a:r>
          </a:p>
        </p:txBody>
      </p:sp>
      <p:sp>
        <p:nvSpPr>
          <p:cNvPr id="22" name="TextBox 21"/>
          <p:cNvSpPr txBox="1"/>
          <p:nvPr/>
        </p:nvSpPr>
        <p:spPr>
          <a:xfrm>
            <a:off x="8379904" y="5510212"/>
            <a:ext cx="2893257" cy="195072"/>
          </a:xfrm>
          <a:prstGeom prst="rect">
            <a:avLst/>
          </a:prstGeom>
          <a:noFill/>
        </p:spPr>
        <p:txBody>
          <a:bodyPr wrap="none" lIns="0" rIns="0" tIns="0" bIns="0" anchor="t">
            <a:noAutofit/>
          </a:bodyPr>
          <a:lstStyle/>
          <a:p>
            <a:pPr algn="l">
              <a:lnSpc>
                <a:spcPts val="1536"/>
              </a:lnSpc>
              <a:spcBef>
                <a:spcPts val="0"/>
              </a:spcBef>
              <a:spcAft>
                <a:spcPts val="0"/>
              </a:spcAft>
            </a:pPr>
            <a:r>
              <a:rPr sz="1250" b="0" i="0" lang="es-CO">
                <a:solidFill>
                  <a:srgbClr val="5B4A38"/>
                </a:solidFill>
                <a:latin typeface="Outfit"/>
              </a:rPr>
              <a:t>Economía colaborativa entre vecinos.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82130"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10</a:t>
            </a:r>
          </a:p>
        </p:txBody>
      </p:sp>
      <p:sp>
        <p:nvSpPr>
          <p:cNvPr id="5" name="TextBox 4"/>
          <p:cNvSpPr txBox="1"/>
          <p:nvPr/>
        </p:nvSpPr>
        <p:spPr>
          <a:xfrm>
            <a:off x="1233106" y="365760"/>
            <a:ext cx="143604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Iconografía</a:t>
            </a:r>
          </a:p>
        </p:txBody>
      </p:sp>
      <p:sp>
        <p:nvSpPr>
          <p:cNvPr id="6" name="TextBox 5"/>
          <p:cNvSpPr txBox="1"/>
          <p:nvPr/>
        </p:nvSpPr>
        <p:spPr>
          <a:xfrm>
            <a:off x="487680" y="987552"/>
            <a:ext cx="3522326" cy="243840"/>
          </a:xfrm>
          <a:prstGeom prst="rect">
            <a:avLst/>
          </a:prstGeom>
          <a:noFill/>
        </p:spPr>
        <p:txBody>
          <a:bodyPr wrap="none" lIns="0" rIns="0" tIns="0" bIns="0" anchor="t">
            <a:noAutofit/>
          </a:bodyPr>
          <a:lstStyle/>
          <a:p>
            <a:pPr algn="l">
              <a:lnSpc>
                <a:spcPts val="1920"/>
              </a:lnSpc>
              <a:spcBef>
                <a:spcPts val="0"/>
              </a:spcBef>
              <a:spcAft>
                <a:spcPts val="0"/>
              </a:spcAft>
            </a:pPr>
            <a:r>
              <a:rPr sz="1450" b="1" i="0" lang="es-CO">
                <a:solidFill>
                  <a:srgbClr val="5C3A1E"/>
                </a:solidFill>
                <a:latin typeface="Playfair Display"/>
              </a:rPr>
              <a:t>Set base de producto (24px · trazo 2px)</a:t>
            </a:r>
          </a:p>
        </p:txBody>
      </p:sp>
      <p:sp>
        <p:nvSpPr>
          <p:cNvPr id="7" name="Rounded Rectangle 6"/>
          <p:cNvSpPr/>
          <p:nvPr/>
        </p:nvSpPr>
        <p:spPr>
          <a:xfrm>
            <a:off x="493776" y="1408176"/>
            <a:ext cx="1714881"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8" name="Picture 7" descr="s21_r1.png"/>
          <p:cNvPicPr>
            <a:picLocks noChangeAspect="1"/>
          </p:cNvPicPr>
          <p:nvPr/>
        </p:nvPicPr>
        <p:blipFill>
          <a:blip r:embed="rId3"/>
          <a:stretch>
            <a:fillRect/>
          </a:stretch>
        </p:blipFill>
        <p:spPr>
          <a:xfrm>
            <a:off x="1207008" y="1584960"/>
            <a:ext cx="280416" cy="268224"/>
          </a:xfrm>
          <a:prstGeom prst="rect">
            <a:avLst/>
          </a:prstGeom>
        </p:spPr>
      </p:pic>
      <p:sp>
        <p:nvSpPr>
          <p:cNvPr id="9" name="TextBox 8"/>
          <p:cNvSpPr txBox="1"/>
          <p:nvPr/>
        </p:nvSpPr>
        <p:spPr>
          <a:xfrm>
            <a:off x="1173480" y="1950720"/>
            <a:ext cx="355282"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Chat</a:t>
            </a:r>
          </a:p>
        </p:txBody>
      </p:sp>
      <p:sp>
        <p:nvSpPr>
          <p:cNvPr id="10" name="Rounded Rectangle 9"/>
          <p:cNvSpPr/>
          <p:nvPr/>
        </p:nvSpPr>
        <p:spPr>
          <a:xfrm>
            <a:off x="2391537" y="1408176"/>
            <a:ext cx="1715072"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11" name="Picture 10" descr="s21_r2.png"/>
          <p:cNvPicPr>
            <a:picLocks noChangeAspect="1"/>
          </p:cNvPicPr>
          <p:nvPr/>
        </p:nvPicPr>
        <p:blipFill>
          <a:blip r:embed="rId4"/>
          <a:stretch>
            <a:fillRect/>
          </a:stretch>
        </p:blipFill>
        <p:spPr>
          <a:xfrm>
            <a:off x="3108960" y="1584960"/>
            <a:ext cx="280416" cy="268224"/>
          </a:xfrm>
          <a:prstGeom prst="rect">
            <a:avLst/>
          </a:prstGeom>
        </p:spPr>
      </p:pic>
      <p:sp>
        <p:nvSpPr>
          <p:cNvPr id="12" name="TextBox 11"/>
          <p:cNvSpPr txBox="1"/>
          <p:nvPr/>
        </p:nvSpPr>
        <p:spPr>
          <a:xfrm>
            <a:off x="2988945" y="1950720"/>
            <a:ext cx="520065"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Reserva</a:t>
            </a:r>
          </a:p>
        </p:txBody>
      </p:sp>
      <p:sp>
        <p:nvSpPr>
          <p:cNvPr id="13" name="Rounded Rectangle 12"/>
          <p:cNvSpPr/>
          <p:nvPr/>
        </p:nvSpPr>
        <p:spPr>
          <a:xfrm>
            <a:off x="4289488" y="1408176"/>
            <a:ext cx="1715072"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14" name="Picture 13" descr="s21_r3.png"/>
          <p:cNvPicPr>
            <a:picLocks noChangeAspect="1"/>
          </p:cNvPicPr>
          <p:nvPr/>
        </p:nvPicPr>
        <p:blipFill>
          <a:blip r:embed="rId5"/>
          <a:stretch>
            <a:fillRect/>
          </a:stretch>
        </p:blipFill>
        <p:spPr>
          <a:xfrm>
            <a:off x="5010912" y="1584960"/>
            <a:ext cx="280416" cy="268224"/>
          </a:xfrm>
          <a:prstGeom prst="rect">
            <a:avLst/>
          </a:prstGeom>
        </p:spPr>
      </p:pic>
      <p:sp>
        <p:nvSpPr>
          <p:cNvPr id="15" name="TextBox 14"/>
          <p:cNvSpPr txBox="1"/>
          <p:nvPr/>
        </p:nvSpPr>
        <p:spPr>
          <a:xfrm>
            <a:off x="4963287" y="1950720"/>
            <a:ext cx="367474"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Pago</a:t>
            </a:r>
          </a:p>
        </p:txBody>
      </p:sp>
      <p:sp>
        <p:nvSpPr>
          <p:cNvPr id="16" name="Rounded Rectangle 15"/>
          <p:cNvSpPr/>
          <p:nvPr/>
        </p:nvSpPr>
        <p:spPr>
          <a:xfrm>
            <a:off x="6187440" y="1408176"/>
            <a:ext cx="1714881"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17" name="Picture 16" descr="s21_r4.png"/>
          <p:cNvPicPr>
            <a:picLocks noChangeAspect="1"/>
          </p:cNvPicPr>
          <p:nvPr/>
        </p:nvPicPr>
        <p:blipFill>
          <a:blip r:embed="rId6"/>
          <a:stretch>
            <a:fillRect/>
          </a:stretch>
        </p:blipFill>
        <p:spPr>
          <a:xfrm>
            <a:off x="6900672" y="1584960"/>
            <a:ext cx="280416" cy="268224"/>
          </a:xfrm>
          <a:prstGeom prst="rect">
            <a:avLst/>
          </a:prstGeom>
        </p:spPr>
      </p:pic>
      <p:sp>
        <p:nvSpPr>
          <p:cNvPr id="18" name="TextBox 17"/>
          <p:cNvSpPr txBox="1"/>
          <p:nvPr/>
        </p:nvSpPr>
        <p:spPr>
          <a:xfrm>
            <a:off x="6688455" y="1950720"/>
            <a:ext cx="712851"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Calificación</a:t>
            </a:r>
          </a:p>
        </p:txBody>
      </p:sp>
      <p:sp>
        <p:nvSpPr>
          <p:cNvPr id="19" name="Rounded Rectangle 18"/>
          <p:cNvSpPr/>
          <p:nvPr/>
        </p:nvSpPr>
        <p:spPr>
          <a:xfrm>
            <a:off x="8085201" y="1408176"/>
            <a:ext cx="1715072"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20" name="Picture 19" descr="s21_r5.png"/>
          <p:cNvPicPr>
            <a:picLocks noChangeAspect="1"/>
          </p:cNvPicPr>
          <p:nvPr/>
        </p:nvPicPr>
        <p:blipFill>
          <a:blip r:embed="rId7"/>
          <a:stretch>
            <a:fillRect/>
          </a:stretch>
        </p:blipFill>
        <p:spPr>
          <a:xfrm>
            <a:off x="8802624" y="1584960"/>
            <a:ext cx="280416" cy="268224"/>
          </a:xfrm>
          <a:prstGeom prst="rect">
            <a:avLst/>
          </a:prstGeom>
        </p:spPr>
      </p:pic>
      <p:sp>
        <p:nvSpPr>
          <p:cNvPr id="21" name="TextBox 20"/>
          <p:cNvSpPr txBox="1"/>
          <p:nvPr/>
        </p:nvSpPr>
        <p:spPr>
          <a:xfrm>
            <a:off x="8634984" y="1950720"/>
            <a:ext cx="615506"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Ubicación</a:t>
            </a:r>
          </a:p>
        </p:txBody>
      </p:sp>
      <p:sp>
        <p:nvSpPr>
          <p:cNvPr id="22" name="Rounded Rectangle 21"/>
          <p:cNvSpPr/>
          <p:nvPr/>
        </p:nvSpPr>
        <p:spPr>
          <a:xfrm>
            <a:off x="9983152" y="1408176"/>
            <a:ext cx="1715072"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23" name="Picture 22" descr="s21_r6.png"/>
          <p:cNvPicPr>
            <a:picLocks noChangeAspect="1"/>
          </p:cNvPicPr>
          <p:nvPr/>
        </p:nvPicPr>
        <p:blipFill>
          <a:blip r:embed="rId8"/>
          <a:stretch>
            <a:fillRect/>
          </a:stretch>
        </p:blipFill>
        <p:spPr>
          <a:xfrm>
            <a:off x="10704576" y="1584960"/>
            <a:ext cx="280416" cy="268224"/>
          </a:xfrm>
          <a:prstGeom prst="rect">
            <a:avLst/>
          </a:prstGeom>
        </p:spPr>
      </p:pic>
      <p:sp>
        <p:nvSpPr>
          <p:cNvPr id="24" name="TextBox 23"/>
          <p:cNvSpPr txBox="1"/>
          <p:nvPr/>
        </p:nvSpPr>
        <p:spPr>
          <a:xfrm>
            <a:off x="10592562" y="1950720"/>
            <a:ext cx="496252"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Tiempo</a:t>
            </a:r>
          </a:p>
        </p:txBody>
      </p:sp>
      <p:sp>
        <p:nvSpPr>
          <p:cNvPr id="25" name="Rounded Rectangle 24"/>
          <p:cNvSpPr/>
          <p:nvPr/>
        </p:nvSpPr>
        <p:spPr>
          <a:xfrm>
            <a:off x="493776" y="2456688"/>
            <a:ext cx="1714881"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26" name="Picture 25" descr="s21_r7.png"/>
          <p:cNvPicPr>
            <a:picLocks noChangeAspect="1"/>
          </p:cNvPicPr>
          <p:nvPr/>
        </p:nvPicPr>
        <p:blipFill>
          <a:blip r:embed="rId9"/>
          <a:stretch>
            <a:fillRect/>
          </a:stretch>
        </p:blipFill>
        <p:spPr>
          <a:xfrm>
            <a:off x="1207008" y="2633472"/>
            <a:ext cx="280416" cy="268224"/>
          </a:xfrm>
          <a:prstGeom prst="rect">
            <a:avLst/>
          </a:prstGeom>
        </p:spPr>
      </p:pic>
      <p:sp>
        <p:nvSpPr>
          <p:cNvPr id="27" name="TextBox 26"/>
          <p:cNvSpPr txBox="1"/>
          <p:nvPr/>
        </p:nvSpPr>
        <p:spPr>
          <a:xfrm>
            <a:off x="1161478" y="2999232"/>
            <a:ext cx="379286"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Aviso</a:t>
            </a:r>
          </a:p>
        </p:txBody>
      </p:sp>
      <p:sp>
        <p:nvSpPr>
          <p:cNvPr id="28" name="Rounded Rectangle 27"/>
          <p:cNvSpPr/>
          <p:nvPr/>
        </p:nvSpPr>
        <p:spPr>
          <a:xfrm>
            <a:off x="2391537" y="2456688"/>
            <a:ext cx="1715072"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29" name="Picture 28" descr="s21_r8.png"/>
          <p:cNvPicPr>
            <a:picLocks noChangeAspect="1"/>
          </p:cNvPicPr>
          <p:nvPr/>
        </p:nvPicPr>
        <p:blipFill>
          <a:blip r:embed="rId10"/>
          <a:stretch>
            <a:fillRect/>
          </a:stretch>
        </p:blipFill>
        <p:spPr>
          <a:xfrm>
            <a:off x="3108960" y="2633472"/>
            <a:ext cx="280416" cy="268224"/>
          </a:xfrm>
          <a:prstGeom prst="rect">
            <a:avLst/>
          </a:prstGeom>
        </p:spPr>
      </p:pic>
      <p:sp>
        <p:nvSpPr>
          <p:cNvPr id="30" name="TextBox 29"/>
          <p:cNvSpPr txBox="1"/>
          <p:nvPr/>
        </p:nvSpPr>
        <p:spPr>
          <a:xfrm>
            <a:off x="3060192" y="2999232"/>
            <a:ext cx="377571"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Perfil</a:t>
            </a:r>
          </a:p>
        </p:txBody>
      </p:sp>
      <p:sp>
        <p:nvSpPr>
          <p:cNvPr id="31" name="Rounded Rectangle 30"/>
          <p:cNvSpPr/>
          <p:nvPr/>
        </p:nvSpPr>
        <p:spPr>
          <a:xfrm>
            <a:off x="4289488" y="2456688"/>
            <a:ext cx="1715072" cy="865632"/>
          </a:xfrm>
          <a:prstGeom prst="roundRect">
            <a:avLst>
              <a:gd name="adj" fmla="val 13380"/>
            </a:avLst>
          </a:prstGeom>
          <a:solidFill>
            <a:srgbClr val="EFE0C2"/>
          </a:solidFill>
          <a:ln w="12192" cap="flat">
            <a:solidFill>
              <a:srgbClr val="D8C39C"/>
            </a:solidFill>
          </a:ln>
        </p:spPr>
        <p:txBody>
          <a:bodyPr rtlCol="0" anchor="ctr"/>
          <a:lstStyle/>
          <a:p>
            <a:pPr algn="ctr"/>
          </a:p>
        </p:txBody>
      </p:sp>
      <p:pic>
        <p:nvPicPr>
          <p:cNvPr id="32" name="Picture 31" descr="s21_r9.png"/>
          <p:cNvPicPr>
            <a:picLocks noChangeAspect="1"/>
          </p:cNvPicPr>
          <p:nvPr/>
        </p:nvPicPr>
        <p:blipFill>
          <a:blip r:embed="rId11"/>
          <a:stretch>
            <a:fillRect/>
          </a:stretch>
        </p:blipFill>
        <p:spPr>
          <a:xfrm>
            <a:off x="5010912" y="2633472"/>
            <a:ext cx="280416" cy="268224"/>
          </a:xfrm>
          <a:prstGeom prst="rect">
            <a:avLst/>
          </a:prstGeom>
        </p:spPr>
      </p:pic>
      <p:sp>
        <p:nvSpPr>
          <p:cNvPr id="33" name="TextBox 32"/>
          <p:cNvSpPr txBox="1"/>
          <p:nvPr/>
        </p:nvSpPr>
        <p:spPr>
          <a:xfrm>
            <a:off x="4916805" y="2999232"/>
            <a:ext cx="460438" cy="146304"/>
          </a:xfrm>
          <a:prstGeom prst="rect">
            <a:avLst/>
          </a:prstGeom>
          <a:noFill/>
        </p:spPr>
        <p:txBody>
          <a:bodyPr wrap="none" lIns="0" rIns="0" tIns="0" bIns="0" anchor="t">
            <a:noAutofit/>
          </a:bodyPr>
          <a:lstStyle/>
          <a:p>
            <a:pPr algn="ctr">
              <a:lnSpc>
                <a:spcPts val="1152"/>
              </a:lnSpc>
              <a:spcBef>
                <a:spcPts val="0"/>
              </a:spcBef>
              <a:spcAft>
                <a:spcPts val="0"/>
              </a:spcAft>
            </a:pPr>
            <a:r>
              <a:rPr sz="900" b="1" i="0" lang="es-CO">
                <a:solidFill>
                  <a:srgbClr val="5B4A38"/>
                </a:solidFill>
                <a:latin typeface="Outfit"/>
              </a:rPr>
              <a:t>Cocina</a:t>
            </a:r>
          </a:p>
        </p:txBody>
      </p:sp>
      <p:cxnSp>
        <p:nvCxnSpPr>
          <p:cNvPr id="34" name="Connector 33"/>
          <p:cNvCxnSpPr/>
          <p:nvPr/>
        </p:nvCxnSpPr>
        <p:spPr>
          <a:xfrm>
            <a:off x="487680" y="6327648"/>
            <a:ext cx="11216640" cy="0"/>
          </a:xfrm>
          <a:prstGeom prst="line">
            <a:avLst/>
          </a:prstGeom>
          <a:ln w="24384" cap="flat">
            <a:solidFill>
              <a:srgbClr val="D8C39C"/>
            </a:solidFill>
          </a:ln>
        </p:spPr>
      </p:cxnSp>
      <p:sp>
        <p:nvSpPr>
          <p:cNvPr id="35" name="TextBox 34"/>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36" name="TextBox 35"/>
          <p:cNvSpPr txBox="1"/>
          <p:nvPr/>
        </p:nvSpPr>
        <p:spPr>
          <a:xfrm>
            <a:off x="11255312" y="6486144"/>
            <a:ext cx="546544"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10 / 16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40982"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11</a:t>
            </a:r>
          </a:p>
        </p:txBody>
      </p:sp>
      <p:sp>
        <p:nvSpPr>
          <p:cNvPr id="5" name="TextBox 4"/>
          <p:cNvSpPr txBox="1"/>
          <p:nvPr/>
        </p:nvSpPr>
        <p:spPr>
          <a:xfrm>
            <a:off x="1191958" y="365760"/>
            <a:ext cx="1889093"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Interfaz vigente</a:t>
            </a:r>
          </a:p>
        </p:txBody>
      </p:sp>
      <p:sp>
        <p:nvSpPr>
          <p:cNvPr id="6" name="TextBox 5"/>
          <p:cNvSpPr txBox="1"/>
          <p:nvPr/>
        </p:nvSpPr>
        <p:spPr>
          <a:xfrm>
            <a:off x="487680" y="713232"/>
            <a:ext cx="3484816"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Cocineras</a:t>
            </a:r>
          </a:p>
        </p:txBody>
      </p:sp>
      <p:sp>
        <p:nvSpPr>
          <p:cNvPr id="7" name="TextBox 6"/>
          <p:cNvSpPr txBox="1"/>
          <p:nvPr/>
        </p:nvSpPr>
        <p:spPr>
          <a:xfrm>
            <a:off x="487680" y="1395984"/>
            <a:ext cx="3248235"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cercanas.</a:t>
            </a:r>
          </a:p>
        </p:txBody>
      </p:sp>
      <p:sp>
        <p:nvSpPr>
          <p:cNvPr id="8" name="TextBox 7"/>
          <p:cNvSpPr txBox="1"/>
          <p:nvPr/>
        </p:nvSpPr>
        <p:spPr>
          <a:xfrm>
            <a:off x="487680" y="2301850"/>
            <a:ext cx="8012582" cy="643738"/>
          </a:xfrm>
          <a:prstGeom prst="rect">
            <a:avLst/>
          </a:prstGeom>
          <a:noFill/>
        </p:spPr>
        <p:txBody>
          <a:bodyPr wrap="square" lIns="0" rIns="0" tIns="0" bIns="0" anchor="t">
            <a:noAutofit/>
          </a:bodyPr>
          <a:lstStyle/>
          <a:p>
            <a:pPr algn="l">
              <a:lnSpc>
                <a:spcPts val="2534"/>
              </a:lnSpc>
              <a:spcBef>
                <a:spcPts val="0"/>
              </a:spcBef>
              <a:spcAft>
                <a:spcPts val="0"/>
              </a:spcAft>
            </a:pPr>
            <a:r>
              <a:rPr sz="1525" b="0" i="0" lang="es-CO">
                <a:solidFill>
                  <a:srgbClr val="5B4A38"/>
                </a:solidFill>
                <a:latin typeface="Outfit"/>
              </a:rPr>
              <a:t>La pantalla actual combina una identidad cálida de barrio con una exploración visual</a:t>
            </a:r>
            <a:br/>
            <a:r>
              <a:rPr sz="1525" b="0" i="0" lang="es-CO">
                <a:solidFill>
                  <a:srgbClr val="5B4A38"/>
                </a:solidFill>
                <a:latin typeface="Outfit"/>
              </a:rPr>
              <a:t>sencilla: mapa ilustrado, filtros por distancia y fichas de comida casera.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43345" y="399011"/>
            <a:ext cx="288175" cy="33251"/>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842356" y="332509"/>
            <a:ext cx="219075" cy="166255"/>
          </a:xfrm>
          <a:prstGeom prst="rect">
            <a:avLst/>
          </a:prstGeom>
          <a:noFill/>
        </p:spPr>
        <p:txBody>
          <a:bodyPr wrap="none" lIns="0" rIns="0" tIns="0" bIns="0" anchor="t">
            <a:noAutofit/>
          </a:bodyPr>
          <a:lstStyle/>
          <a:p>
            <a:pPr algn="l">
              <a:lnSpc>
                <a:spcPts val="1309"/>
              </a:lnSpc>
              <a:spcBef>
                <a:spcPts val="0"/>
              </a:spcBef>
              <a:spcAft>
                <a:spcPts val="0"/>
              </a:spcAft>
            </a:pPr>
            <a:r>
              <a:rPr sz="1050" b="1" i="0" lang="es-CO" cap="all" spc="105">
                <a:solidFill>
                  <a:srgbClr val="D97224"/>
                </a:solidFill>
                <a:latin typeface="Outfit"/>
              </a:rPr>
              <a:t>11</a:t>
            </a:r>
          </a:p>
        </p:txBody>
      </p:sp>
      <p:sp>
        <p:nvSpPr>
          <p:cNvPr id="5" name="TextBox 4"/>
          <p:cNvSpPr txBox="1"/>
          <p:nvPr/>
        </p:nvSpPr>
        <p:spPr>
          <a:xfrm>
            <a:off x="1083599" y="332509"/>
            <a:ext cx="1717358" cy="166255"/>
          </a:xfrm>
          <a:prstGeom prst="rect">
            <a:avLst/>
          </a:prstGeom>
          <a:noFill/>
        </p:spPr>
        <p:txBody>
          <a:bodyPr wrap="none" lIns="0" rIns="0" tIns="0" bIns="0" anchor="t">
            <a:noAutofit/>
          </a:bodyPr>
          <a:lstStyle/>
          <a:p>
            <a:pPr algn="l">
              <a:lnSpc>
                <a:spcPts val="1309"/>
              </a:lnSpc>
              <a:spcBef>
                <a:spcPts val="0"/>
              </a:spcBef>
              <a:spcAft>
                <a:spcPts val="0"/>
              </a:spcAft>
            </a:pPr>
            <a:r>
              <a:rPr sz="1050" b="1" i="0" lang="es-CO" cap="all" spc="105">
                <a:solidFill>
                  <a:srgbClr val="5B4A38"/>
                </a:solidFill>
                <a:latin typeface="Outfit"/>
              </a:rPr>
              <a:t>/ Interfaz vigente</a:t>
            </a:r>
          </a:p>
        </p:txBody>
      </p:sp>
      <p:sp>
        <p:nvSpPr>
          <p:cNvPr id="6" name="Rounded Rectangle 5"/>
          <p:cNvSpPr/>
          <p:nvPr/>
        </p:nvSpPr>
        <p:spPr>
          <a:xfrm rot="21570000">
            <a:off x="886691" y="897775"/>
            <a:ext cx="10418618" cy="5717944"/>
          </a:xfrm>
          <a:prstGeom prst="roundRect">
            <a:avLst>
              <a:gd name="adj" fmla="val 775"/>
            </a:avLst>
          </a:prstGeom>
          <a:solidFill>
            <a:srgbClr val="FFFFFF"/>
          </a:solidFill>
          <a:ln>
            <a:noFill/>
          </a:ln>
          <a:effectLst>
            <a:outerShdw blurRad="266007" dist="110836" dir="5400000" algn="ctr" rotWithShape="0">
              <a:srgbClr val="3C2814">
                <a:alpha val="25000"/>
              </a:srgbClr>
            </a:outerShdw>
          </a:effectLst>
        </p:spPr>
        <p:txBody>
          <a:bodyPr rtlCol="0" anchor="ctr"/>
          <a:lstStyle/>
          <a:p>
            <a:pPr algn="ctr"/>
          </a:p>
        </p:txBody>
      </p:sp>
      <p:pic>
        <p:nvPicPr>
          <p:cNvPr id="7" name="Picture 6" descr="Captura actual de OllaCercana: mapa de cocineras cercanas, filtros y anillos de distancia"/>
          <p:cNvPicPr>
            <a:picLocks noChangeAspect="1"/>
          </p:cNvPicPr>
          <p:nvPr/>
        </p:nvPicPr>
        <p:blipFill>
          <a:blip r:embed="rId3"/>
          <a:stretch>
            <a:fillRect/>
          </a:stretch>
        </p:blipFill>
        <p:spPr>
          <a:xfrm rot="21570000">
            <a:off x="994867" y="1008623"/>
            <a:ext cx="10196945" cy="4886671"/>
          </a:xfrm>
          <a:prstGeom prst="roundRect">
            <a:avLst>
              <a:gd name="adj" fmla="val 453"/>
            </a:avLst>
          </a:prstGeom>
        </p:spPr>
      </p:pic>
      <p:sp>
        <p:nvSpPr>
          <p:cNvPr id="8" name="TextBox 7"/>
          <p:cNvSpPr txBox="1"/>
          <p:nvPr/>
        </p:nvSpPr>
        <p:spPr>
          <a:xfrm rot="21570000">
            <a:off x="4518356" y="5983863"/>
            <a:ext cx="3196018" cy="232756"/>
          </a:xfrm>
          <a:prstGeom prst="rect">
            <a:avLst/>
          </a:prstGeom>
          <a:noFill/>
        </p:spPr>
        <p:txBody>
          <a:bodyPr wrap="none" lIns="0" rIns="0" tIns="0" bIns="0" anchor="t">
            <a:noAutofit/>
          </a:bodyPr>
          <a:lstStyle/>
          <a:p>
            <a:pPr algn="ctr">
              <a:lnSpc>
                <a:spcPts val="1832"/>
              </a:lnSpc>
              <a:spcBef>
                <a:spcPts val="0"/>
              </a:spcBef>
              <a:spcAft>
                <a:spcPts val="0"/>
              </a:spcAft>
            </a:pPr>
            <a:r>
              <a:rPr sz="1475" b="0" i="0" lang="es-CO">
                <a:solidFill>
                  <a:srgbClr val="5B4A38"/>
                </a:solidFill>
                <a:latin typeface="Caveat"/>
              </a:rPr>
              <a:t>Interfaz actual · Mapa de cocineras cercanas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43345" y="399011"/>
            <a:ext cx="288175" cy="33251"/>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842356" y="332509"/>
            <a:ext cx="219075" cy="166255"/>
          </a:xfrm>
          <a:prstGeom prst="rect">
            <a:avLst/>
          </a:prstGeom>
          <a:noFill/>
        </p:spPr>
        <p:txBody>
          <a:bodyPr wrap="none" lIns="0" rIns="0" tIns="0" bIns="0" anchor="t">
            <a:noAutofit/>
          </a:bodyPr>
          <a:lstStyle/>
          <a:p>
            <a:pPr algn="l">
              <a:lnSpc>
                <a:spcPts val="1309"/>
              </a:lnSpc>
              <a:spcBef>
                <a:spcPts val="0"/>
              </a:spcBef>
              <a:spcAft>
                <a:spcPts val="0"/>
              </a:spcAft>
            </a:pPr>
            <a:r>
              <a:rPr sz="1050" b="1" i="0" lang="es-CO" cap="all" spc="105">
                <a:solidFill>
                  <a:srgbClr val="D97224"/>
                </a:solidFill>
                <a:latin typeface="Outfit"/>
              </a:rPr>
              <a:t>11</a:t>
            </a:r>
          </a:p>
        </p:txBody>
      </p:sp>
      <p:sp>
        <p:nvSpPr>
          <p:cNvPr id="5" name="TextBox 4"/>
          <p:cNvSpPr txBox="1"/>
          <p:nvPr/>
        </p:nvSpPr>
        <p:spPr>
          <a:xfrm>
            <a:off x="1083599" y="332509"/>
            <a:ext cx="1717358" cy="166255"/>
          </a:xfrm>
          <a:prstGeom prst="rect">
            <a:avLst/>
          </a:prstGeom>
          <a:noFill/>
        </p:spPr>
        <p:txBody>
          <a:bodyPr wrap="none" lIns="0" rIns="0" tIns="0" bIns="0" anchor="t">
            <a:noAutofit/>
          </a:bodyPr>
          <a:lstStyle/>
          <a:p>
            <a:pPr algn="l">
              <a:lnSpc>
                <a:spcPts val="1309"/>
              </a:lnSpc>
              <a:spcBef>
                <a:spcPts val="0"/>
              </a:spcBef>
              <a:spcAft>
                <a:spcPts val="0"/>
              </a:spcAft>
            </a:pPr>
            <a:r>
              <a:rPr sz="1050" b="1" i="0" lang="es-CO" cap="all" spc="105">
                <a:solidFill>
                  <a:srgbClr val="5B4A38"/>
                </a:solidFill>
                <a:latin typeface="Outfit"/>
              </a:rPr>
              <a:t>/ Interfaz vigente</a:t>
            </a:r>
          </a:p>
        </p:txBody>
      </p:sp>
      <p:sp>
        <p:nvSpPr>
          <p:cNvPr id="6" name="Rounded Rectangle 5"/>
          <p:cNvSpPr/>
          <p:nvPr/>
        </p:nvSpPr>
        <p:spPr>
          <a:xfrm rot="24000">
            <a:off x="886691" y="897775"/>
            <a:ext cx="10418618" cy="5694391"/>
          </a:xfrm>
          <a:prstGeom prst="roundRect">
            <a:avLst>
              <a:gd name="adj" fmla="val 778"/>
            </a:avLst>
          </a:prstGeom>
          <a:solidFill>
            <a:srgbClr val="FFFFFF"/>
          </a:solidFill>
          <a:ln>
            <a:noFill/>
          </a:ln>
          <a:effectLst>
            <a:outerShdw blurRad="266007" dist="110836" dir="5400000" algn="ctr" rotWithShape="0">
              <a:srgbClr val="3C2814">
                <a:alpha val="25000"/>
              </a:srgbClr>
            </a:outerShdw>
          </a:effectLst>
        </p:spPr>
        <p:txBody>
          <a:bodyPr rtlCol="0" anchor="ctr"/>
          <a:lstStyle/>
          <a:p>
            <a:pPr algn="ctr"/>
          </a:p>
        </p:txBody>
      </p:sp>
      <p:pic>
        <p:nvPicPr>
          <p:cNvPr id="7" name="Picture 6" descr="Captura actual de OllaCercana: tarjetas con platos, precios y perfiles de cocineras"/>
          <p:cNvPicPr>
            <a:picLocks noChangeAspect="1"/>
          </p:cNvPicPr>
          <p:nvPr/>
        </p:nvPicPr>
        <p:blipFill>
          <a:blip r:embed="rId3"/>
          <a:stretch>
            <a:fillRect/>
          </a:stretch>
        </p:blipFill>
        <p:spPr>
          <a:xfrm rot="24000">
            <a:off x="999655" y="1008618"/>
            <a:ext cx="10196945" cy="4863119"/>
          </a:xfrm>
          <a:prstGeom prst="roundRect">
            <a:avLst>
              <a:gd name="adj" fmla="val 455"/>
            </a:avLst>
          </a:prstGeom>
        </p:spPr>
      </p:pic>
      <p:sp>
        <p:nvSpPr>
          <p:cNvPr id="8" name="TextBox 7"/>
          <p:cNvSpPr txBox="1"/>
          <p:nvPr/>
        </p:nvSpPr>
        <p:spPr>
          <a:xfrm rot="24000">
            <a:off x="4478387" y="5960341"/>
            <a:ext cx="3202496" cy="232756"/>
          </a:xfrm>
          <a:prstGeom prst="rect">
            <a:avLst/>
          </a:prstGeom>
          <a:noFill/>
        </p:spPr>
        <p:txBody>
          <a:bodyPr wrap="none" lIns="0" rIns="0" tIns="0" bIns="0" anchor="t">
            <a:noAutofit/>
          </a:bodyPr>
          <a:lstStyle/>
          <a:p>
            <a:pPr algn="ctr">
              <a:lnSpc>
                <a:spcPts val="1832"/>
              </a:lnSpc>
              <a:spcBef>
                <a:spcPts val="0"/>
              </a:spcBef>
              <a:spcAft>
                <a:spcPts val="0"/>
              </a:spcAft>
            </a:pPr>
            <a:r>
              <a:rPr sz="1475" b="0" i="0" lang="es-CO">
                <a:solidFill>
                  <a:srgbClr val="5B4A38"/>
                </a:solidFill>
                <a:latin typeface="Caveat"/>
              </a:rPr>
              <a:t>Interfaz actual · Platos y perfiles de cocineras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40982"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11</a:t>
            </a:r>
          </a:p>
        </p:txBody>
      </p:sp>
      <p:sp>
        <p:nvSpPr>
          <p:cNvPr id="5" name="TextBox 4"/>
          <p:cNvSpPr txBox="1"/>
          <p:nvPr/>
        </p:nvSpPr>
        <p:spPr>
          <a:xfrm>
            <a:off x="1191958" y="365760"/>
            <a:ext cx="1889093"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Interfaz vigente</a:t>
            </a:r>
          </a:p>
        </p:txBody>
      </p:sp>
      <p:sp>
        <p:nvSpPr>
          <p:cNvPr id="6" name="Rounded Rectangle 5"/>
          <p:cNvSpPr/>
          <p:nvPr/>
        </p:nvSpPr>
        <p:spPr>
          <a:xfrm>
            <a:off x="487680" y="1024128"/>
            <a:ext cx="5498592" cy="1661541"/>
          </a:xfrm>
          <a:prstGeom prst="roundRect">
            <a:avLst>
              <a:gd name="adj" fmla="val 4402"/>
            </a:avLst>
          </a:prstGeom>
          <a:solidFill>
            <a:srgbClr val="D8C39C"/>
          </a:solidFill>
          <a:ln>
            <a:noFill/>
          </a:ln>
        </p:spPr>
        <p:txBody>
          <a:bodyPr rtlCol="0" anchor="ctr"/>
          <a:lstStyle/>
          <a:p>
            <a:pPr algn="ctr"/>
          </a:p>
        </p:txBody>
      </p:sp>
      <p:sp>
        <p:nvSpPr>
          <p:cNvPr id="7" name="Rounded Rectangle 6"/>
          <p:cNvSpPr/>
          <p:nvPr/>
        </p:nvSpPr>
        <p:spPr>
          <a:xfrm>
            <a:off x="493776" y="993648"/>
            <a:ext cx="5486400" cy="1649349"/>
          </a:xfrm>
          <a:prstGeom prst="roundRect">
            <a:avLst>
              <a:gd name="adj" fmla="val 4065"/>
            </a:avLst>
          </a:prstGeom>
          <a:solidFill>
            <a:srgbClr val="EFE0C2"/>
          </a:solidFill>
          <a:ln w="12192" cap="flat">
            <a:solidFill>
              <a:srgbClr val="D8C39C"/>
            </a:solidFill>
          </a:ln>
        </p:spPr>
        <p:txBody>
          <a:bodyPr rtlCol="0" anchor="ctr"/>
          <a:lstStyle/>
          <a:p>
            <a:pPr algn="ctr"/>
          </a:p>
        </p:txBody>
      </p:sp>
      <p:sp>
        <p:nvSpPr>
          <p:cNvPr id="8" name="TextBox 7"/>
          <p:cNvSpPr txBox="1"/>
          <p:nvPr/>
        </p:nvSpPr>
        <p:spPr>
          <a:xfrm>
            <a:off x="768096" y="1267968"/>
            <a:ext cx="1761687"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01 · Descubrimiento</a:t>
            </a:r>
          </a:p>
        </p:txBody>
      </p:sp>
      <p:sp>
        <p:nvSpPr>
          <p:cNvPr id="9" name="TextBox 8"/>
          <p:cNvSpPr txBox="1"/>
          <p:nvPr/>
        </p:nvSpPr>
        <p:spPr>
          <a:xfrm>
            <a:off x="768096" y="1536192"/>
            <a:ext cx="3634016"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Marca y búsqueda en primer plano</a:t>
            </a:r>
          </a:p>
        </p:txBody>
      </p:sp>
      <p:sp>
        <p:nvSpPr>
          <p:cNvPr id="10" name="TextBox 9"/>
          <p:cNvSpPr txBox="1"/>
          <p:nvPr/>
        </p:nvSpPr>
        <p:spPr>
          <a:xfrm>
            <a:off x="768096" y="1876654"/>
            <a:ext cx="5234026"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El logotipo usa naranja Olla </a:t>
            </a:r>
            <a:r>
              <a:rPr sz="1250" b="1" i="0" lang="es-CO">
                <a:solidFill>
                  <a:srgbClr val="5B4A38"/>
                </a:solidFill>
                <a:latin typeface="Outfit"/>
              </a:rPr>
              <a:t>#F0822D</a:t>
            </a:r>
            <a:r>
              <a:rPr sz="1250" b="0" i="0" lang="es-CO">
                <a:solidFill>
                  <a:srgbClr val="5B4A38"/>
                </a:solidFill>
                <a:latin typeface="Outfit"/>
              </a:rPr>
              <a:t> y verde Cercana </a:t>
            </a:r>
            <a:r>
              <a:rPr sz="1250" b="1" i="0" lang="es-CO">
                <a:solidFill>
                  <a:srgbClr val="5B4A38"/>
                </a:solidFill>
                <a:latin typeface="Outfit"/>
              </a:rPr>
              <a:t>#62B869</a:t>
            </a:r>
            <a:r>
              <a:rPr sz="1250" b="0" i="0" lang="es-CO">
                <a:solidFill>
                  <a:srgbClr val="5B4A38"/>
                </a:solidFill>
                <a:latin typeface="Outfit"/>
              </a:rPr>
              <a:t>. La</a:t>
            </a:r>
            <a:br/>
            <a:r>
              <a:rPr sz="1250" b="0" i="0" lang="es-CO">
                <a:solidFill>
                  <a:srgbClr val="5B4A38"/>
                </a:solidFill>
                <a:latin typeface="Outfit"/>
              </a:rPr>
              <a:t>barra superior reúne ubicación, búsqueda y acceso a filtros.</a:t>
            </a:r>
          </a:p>
        </p:txBody>
      </p:sp>
      <p:sp>
        <p:nvSpPr>
          <p:cNvPr id="11" name="Rounded Rectangle 10"/>
          <p:cNvSpPr/>
          <p:nvPr/>
        </p:nvSpPr>
        <p:spPr>
          <a:xfrm>
            <a:off x="6205728" y="1024128"/>
            <a:ext cx="5498592" cy="1661541"/>
          </a:xfrm>
          <a:prstGeom prst="roundRect">
            <a:avLst>
              <a:gd name="adj" fmla="val 4402"/>
            </a:avLst>
          </a:prstGeom>
          <a:solidFill>
            <a:srgbClr val="D8C39C"/>
          </a:solidFill>
          <a:ln>
            <a:noFill/>
          </a:ln>
        </p:spPr>
        <p:txBody>
          <a:bodyPr rtlCol="0" anchor="ctr"/>
          <a:lstStyle/>
          <a:p>
            <a:pPr algn="ctr"/>
          </a:p>
        </p:txBody>
      </p:sp>
      <p:sp>
        <p:nvSpPr>
          <p:cNvPr id="12" name="Rounded Rectangle 11"/>
          <p:cNvSpPr/>
          <p:nvPr/>
        </p:nvSpPr>
        <p:spPr>
          <a:xfrm>
            <a:off x="6211824" y="993648"/>
            <a:ext cx="5486400" cy="1649349"/>
          </a:xfrm>
          <a:prstGeom prst="roundRect">
            <a:avLst>
              <a:gd name="adj" fmla="val 4065"/>
            </a:avLst>
          </a:prstGeom>
          <a:solidFill>
            <a:srgbClr val="EFE0C2"/>
          </a:solidFill>
          <a:ln w="12192" cap="flat">
            <a:solidFill>
              <a:srgbClr val="D8C39C"/>
            </a:solidFill>
          </a:ln>
        </p:spPr>
        <p:txBody>
          <a:bodyPr rtlCol="0" anchor="ctr"/>
          <a:lstStyle/>
          <a:p>
            <a:pPr algn="ctr"/>
          </a:p>
        </p:txBody>
      </p:sp>
      <p:sp>
        <p:nvSpPr>
          <p:cNvPr id="13" name="TextBox 12"/>
          <p:cNvSpPr txBox="1"/>
          <p:nvPr/>
        </p:nvSpPr>
        <p:spPr>
          <a:xfrm>
            <a:off x="6486144" y="1267968"/>
            <a:ext cx="1385754"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02 · Proximidad</a:t>
            </a:r>
          </a:p>
        </p:txBody>
      </p:sp>
      <p:sp>
        <p:nvSpPr>
          <p:cNvPr id="14" name="TextBox 13"/>
          <p:cNvSpPr txBox="1"/>
          <p:nvPr/>
        </p:nvSpPr>
        <p:spPr>
          <a:xfrm>
            <a:off x="6486144" y="1536192"/>
            <a:ext cx="2439581"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Filtros de 500 m a 2 km</a:t>
            </a:r>
          </a:p>
        </p:txBody>
      </p:sp>
      <p:sp>
        <p:nvSpPr>
          <p:cNvPr id="15" name="TextBox 14"/>
          <p:cNvSpPr txBox="1"/>
          <p:nvPr/>
        </p:nvSpPr>
        <p:spPr>
          <a:xfrm>
            <a:off x="6486144" y="1876654"/>
            <a:ext cx="5234026"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Las opciones Todas, 500 m, 1 km, 1.5 km, 2 km y Abiertas ahora</a:t>
            </a:r>
            <a:br/>
            <a:r>
              <a:rPr sz="1250" b="0" i="0" lang="es-CO">
                <a:solidFill>
                  <a:srgbClr val="5B4A38"/>
                </a:solidFill>
                <a:latin typeface="Outfit"/>
              </a:rPr>
              <a:t>permiten recorrer la oferta por cercanía y estado.</a:t>
            </a:r>
          </a:p>
        </p:txBody>
      </p:sp>
      <p:sp>
        <p:nvSpPr>
          <p:cNvPr id="16" name="Rounded Rectangle 15"/>
          <p:cNvSpPr/>
          <p:nvPr/>
        </p:nvSpPr>
        <p:spPr>
          <a:xfrm>
            <a:off x="487680" y="2905125"/>
            <a:ext cx="5498592" cy="1907096"/>
          </a:xfrm>
          <a:prstGeom prst="roundRect">
            <a:avLst>
              <a:gd name="adj" fmla="val 3835"/>
            </a:avLst>
          </a:prstGeom>
          <a:solidFill>
            <a:srgbClr val="D8C39C"/>
          </a:solidFill>
          <a:ln>
            <a:noFill/>
          </a:ln>
        </p:spPr>
        <p:txBody>
          <a:bodyPr rtlCol="0" anchor="ctr"/>
          <a:lstStyle/>
          <a:p>
            <a:pPr algn="ctr"/>
          </a:p>
        </p:txBody>
      </p:sp>
      <p:sp>
        <p:nvSpPr>
          <p:cNvPr id="17" name="Rounded Rectangle 16"/>
          <p:cNvSpPr/>
          <p:nvPr/>
        </p:nvSpPr>
        <p:spPr>
          <a:xfrm>
            <a:off x="493776" y="2874645"/>
            <a:ext cx="5486400"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18" name="TextBox 17"/>
          <p:cNvSpPr txBox="1"/>
          <p:nvPr/>
        </p:nvSpPr>
        <p:spPr>
          <a:xfrm>
            <a:off x="768096" y="3148965"/>
            <a:ext cx="820293"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03 · Mapa</a:t>
            </a:r>
          </a:p>
        </p:txBody>
      </p:sp>
      <p:sp>
        <p:nvSpPr>
          <p:cNvPr id="19" name="TextBox 18"/>
          <p:cNvSpPr txBox="1"/>
          <p:nvPr/>
        </p:nvSpPr>
        <p:spPr>
          <a:xfrm>
            <a:off x="768096" y="3417189"/>
            <a:ext cx="2634044"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Anillos y pines ilustrados</a:t>
            </a:r>
          </a:p>
        </p:txBody>
      </p:sp>
      <p:sp>
        <p:nvSpPr>
          <p:cNvPr id="20" name="TextBox 19"/>
          <p:cNvSpPr txBox="1"/>
          <p:nvPr/>
        </p:nvSpPr>
        <p:spPr>
          <a:xfrm>
            <a:off x="768096" y="3757651"/>
            <a:ext cx="5234026" cy="737006"/>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El mapa dibuja radios de referencia de 500 m y 1 km, con pines</a:t>
            </a:r>
            <a:br/>
            <a:r>
              <a:rPr sz="1250" b="0" i="0" lang="es-CO">
                <a:solidFill>
                  <a:srgbClr val="5B4A38"/>
                </a:solidFill>
                <a:latin typeface="Outfit"/>
              </a:rPr>
              <a:t>seleccionables y distancias aproximadas para explicar la experiencia</a:t>
            </a:r>
            <a:br/>
            <a:r>
              <a:rPr sz="1250" b="0" i="0" lang="es-CO">
                <a:solidFill>
                  <a:srgbClr val="5B4A38"/>
                </a:solidFill>
                <a:latin typeface="Outfit"/>
              </a:rPr>
              <a:t>de exploración.</a:t>
            </a:r>
          </a:p>
        </p:txBody>
      </p:sp>
      <p:sp>
        <p:nvSpPr>
          <p:cNvPr id="21" name="Rounded Rectangle 20"/>
          <p:cNvSpPr/>
          <p:nvPr/>
        </p:nvSpPr>
        <p:spPr>
          <a:xfrm>
            <a:off x="6205728" y="2905125"/>
            <a:ext cx="5498592" cy="1907096"/>
          </a:xfrm>
          <a:prstGeom prst="roundRect">
            <a:avLst>
              <a:gd name="adj" fmla="val 3835"/>
            </a:avLst>
          </a:prstGeom>
          <a:solidFill>
            <a:srgbClr val="D8C39C"/>
          </a:solidFill>
          <a:ln>
            <a:noFill/>
          </a:ln>
        </p:spPr>
        <p:txBody>
          <a:bodyPr rtlCol="0" anchor="ctr"/>
          <a:lstStyle/>
          <a:p>
            <a:pPr algn="ctr"/>
          </a:p>
        </p:txBody>
      </p:sp>
      <p:sp>
        <p:nvSpPr>
          <p:cNvPr id="22" name="Rounded Rectangle 21"/>
          <p:cNvSpPr/>
          <p:nvPr/>
        </p:nvSpPr>
        <p:spPr>
          <a:xfrm>
            <a:off x="6211824" y="2874645"/>
            <a:ext cx="5486400" cy="1894904"/>
          </a:xfrm>
          <a:prstGeom prst="roundRect">
            <a:avLst>
              <a:gd name="adj" fmla="val 3538"/>
            </a:avLst>
          </a:prstGeom>
          <a:solidFill>
            <a:srgbClr val="EFE0C2"/>
          </a:solidFill>
          <a:ln w="12192" cap="flat">
            <a:solidFill>
              <a:srgbClr val="D8C39C"/>
            </a:solidFill>
          </a:ln>
        </p:spPr>
        <p:txBody>
          <a:bodyPr rtlCol="0" anchor="ctr"/>
          <a:lstStyle/>
          <a:p>
            <a:pPr algn="ctr"/>
          </a:p>
        </p:txBody>
      </p:sp>
      <p:sp>
        <p:nvSpPr>
          <p:cNvPr id="23" name="TextBox 22"/>
          <p:cNvSpPr txBox="1"/>
          <p:nvPr/>
        </p:nvSpPr>
        <p:spPr>
          <a:xfrm>
            <a:off x="6486144" y="3148965"/>
            <a:ext cx="1691068"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04 · Comida casera</a:t>
            </a:r>
          </a:p>
        </p:txBody>
      </p:sp>
      <p:sp>
        <p:nvSpPr>
          <p:cNvPr id="24" name="TextBox 23"/>
          <p:cNvSpPr txBox="1"/>
          <p:nvPr/>
        </p:nvSpPr>
        <p:spPr>
          <a:xfrm>
            <a:off x="6486144" y="3417189"/>
            <a:ext cx="3638626"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Plato destacado y ficha de cocinera</a:t>
            </a:r>
          </a:p>
        </p:txBody>
      </p:sp>
      <p:sp>
        <p:nvSpPr>
          <p:cNvPr id="25" name="TextBox 24"/>
          <p:cNvSpPr txBox="1"/>
          <p:nvPr/>
        </p:nvSpPr>
        <p:spPr>
          <a:xfrm>
            <a:off x="6486144" y="3757651"/>
            <a:ext cx="5234026"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Las tarjetas muestran nombre, estado, calificación, distancia, métodos</a:t>
            </a:r>
            <a:br/>
            <a:r>
              <a:rPr sz="1250" b="0" i="0" lang="es-CO">
                <a:solidFill>
                  <a:srgbClr val="5B4A38"/>
                </a:solidFill>
                <a:latin typeface="Outfit"/>
              </a:rPr>
              <a:t>de pago y plato destacado con precio, foto y descripción.</a:t>
            </a:r>
          </a:p>
        </p:txBody>
      </p:sp>
      <p:sp>
        <p:nvSpPr>
          <p:cNvPr id="26" name="Rounded Rectangle 25"/>
          <p:cNvSpPr/>
          <p:nvPr/>
        </p:nvSpPr>
        <p:spPr>
          <a:xfrm>
            <a:off x="493776" y="5001196"/>
            <a:ext cx="11204448" cy="874776"/>
          </a:xfrm>
          <a:prstGeom prst="roundRect">
            <a:avLst>
              <a:gd name="adj" fmla="val 13240"/>
            </a:avLst>
          </a:prstGeom>
          <a:noFill/>
          <a:ln w="12192" cap="flat">
            <a:solidFill>
              <a:srgbClr val="2B2117"/>
            </a:solidFill>
          </a:ln>
        </p:spPr>
        <p:txBody>
          <a:bodyPr rtlCol="0" anchor="ctr"/>
          <a:lstStyle/>
          <a:p>
            <a:pPr algn="ctr"/>
          </a:p>
        </p:txBody>
      </p:sp>
      <p:sp>
        <p:nvSpPr>
          <p:cNvPr id="27" name="TextBox 26"/>
          <p:cNvSpPr txBox="1"/>
          <p:nvPr/>
        </p:nvSpPr>
        <p:spPr>
          <a:xfrm>
            <a:off x="719328" y="5193982"/>
            <a:ext cx="11398545" cy="472440"/>
          </a:xfrm>
          <a:prstGeom prst="rect">
            <a:avLst/>
          </a:prstGeom>
          <a:noFill/>
        </p:spPr>
        <p:txBody>
          <a:bodyPr wrap="square" lIns="0" rIns="0" tIns="0" bIns="0" anchor="t">
            <a:noAutofit/>
          </a:bodyPr>
          <a:lstStyle/>
          <a:p>
            <a:pPr algn="l">
              <a:lnSpc>
                <a:spcPts val="1859"/>
              </a:lnSpc>
              <a:spcBef>
                <a:spcPts val="0"/>
              </a:spcBef>
              <a:spcAft>
                <a:spcPts val="0"/>
              </a:spcAft>
            </a:pPr>
            <a:r>
              <a:rPr sz="1200" b="1" i="0" lang="es-CO">
                <a:solidFill>
                  <a:srgbClr val="5B4A38"/>
                </a:solidFill>
                <a:latin typeface="Outfit"/>
              </a:rPr>
              <a:t>Estado de la información:</a:t>
            </a:r>
            <a:r>
              <a:rPr sz="1200" b="0" i="0" lang="es-CO">
                <a:solidFill>
                  <a:srgbClr val="5B4A38"/>
                </a:solidFill>
                <a:latin typeface="Outfit"/>
              </a:rPr>
              <a:t> las cocineras, fotos, reseñas, disponibilidad y distancias de esta vista son datos de ejemplo. La dirección exacta no se muestra en el</a:t>
            </a:r>
            <a:br/>
            <a:r>
              <a:rPr sz="1200" b="0" i="0" lang="es-CO">
                <a:solidFill>
                  <a:srgbClr val="5B4A38"/>
                </a:solidFill>
                <a:latin typeface="Outfit"/>
              </a:rPr>
              <a:t>mapa; la interfaz indica que se comparte al confirmar una reserva.</a:t>
            </a:r>
          </a:p>
        </p:txBody>
      </p:sp>
      <p:cxnSp>
        <p:nvCxnSpPr>
          <p:cNvPr id="28" name="Connector 27"/>
          <p:cNvCxnSpPr/>
          <p:nvPr/>
        </p:nvCxnSpPr>
        <p:spPr>
          <a:xfrm>
            <a:off x="487680" y="6327648"/>
            <a:ext cx="11216640" cy="0"/>
          </a:xfrm>
          <a:prstGeom prst="line">
            <a:avLst/>
          </a:prstGeom>
          <a:ln w="24384" cap="flat">
            <a:solidFill>
              <a:srgbClr val="D8C39C"/>
            </a:solidFill>
          </a:ln>
        </p:spPr>
      </p:cxnSp>
      <p:sp>
        <p:nvSpPr>
          <p:cNvPr id="29" name="TextBox 28"/>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30" name="TextBox 29"/>
          <p:cNvSpPr txBox="1"/>
          <p:nvPr/>
        </p:nvSpPr>
        <p:spPr>
          <a:xfrm>
            <a:off x="11289030" y="6486144"/>
            <a:ext cx="512826"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11 / 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51556" y="406400"/>
            <a:ext cx="293511" cy="33867"/>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857956" y="338667"/>
            <a:ext cx="248356" cy="169333"/>
          </a:xfrm>
          <a:prstGeom prst="rect">
            <a:avLst/>
          </a:prstGeom>
          <a:noFill/>
        </p:spPr>
        <p:txBody>
          <a:bodyPr wrap="none" lIns="0" rIns="0" tIns="0" bIns="0" anchor="t">
            <a:noAutofit/>
          </a:bodyPr>
          <a:lstStyle/>
          <a:p>
            <a:pPr algn="l">
              <a:lnSpc>
                <a:spcPts val="1333"/>
              </a:lnSpc>
              <a:spcBef>
                <a:spcPts val="0"/>
              </a:spcBef>
              <a:spcAft>
                <a:spcPts val="0"/>
              </a:spcAft>
            </a:pPr>
            <a:r>
              <a:rPr sz="1075" b="1" i="0" lang="es-CO" cap="all" spc="107">
                <a:solidFill>
                  <a:srgbClr val="D97224"/>
                </a:solidFill>
                <a:latin typeface="Outfit"/>
              </a:rPr>
              <a:t>12</a:t>
            </a:r>
          </a:p>
        </p:txBody>
      </p:sp>
      <p:sp>
        <p:nvSpPr>
          <p:cNvPr id="5" name="TextBox 4"/>
          <p:cNvSpPr txBox="1"/>
          <p:nvPr/>
        </p:nvSpPr>
        <p:spPr>
          <a:xfrm>
            <a:off x="1128889" y="338667"/>
            <a:ext cx="1826772" cy="169333"/>
          </a:xfrm>
          <a:prstGeom prst="rect">
            <a:avLst/>
          </a:prstGeom>
          <a:noFill/>
        </p:spPr>
        <p:txBody>
          <a:bodyPr wrap="none" lIns="0" rIns="0" tIns="0" bIns="0" anchor="t">
            <a:noAutofit/>
          </a:bodyPr>
          <a:lstStyle/>
          <a:p>
            <a:pPr algn="l">
              <a:lnSpc>
                <a:spcPts val="1333"/>
              </a:lnSpc>
              <a:spcBef>
                <a:spcPts val="0"/>
              </a:spcBef>
              <a:spcAft>
                <a:spcPts val="0"/>
              </a:spcAft>
            </a:pPr>
            <a:r>
              <a:rPr sz="1075" b="1" i="0" lang="es-CO" cap="all" spc="107">
                <a:solidFill>
                  <a:srgbClr val="5B4A38"/>
                </a:solidFill>
                <a:latin typeface="Outfit"/>
              </a:rPr>
              <a:t>/ Dirección de Arte</a:t>
            </a:r>
          </a:p>
        </p:txBody>
      </p:sp>
      <p:sp>
        <p:nvSpPr>
          <p:cNvPr id="6" name="TextBox 5"/>
          <p:cNvSpPr txBox="1"/>
          <p:nvPr/>
        </p:nvSpPr>
        <p:spPr>
          <a:xfrm>
            <a:off x="451556" y="663335"/>
            <a:ext cx="1719668" cy="682752"/>
          </a:xfrm>
          <a:prstGeom prst="rect">
            <a:avLst/>
          </a:prstGeom>
          <a:noFill/>
        </p:spPr>
        <p:txBody>
          <a:bodyPr wrap="none" lIns="0" rIns="0" tIns="0" bIns="0" anchor="t">
            <a:noAutofit/>
          </a:bodyPr>
          <a:lstStyle/>
          <a:p>
            <a:pPr algn="l">
              <a:lnSpc>
                <a:spcPts val="5375"/>
              </a:lnSpc>
              <a:spcBef>
                <a:spcPts val="0"/>
              </a:spcBef>
              <a:spcAft>
                <a:spcPts val="0"/>
              </a:spcAft>
            </a:pPr>
            <a:r>
              <a:rPr sz="5375" b="1" i="0" lang="es-CO">
                <a:solidFill>
                  <a:srgbClr val="2B2117"/>
                </a:solidFill>
                <a:latin typeface="Playfair Display"/>
              </a:rPr>
              <a:t>Se ve</a:t>
            </a:r>
          </a:p>
        </p:txBody>
      </p:sp>
      <p:sp>
        <p:nvSpPr>
          <p:cNvPr id="7" name="TextBox 6"/>
          <p:cNvSpPr txBox="1"/>
          <p:nvPr/>
        </p:nvSpPr>
        <p:spPr>
          <a:xfrm>
            <a:off x="451556" y="1346136"/>
            <a:ext cx="3479694" cy="682752"/>
          </a:xfrm>
          <a:prstGeom prst="rect">
            <a:avLst/>
          </a:prstGeom>
          <a:noFill/>
        </p:spPr>
        <p:txBody>
          <a:bodyPr wrap="none" lIns="0" rIns="0" tIns="0" bIns="0" anchor="t">
            <a:noAutofit/>
          </a:bodyPr>
          <a:lstStyle/>
          <a:p>
            <a:pPr algn="l">
              <a:lnSpc>
                <a:spcPts val="5375"/>
              </a:lnSpc>
              <a:spcBef>
                <a:spcPts val="0"/>
              </a:spcBef>
              <a:spcAft>
                <a:spcPts val="0"/>
              </a:spcAft>
            </a:pPr>
            <a:r>
              <a:rPr sz="5375" b="1" i="0" lang="es-CO">
                <a:solidFill>
                  <a:srgbClr val="F0822D"/>
                </a:solidFill>
                <a:latin typeface="Playfair Display"/>
              </a:rPr>
              <a:t>hogareño.</a:t>
            </a:r>
          </a:p>
        </p:txBody>
      </p:sp>
      <p:sp>
        <p:nvSpPr>
          <p:cNvPr id="8" name="TextBox 7"/>
          <p:cNvSpPr txBox="1"/>
          <p:nvPr/>
        </p:nvSpPr>
        <p:spPr>
          <a:xfrm>
            <a:off x="451556" y="2232589"/>
            <a:ext cx="7419058" cy="596053"/>
          </a:xfrm>
          <a:prstGeom prst="rect">
            <a:avLst/>
          </a:prstGeom>
          <a:noFill/>
        </p:spPr>
        <p:txBody>
          <a:bodyPr wrap="square" lIns="0" rIns="0" tIns="0" bIns="0" anchor="t">
            <a:noAutofit/>
          </a:bodyPr>
          <a:lstStyle/>
          <a:p>
            <a:pPr algn="l">
              <a:lnSpc>
                <a:spcPts val="2346"/>
              </a:lnSpc>
              <a:spcBef>
                <a:spcPts val="0"/>
              </a:spcBef>
              <a:spcAft>
                <a:spcPts val="0"/>
              </a:spcAft>
            </a:pPr>
            <a:r>
              <a:rPr sz="1425" b="0" i="0" lang="es-CO">
                <a:solidFill>
                  <a:srgbClr val="5B4A38"/>
                </a:solidFill>
                <a:latin typeface="Outfit"/>
              </a:rPr>
              <a:t>Cómo se fotografía la comida y las cocineras reales — para que nunca parezca catálogo</a:t>
            </a:r>
            <a:br/>
            <a:r>
              <a:rPr sz="1425" b="0" i="0" lang="es-CO">
                <a:solidFill>
                  <a:srgbClr val="5B4A38"/>
                </a:solidFill>
                <a:latin typeface="Outfit"/>
              </a:rPr>
              <a:t>de restaurante.</a:t>
            </a:r>
          </a:p>
        </p:txBody>
      </p:sp>
      <p:sp>
        <p:nvSpPr>
          <p:cNvPr id="9" name="Rectangle 8"/>
          <p:cNvSpPr/>
          <p:nvPr/>
        </p:nvSpPr>
        <p:spPr>
          <a:xfrm>
            <a:off x="496711" y="5122333"/>
            <a:ext cx="3537126" cy="33867"/>
          </a:xfrm>
          <a:prstGeom prst="rect">
            <a:avLst/>
          </a:prstGeom>
          <a:solidFill>
            <a:srgbClr val="5C3A1E"/>
          </a:solidFill>
          <a:ln>
            <a:noFill/>
          </a:ln>
        </p:spPr>
        <p:txBody>
          <a:bodyPr rtlCol="0" anchor="ctr"/>
          <a:lstStyle/>
          <a:p>
            <a:pPr algn="ctr"/>
          </a:p>
        </p:txBody>
      </p:sp>
      <p:sp>
        <p:nvSpPr>
          <p:cNvPr id="10" name="Rounded Rectangle 9"/>
          <p:cNvSpPr/>
          <p:nvPr/>
        </p:nvSpPr>
        <p:spPr>
          <a:xfrm>
            <a:off x="462844" y="3090333"/>
            <a:ext cx="3604860" cy="2020711"/>
          </a:xfrm>
          <a:prstGeom prst="roundRect">
            <a:avLst>
              <a:gd name="adj" fmla="val 3910"/>
            </a:avLst>
          </a:prstGeom>
          <a:noFill/>
          <a:ln w="22577" cap="flat">
            <a:solidFill>
              <a:srgbClr val="8B5E34"/>
            </a:solidFill>
          </a:ln>
        </p:spPr>
        <p:txBody>
          <a:bodyPr rtlCol="0" anchor="ctr"/>
          <a:lstStyle/>
          <a:p>
            <a:pPr algn="ctr"/>
          </a:p>
        </p:txBody>
      </p:sp>
      <p:pic>
        <p:nvPicPr>
          <p:cNvPr id="11" name="Picture 10" descr="s26_r1.png"/>
          <p:cNvPicPr>
            <a:picLocks noChangeAspect="1"/>
          </p:cNvPicPr>
          <p:nvPr/>
        </p:nvPicPr>
        <p:blipFill>
          <a:blip r:embed="rId3"/>
          <a:stretch>
            <a:fillRect/>
          </a:stretch>
        </p:blipFill>
        <p:spPr>
          <a:xfrm>
            <a:off x="474133" y="3093156"/>
            <a:ext cx="3589867" cy="1140178"/>
          </a:xfrm>
          <a:prstGeom prst="rect">
            <a:avLst/>
          </a:prstGeom>
        </p:spPr>
      </p:pic>
      <p:sp>
        <p:nvSpPr>
          <p:cNvPr id="12" name="TextBox 11"/>
          <p:cNvSpPr txBox="1"/>
          <p:nvPr/>
        </p:nvSpPr>
        <p:spPr>
          <a:xfrm>
            <a:off x="1587059" y="3592689"/>
            <a:ext cx="1356254" cy="146756"/>
          </a:xfrm>
          <a:prstGeom prst="rect">
            <a:avLst/>
          </a:prstGeom>
          <a:noFill/>
        </p:spPr>
        <p:txBody>
          <a:bodyPr wrap="none" lIns="0" rIns="0" tIns="0" bIns="0" anchor="t">
            <a:noAutofit/>
          </a:bodyPr>
          <a:lstStyle/>
          <a:p>
            <a:pPr algn="ctr">
              <a:lnSpc>
                <a:spcPts val="1155"/>
              </a:lnSpc>
              <a:spcBef>
                <a:spcPts val="0"/>
              </a:spcBef>
              <a:spcAft>
                <a:spcPts val="0"/>
              </a:spcAft>
            </a:pPr>
            <a:r>
              <a:rPr sz="900" b="0" i="0" lang="es-CO" cap="all" spc="53">
                <a:solidFill>
                  <a:srgbClr val="8A7860"/>
                </a:solidFill>
                <a:latin typeface="Outfit"/>
              </a:rPr>
              <a:t>Luz lateral difusa</a:t>
            </a:r>
          </a:p>
        </p:txBody>
      </p:sp>
      <p:sp>
        <p:nvSpPr>
          <p:cNvPr id="13" name="Rectangle 12"/>
          <p:cNvSpPr/>
          <p:nvPr/>
        </p:nvSpPr>
        <p:spPr>
          <a:xfrm>
            <a:off x="474133" y="4230511"/>
            <a:ext cx="3582282" cy="643467"/>
          </a:xfrm>
          <a:prstGeom prst="rect">
            <a:avLst/>
          </a:prstGeom>
          <a:solidFill>
            <a:srgbClr val="EFE0C2"/>
          </a:solidFill>
          <a:ln>
            <a:noFill/>
          </a:ln>
        </p:spPr>
        <p:txBody>
          <a:bodyPr rtlCol="0" anchor="ctr"/>
          <a:lstStyle/>
          <a:p>
            <a:pPr algn="ctr"/>
          </a:p>
        </p:txBody>
      </p:sp>
      <p:sp>
        <p:nvSpPr>
          <p:cNvPr id="14" name="TextBox 13"/>
          <p:cNvSpPr txBox="1"/>
          <p:nvPr/>
        </p:nvSpPr>
        <p:spPr>
          <a:xfrm>
            <a:off x="609600" y="4343400"/>
            <a:ext cx="338490" cy="191911"/>
          </a:xfrm>
          <a:prstGeom prst="rect">
            <a:avLst/>
          </a:prstGeom>
          <a:noFill/>
        </p:spPr>
        <p:txBody>
          <a:bodyPr wrap="none" lIns="0" rIns="0" tIns="0" bIns="0" anchor="t">
            <a:noAutofit/>
          </a:bodyPr>
          <a:lstStyle/>
          <a:p>
            <a:pPr algn="l">
              <a:lnSpc>
                <a:spcPts val="1511"/>
              </a:lnSpc>
              <a:spcBef>
                <a:spcPts val="0"/>
              </a:spcBef>
              <a:spcAft>
                <a:spcPts val="0"/>
              </a:spcAft>
            </a:pPr>
            <a:r>
              <a:rPr sz="1150" b="1" i="0" lang="es-CO">
                <a:solidFill>
                  <a:srgbClr val="5C3A1E"/>
                </a:solidFill>
                <a:latin typeface="Playfair Display"/>
              </a:rPr>
              <a:t>Luz</a:t>
            </a:r>
          </a:p>
        </p:txBody>
      </p:sp>
      <p:sp>
        <p:nvSpPr>
          <p:cNvPr id="15" name="TextBox 14"/>
          <p:cNvSpPr txBox="1"/>
          <p:nvPr/>
        </p:nvSpPr>
        <p:spPr>
          <a:xfrm>
            <a:off x="609600" y="4603044"/>
            <a:ext cx="3372009" cy="146756"/>
          </a:xfrm>
          <a:prstGeom prst="rect">
            <a:avLst/>
          </a:prstGeom>
          <a:noFill/>
        </p:spPr>
        <p:txBody>
          <a:bodyPr wrap="none" lIns="0" rIns="0" tIns="0" bIns="0" anchor="t">
            <a:noAutofit/>
          </a:bodyPr>
          <a:lstStyle/>
          <a:p>
            <a:pPr algn="l">
              <a:lnSpc>
                <a:spcPts val="1155"/>
              </a:lnSpc>
              <a:spcBef>
                <a:spcPts val="0"/>
              </a:spcBef>
              <a:spcAft>
                <a:spcPts val="0"/>
              </a:spcAft>
            </a:pPr>
            <a:r>
              <a:rPr sz="900" b="0" i="0" lang="es-CO">
                <a:solidFill>
                  <a:srgbClr val="8A7860"/>
                </a:solidFill>
                <a:latin typeface="Outfit"/>
              </a:rPr>
              <a:t>Natural, lateral y difusa — nunca flash directo ni sombra dura.</a:t>
            </a:r>
          </a:p>
        </p:txBody>
      </p:sp>
      <p:sp>
        <p:nvSpPr>
          <p:cNvPr id="16" name="Rectangle 15"/>
          <p:cNvSpPr/>
          <p:nvPr/>
        </p:nvSpPr>
        <p:spPr>
          <a:xfrm>
            <a:off x="4327349" y="5122333"/>
            <a:ext cx="3537126" cy="33867"/>
          </a:xfrm>
          <a:prstGeom prst="rect">
            <a:avLst/>
          </a:prstGeom>
          <a:solidFill>
            <a:srgbClr val="5C3A1E"/>
          </a:solidFill>
          <a:ln>
            <a:noFill/>
          </a:ln>
        </p:spPr>
        <p:txBody>
          <a:bodyPr rtlCol="0" anchor="ctr"/>
          <a:lstStyle/>
          <a:p>
            <a:pPr algn="ctr"/>
          </a:p>
        </p:txBody>
      </p:sp>
      <p:sp>
        <p:nvSpPr>
          <p:cNvPr id="17" name="Rounded Rectangle 16"/>
          <p:cNvSpPr/>
          <p:nvPr/>
        </p:nvSpPr>
        <p:spPr>
          <a:xfrm>
            <a:off x="4293482" y="3090333"/>
            <a:ext cx="3604860" cy="2020711"/>
          </a:xfrm>
          <a:prstGeom prst="roundRect">
            <a:avLst>
              <a:gd name="adj" fmla="val 3910"/>
            </a:avLst>
          </a:prstGeom>
          <a:noFill/>
          <a:ln w="22577" cap="flat">
            <a:solidFill>
              <a:srgbClr val="8B5E34"/>
            </a:solidFill>
          </a:ln>
        </p:spPr>
        <p:txBody>
          <a:bodyPr rtlCol="0" anchor="ctr"/>
          <a:lstStyle/>
          <a:p>
            <a:pPr algn="ctr"/>
          </a:p>
        </p:txBody>
      </p:sp>
      <p:pic>
        <p:nvPicPr>
          <p:cNvPr id="18" name="Picture 17" descr="s26_r2.png"/>
          <p:cNvPicPr>
            <a:picLocks noChangeAspect="1"/>
          </p:cNvPicPr>
          <p:nvPr/>
        </p:nvPicPr>
        <p:blipFill>
          <a:blip r:embed="rId4"/>
          <a:stretch>
            <a:fillRect/>
          </a:stretch>
        </p:blipFill>
        <p:spPr>
          <a:xfrm>
            <a:off x="4301067" y="3093156"/>
            <a:ext cx="3589867" cy="1140178"/>
          </a:xfrm>
          <a:prstGeom prst="rect">
            <a:avLst/>
          </a:prstGeom>
        </p:spPr>
      </p:pic>
      <p:sp>
        <p:nvSpPr>
          <p:cNvPr id="19" name="TextBox 18"/>
          <p:cNvSpPr txBox="1"/>
          <p:nvPr/>
        </p:nvSpPr>
        <p:spPr>
          <a:xfrm>
            <a:off x="5254898" y="3592689"/>
            <a:ext cx="1682027" cy="146756"/>
          </a:xfrm>
          <a:prstGeom prst="rect">
            <a:avLst/>
          </a:prstGeom>
          <a:noFill/>
        </p:spPr>
        <p:txBody>
          <a:bodyPr wrap="none" lIns="0" rIns="0" tIns="0" bIns="0" anchor="t">
            <a:noAutofit/>
          </a:bodyPr>
          <a:lstStyle/>
          <a:p>
            <a:pPr algn="ctr">
              <a:lnSpc>
                <a:spcPts val="1155"/>
              </a:lnSpc>
              <a:spcBef>
                <a:spcPts val="0"/>
              </a:spcBef>
              <a:spcAft>
                <a:spcPts val="0"/>
              </a:spcAft>
            </a:pPr>
            <a:r>
              <a:rPr sz="900" b="0" i="0" lang="es-CO" cap="all" spc="53">
                <a:solidFill>
                  <a:srgbClr val="8A7860"/>
                </a:solidFill>
                <a:latin typeface="Outfit"/>
              </a:rPr>
              <a:t>Cenital 90° / picado 45°</a:t>
            </a:r>
          </a:p>
        </p:txBody>
      </p:sp>
      <p:sp>
        <p:nvSpPr>
          <p:cNvPr id="20" name="Rectangle 19"/>
          <p:cNvSpPr/>
          <p:nvPr/>
        </p:nvSpPr>
        <p:spPr>
          <a:xfrm>
            <a:off x="4304771" y="4230511"/>
            <a:ext cx="3582282" cy="869244"/>
          </a:xfrm>
          <a:prstGeom prst="rect">
            <a:avLst/>
          </a:prstGeom>
          <a:solidFill>
            <a:srgbClr val="EFE0C2"/>
          </a:solidFill>
          <a:ln>
            <a:noFill/>
          </a:ln>
        </p:spPr>
        <p:txBody>
          <a:bodyPr rtlCol="0" anchor="ctr"/>
          <a:lstStyle/>
          <a:p>
            <a:pPr algn="ctr"/>
          </a:p>
        </p:txBody>
      </p:sp>
      <p:sp>
        <p:nvSpPr>
          <p:cNvPr id="21" name="TextBox 20"/>
          <p:cNvSpPr txBox="1"/>
          <p:nvPr/>
        </p:nvSpPr>
        <p:spPr>
          <a:xfrm>
            <a:off x="4440238" y="4343400"/>
            <a:ext cx="574499" cy="191911"/>
          </a:xfrm>
          <a:prstGeom prst="rect">
            <a:avLst/>
          </a:prstGeom>
          <a:noFill/>
        </p:spPr>
        <p:txBody>
          <a:bodyPr wrap="none" lIns="0" rIns="0" tIns="0" bIns="0" anchor="t">
            <a:noAutofit/>
          </a:bodyPr>
          <a:lstStyle/>
          <a:p>
            <a:pPr algn="l">
              <a:lnSpc>
                <a:spcPts val="1511"/>
              </a:lnSpc>
              <a:spcBef>
                <a:spcPts val="0"/>
              </a:spcBef>
              <a:spcAft>
                <a:spcPts val="0"/>
              </a:spcAft>
            </a:pPr>
            <a:r>
              <a:rPr sz="1150" b="1" i="0" lang="es-CO">
                <a:solidFill>
                  <a:srgbClr val="5C3A1E"/>
                </a:solidFill>
                <a:latin typeface="Playfair Display"/>
              </a:rPr>
              <a:t>Ángulo</a:t>
            </a:r>
          </a:p>
        </p:txBody>
      </p:sp>
      <p:sp>
        <p:nvSpPr>
          <p:cNvPr id="22" name="TextBox 21"/>
          <p:cNvSpPr txBox="1"/>
          <p:nvPr/>
        </p:nvSpPr>
        <p:spPr>
          <a:xfrm>
            <a:off x="4440238" y="4563533"/>
            <a:ext cx="3510030" cy="451556"/>
          </a:xfrm>
          <a:prstGeom prst="rect">
            <a:avLst/>
          </a:prstGeom>
          <a:noFill/>
        </p:spPr>
        <p:txBody>
          <a:bodyPr wrap="square" lIns="0" rIns="0" tIns="0" bIns="0" anchor="t">
            <a:noAutofit/>
          </a:bodyPr>
          <a:lstStyle/>
          <a:p>
            <a:pPr algn="l">
              <a:lnSpc>
                <a:spcPts val="1777"/>
              </a:lnSpc>
              <a:spcBef>
                <a:spcPts val="0"/>
              </a:spcBef>
              <a:spcAft>
                <a:spcPts val="0"/>
              </a:spcAft>
            </a:pPr>
            <a:r>
              <a:rPr sz="900" b="0" i="0" lang="es-CO">
                <a:solidFill>
                  <a:srgbClr val="8A7860"/>
                </a:solidFill>
                <a:latin typeface="Outfit"/>
              </a:rPr>
              <a:t>Cenital para bandejas completas, picado para sopas y cazuelas</a:t>
            </a:r>
            <a:br/>
            <a:r>
              <a:rPr sz="900" b="0" i="0" lang="es-CO">
                <a:solidFill>
                  <a:srgbClr val="8A7860"/>
                </a:solidFill>
                <a:latin typeface="Outfit"/>
              </a:rPr>
              <a:t>humeantes.</a:t>
            </a:r>
          </a:p>
        </p:txBody>
      </p:sp>
      <p:sp>
        <p:nvSpPr>
          <p:cNvPr id="23" name="Rectangle 22"/>
          <p:cNvSpPr/>
          <p:nvPr/>
        </p:nvSpPr>
        <p:spPr>
          <a:xfrm>
            <a:off x="8157986" y="5122333"/>
            <a:ext cx="3537303" cy="33867"/>
          </a:xfrm>
          <a:prstGeom prst="rect">
            <a:avLst/>
          </a:prstGeom>
          <a:solidFill>
            <a:srgbClr val="5C3A1E"/>
          </a:solidFill>
          <a:ln>
            <a:noFill/>
          </a:ln>
        </p:spPr>
        <p:txBody>
          <a:bodyPr rtlCol="0" anchor="ctr"/>
          <a:lstStyle/>
          <a:p>
            <a:pPr algn="ctr"/>
          </a:p>
        </p:txBody>
      </p:sp>
      <p:sp>
        <p:nvSpPr>
          <p:cNvPr id="24" name="Rounded Rectangle 23"/>
          <p:cNvSpPr/>
          <p:nvPr/>
        </p:nvSpPr>
        <p:spPr>
          <a:xfrm>
            <a:off x="8124119" y="3090333"/>
            <a:ext cx="3605036" cy="2020711"/>
          </a:xfrm>
          <a:prstGeom prst="roundRect">
            <a:avLst>
              <a:gd name="adj" fmla="val 3910"/>
            </a:avLst>
          </a:prstGeom>
          <a:noFill/>
          <a:ln w="22577" cap="flat">
            <a:solidFill>
              <a:srgbClr val="8B5E34"/>
            </a:solidFill>
          </a:ln>
        </p:spPr>
        <p:txBody>
          <a:bodyPr rtlCol="0" anchor="ctr"/>
          <a:lstStyle/>
          <a:p>
            <a:pPr algn="ctr"/>
          </a:p>
        </p:txBody>
      </p:sp>
      <p:pic>
        <p:nvPicPr>
          <p:cNvPr id="25" name="Picture 24" descr="s26_r3.png"/>
          <p:cNvPicPr>
            <a:picLocks noChangeAspect="1"/>
          </p:cNvPicPr>
          <p:nvPr/>
        </p:nvPicPr>
        <p:blipFill>
          <a:blip r:embed="rId5"/>
          <a:stretch>
            <a:fillRect/>
          </a:stretch>
        </p:blipFill>
        <p:spPr>
          <a:xfrm>
            <a:off x="8128000" y="3093156"/>
            <a:ext cx="3589867" cy="1140178"/>
          </a:xfrm>
          <a:prstGeom prst="rect">
            <a:avLst/>
          </a:prstGeom>
        </p:spPr>
      </p:pic>
      <p:sp>
        <p:nvSpPr>
          <p:cNvPr id="26" name="TextBox 25"/>
          <p:cNvSpPr txBox="1"/>
          <p:nvPr/>
        </p:nvSpPr>
        <p:spPr>
          <a:xfrm>
            <a:off x="9195744" y="3592689"/>
            <a:ext cx="1461611" cy="146756"/>
          </a:xfrm>
          <a:prstGeom prst="rect">
            <a:avLst/>
          </a:prstGeom>
          <a:noFill/>
        </p:spPr>
        <p:txBody>
          <a:bodyPr wrap="none" lIns="0" rIns="0" tIns="0" bIns="0" anchor="t">
            <a:noAutofit/>
          </a:bodyPr>
          <a:lstStyle/>
          <a:p>
            <a:pPr algn="ctr">
              <a:lnSpc>
                <a:spcPts val="1155"/>
              </a:lnSpc>
              <a:spcBef>
                <a:spcPts val="0"/>
              </a:spcBef>
              <a:spcAft>
                <a:spcPts val="0"/>
              </a:spcAft>
            </a:pPr>
            <a:r>
              <a:rPr sz="900" b="0" i="0" lang="es-CO" cap="all" spc="53">
                <a:solidFill>
                  <a:srgbClr val="8A7860"/>
                </a:solidFill>
                <a:latin typeface="Outfit"/>
              </a:rPr>
              <a:t>Menaje tradicional</a:t>
            </a:r>
          </a:p>
        </p:txBody>
      </p:sp>
      <p:sp>
        <p:nvSpPr>
          <p:cNvPr id="27" name="Rectangle 26"/>
          <p:cNvSpPr/>
          <p:nvPr/>
        </p:nvSpPr>
        <p:spPr>
          <a:xfrm>
            <a:off x="8135408" y="4230511"/>
            <a:ext cx="3582458" cy="869244"/>
          </a:xfrm>
          <a:prstGeom prst="rect">
            <a:avLst/>
          </a:prstGeom>
          <a:solidFill>
            <a:srgbClr val="EFE0C2"/>
          </a:solidFill>
          <a:ln>
            <a:noFill/>
          </a:ln>
        </p:spPr>
        <p:txBody>
          <a:bodyPr rtlCol="0" anchor="ctr"/>
          <a:lstStyle/>
          <a:p>
            <a:pPr algn="ctr"/>
          </a:p>
        </p:txBody>
      </p:sp>
      <p:sp>
        <p:nvSpPr>
          <p:cNvPr id="28" name="TextBox 27"/>
          <p:cNvSpPr txBox="1"/>
          <p:nvPr/>
        </p:nvSpPr>
        <p:spPr>
          <a:xfrm>
            <a:off x="8270875" y="4343400"/>
            <a:ext cx="724606" cy="191911"/>
          </a:xfrm>
          <a:prstGeom prst="rect">
            <a:avLst/>
          </a:prstGeom>
          <a:noFill/>
        </p:spPr>
        <p:txBody>
          <a:bodyPr wrap="none" lIns="0" rIns="0" tIns="0" bIns="0" anchor="t">
            <a:noAutofit/>
          </a:bodyPr>
          <a:lstStyle/>
          <a:p>
            <a:pPr algn="l">
              <a:lnSpc>
                <a:spcPts val="1511"/>
              </a:lnSpc>
              <a:spcBef>
                <a:spcPts val="0"/>
              </a:spcBef>
              <a:spcAft>
                <a:spcPts val="0"/>
              </a:spcAft>
            </a:pPr>
            <a:r>
              <a:rPr sz="1150" b="1" i="0" lang="es-CO">
                <a:solidFill>
                  <a:srgbClr val="5C3A1E"/>
                </a:solidFill>
                <a:latin typeface="Playfair Display"/>
              </a:rPr>
              <a:t>Estilismo</a:t>
            </a:r>
          </a:p>
        </p:txBody>
      </p:sp>
      <p:sp>
        <p:nvSpPr>
          <p:cNvPr id="29" name="TextBox 28"/>
          <p:cNvSpPr txBox="1"/>
          <p:nvPr/>
        </p:nvSpPr>
        <p:spPr>
          <a:xfrm>
            <a:off x="8270875" y="4563533"/>
            <a:ext cx="3510216" cy="451556"/>
          </a:xfrm>
          <a:prstGeom prst="rect">
            <a:avLst/>
          </a:prstGeom>
          <a:noFill/>
        </p:spPr>
        <p:txBody>
          <a:bodyPr wrap="square" lIns="0" rIns="0" tIns="0" bIns="0" anchor="t">
            <a:noAutofit/>
          </a:bodyPr>
          <a:lstStyle/>
          <a:p>
            <a:pPr algn="l">
              <a:lnSpc>
                <a:spcPts val="1777"/>
              </a:lnSpc>
              <a:spcBef>
                <a:spcPts val="0"/>
              </a:spcBef>
              <a:spcAft>
                <a:spcPts val="0"/>
              </a:spcAft>
            </a:pPr>
            <a:r>
              <a:rPr sz="900" b="0" i="0" lang="es-CO">
                <a:solidFill>
                  <a:srgbClr val="8A7860"/>
                </a:solidFill>
                <a:latin typeface="Outfit"/>
              </a:rPr>
              <a:t>Ollas de barro, cucharas de madera, paños de tela — nunca vajilla</a:t>
            </a:r>
            <a:br/>
            <a:r>
              <a:rPr sz="900" b="0" i="0" lang="es-CO">
                <a:solidFill>
                  <a:srgbClr val="8A7860"/>
                </a:solidFill>
                <a:latin typeface="Outfit"/>
              </a:rPr>
              <a:t>de catering de lujo.</a:t>
            </a:r>
          </a:p>
        </p:txBody>
      </p:sp>
      <p:sp>
        <p:nvSpPr>
          <p:cNvPr id="30" name="Rounded Rectangle 29"/>
          <p:cNvSpPr/>
          <p:nvPr/>
        </p:nvSpPr>
        <p:spPr>
          <a:xfrm>
            <a:off x="457200" y="5376333"/>
            <a:ext cx="11277600" cy="794456"/>
          </a:xfrm>
          <a:prstGeom prst="roundRect">
            <a:avLst>
              <a:gd name="adj" fmla="val 13499"/>
            </a:avLst>
          </a:prstGeom>
          <a:solidFill>
            <a:srgbClr val="E5484D">
              <a:alpha val="8000"/>
            </a:srgbClr>
          </a:solidFill>
          <a:ln w="11288" cap="flat">
            <a:solidFill>
              <a:srgbClr val="E5484D">
                <a:alpha val="35000"/>
              </a:srgbClr>
            </a:solidFill>
          </a:ln>
        </p:spPr>
        <p:txBody>
          <a:bodyPr rtlCol="0" anchor="ctr"/>
          <a:lstStyle/>
          <a:p>
            <a:pPr algn="ctr"/>
          </a:p>
        </p:txBody>
      </p:sp>
      <p:sp>
        <p:nvSpPr>
          <p:cNvPr id="31" name="TextBox 30"/>
          <p:cNvSpPr txBox="1"/>
          <p:nvPr/>
        </p:nvSpPr>
        <p:spPr>
          <a:xfrm>
            <a:off x="666044" y="5562600"/>
            <a:ext cx="589668" cy="158044"/>
          </a:xfrm>
          <a:prstGeom prst="rect">
            <a:avLst/>
          </a:prstGeom>
          <a:noFill/>
        </p:spPr>
        <p:txBody>
          <a:bodyPr wrap="none" lIns="0" rIns="0" tIns="0" bIns="0" anchor="t">
            <a:noAutofit/>
          </a:bodyPr>
          <a:lstStyle/>
          <a:p>
            <a:pPr algn="l">
              <a:lnSpc>
                <a:spcPts val="1244"/>
              </a:lnSpc>
              <a:spcBef>
                <a:spcPts val="0"/>
              </a:spcBef>
              <a:spcAft>
                <a:spcPts val="0"/>
              </a:spcAft>
            </a:pPr>
            <a:r>
              <a:rPr sz="975" b="1" i="0" lang="es-CO" cap="all" spc="78">
                <a:solidFill>
                  <a:srgbClr val="E5484D"/>
                </a:solidFill>
                <a:latin typeface="Outfit"/>
              </a:rPr>
              <a:t>Nunca</a:t>
            </a:r>
          </a:p>
        </p:txBody>
      </p:sp>
      <p:sp>
        <p:nvSpPr>
          <p:cNvPr id="32" name="TextBox 31"/>
          <p:cNvSpPr txBox="1"/>
          <p:nvPr/>
        </p:nvSpPr>
        <p:spPr>
          <a:xfrm>
            <a:off x="666044" y="5758039"/>
            <a:ext cx="11486444" cy="218722"/>
          </a:xfrm>
          <a:prstGeom prst="rect">
            <a:avLst/>
          </a:prstGeom>
          <a:noFill/>
        </p:spPr>
        <p:txBody>
          <a:bodyPr wrap="none" lIns="0" rIns="0" tIns="0" bIns="0" anchor="t">
            <a:noAutofit/>
          </a:bodyPr>
          <a:lstStyle/>
          <a:p>
            <a:pPr algn="l">
              <a:lnSpc>
                <a:spcPts val="1722"/>
              </a:lnSpc>
              <a:spcBef>
                <a:spcPts val="0"/>
              </a:spcBef>
              <a:spcAft>
                <a:spcPts val="0"/>
              </a:spcAft>
            </a:pPr>
            <a:r>
              <a:rPr sz="1100" b="0" i="0" lang="es-CO">
                <a:solidFill>
                  <a:srgbClr val="5B4A38"/>
                </a:solidFill>
                <a:latin typeface="Outfit"/>
              </a:rPr>
              <a:t>Acabados de alta cocina, iluminación de estudio comercial o edición que aplane la textura casera. La foto debe verse honesta, abundante y de casa — no de restaurante.</a:t>
            </a:r>
          </a:p>
        </p:txBody>
      </p:sp>
      <p:cxnSp>
        <p:nvCxnSpPr>
          <p:cNvPr id="33" name="Connector 32"/>
          <p:cNvCxnSpPr/>
          <p:nvPr/>
        </p:nvCxnSpPr>
        <p:spPr>
          <a:xfrm>
            <a:off x="451556" y="6378222"/>
            <a:ext cx="11288888" cy="0"/>
          </a:xfrm>
          <a:prstGeom prst="line">
            <a:avLst/>
          </a:prstGeom>
          <a:ln w="22577" cap="flat">
            <a:solidFill>
              <a:srgbClr val="D8C39C"/>
            </a:solidFill>
          </a:ln>
        </p:spPr>
      </p:cxnSp>
      <p:sp>
        <p:nvSpPr>
          <p:cNvPr id="34" name="TextBox 33"/>
          <p:cNvSpPr txBox="1"/>
          <p:nvPr/>
        </p:nvSpPr>
        <p:spPr>
          <a:xfrm>
            <a:off x="451556" y="6524978"/>
            <a:ext cx="2929625" cy="158044"/>
          </a:xfrm>
          <a:prstGeom prst="rect">
            <a:avLst/>
          </a:prstGeom>
          <a:noFill/>
        </p:spPr>
        <p:txBody>
          <a:bodyPr wrap="none" lIns="0" rIns="0" tIns="0" bIns="0" anchor="t">
            <a:noAutofit/>
          </a:bodyPr>
          <a:lstStyle/>
          <a:p>
            <a:pPr algn="l">
              <a:lnSpc>
                <a:spcPts val="1244"/>
              </a:lnSpc>
              <a:spcBef>
                <a:spcPts val="0"/>
              </a:spcBef>
              <a:spcAft>
                <a:spcPts val="0"/>
              </a:spcAft>
            </a:pPr>
            <a:r>
              <a:rPr sz="925" b="0" i="0" lang="es-CO" cap="all" spc="93">
                <a:solidFill>
                  <a:srgbClr val="8A7860"/>
                </a:solidFill>
                <a:latin typeface="Outfit"/>
              </a:rPr>
              <a:t>OllaCercana / Manual de Identidad</a:t>
            </a:r>
          </a:p>
        </p:txBody>
      </p:sp>
      <p:sp>
        <p:nvSpPr>
          <p:cNvPr id="35" name="TextBox 34"/>
          <p:cNvSpPr txBox="1"/>
          <p:nvPr/>
        </p:nvSpPr>
        <p:spPr>
          <a:xfrm>
            <a:off x="11340394" y="6524978"/>
            <a:ext cx="490361" cy="158044"/>
          </a:xfrm>
          <a:prstGeom prst="rect">
            <a:avLst/>
          </a:prstGeom>
          <a:noFill/>
        </p:spPr>
        <p:txBody>
          <a:bodyPr wrap="none" lIns="0" rIns="0" tIns="0" bIns="0" anchor="t">
            <a:noAutofit/>
          </a:bodyPr>
          <a:lstStyle/>
          <a:p>
            <a:pPr algn="l">
              <a:lnSpc>
                <a:spcPts val="1244"/>
              </a:lnSpc>
              <a:spcBef>
                <a:spcPts val="0"/>
              </a:spcBef>
              <a:spcAft>
                <a:spcPts val="0"/>
              </a:spcAft>
            </a:pPr>
            <a:r>
              <a:rPr sz="925" b="1" i="0" lang="es-CO" cap="all" spc="93">
                <a:solidFill>
                  <a:srgbClr val="5C3A1E"/>
                </a:solidFill>
                <a:latin typeface="Playfair Display"/>
              </a:rPr>
              <a:t>12 / 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78118" y="430306"/>
            <a:ext cx="310776" cy="35859"/>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08424" y="358588"/>
            <a:ext cx="262031" cy="179294"/>
          </a:xfrm>
          <a:prstGeom prst="rect">
            <a:avLst/>
          </a:prstGeom>
          <a:noFill/>
        </p:spPr>
        <p:txBody>
          <a:bodyPr wrap="none" lIns="0" rIns="0" tIns="0" bIns="0" anchor="t">
            <a:noAutofit/>
          </a:bodyPr>
          <a:lstStyle/>
          <a:p>
            <a:pPr algn="l">
              <a:lnSpc>
                <a:spcPts val="1411"/>
              </a:lnSpc>
              <a:spcBef>
                <a:spcPts val="0"/>
              </a:spcBef>
              <a:spcAft>
                <a:spcPts val="0"/>
              </a:spcAft>
            </a:pPr>
            <a:r>
              <a:rPr sz="1125" b="1" i="0" lang="es-CO" cap="all" spc="113">
                <a:solidFill>
                  <a:srgbClr val="D97224"/>
                </a:solidFill>
                <a:latin typeface="Outfit"/>
              </a:rPr>
              <a:t>13</a:t>
            </a:r>
          </a:p>
        </p:txBody>
      </p:sp>
      <p:sp>
        <p:nvSpPr>
          <p:cNvPr id="5" name="TextBox 4"/>
          <p:cNvSpPr txBox="1"/>
          <p:nvPr/>
        </p:nvSpPr>
        <p:spPr>
          <a:xfrm>
            <a:off x="1194360" y="358588"/>
            <a:ext cx="1974495" cy="179294"/>
          </a:xfrm>
          <a:prstGeom prst="rect">
            <a:avLst/>
          </a:prstGeom>
          <a:noFill/>
        </p:spPr>
        <p:txBody>
          <a:bodyPr wrap="none" lIns="0" rIns="0" tIns="0" bIns="0" anchor="t">
            <a:noAutofit/>
          </a:bodyPr>
          <a:lstStyle/>
          <a:p>
            <a:pPr algn="l">
              <a:lnSpc>
                <a:spcPts val="1411"/>
              </a:lnSpc>
              <a:spcBef>
                <a:spcPts val="0"/>
              </a:spcBef>
              <a:spcAft>
                <a:spcPts val="0"/>
              </a:spcAft>
            </a:pPr>
            <a:r>
              <a:rPr sz="1125" b="1" i="0" lang="es-CO" cap="all" spc="113">
                <a:solidFill>
                  <a:srgbClr val="5B4A38"/>
                </a:solidFill>
                <a:latin typeface="Outfit"/>
              </a:rPr>
              <a:t>/ Producción Física</a:t>
            </a:r>
          </a:p>
        </p:txBody>
      </p:sp>
      <p:sp>
        <p:nvSpPr>
          <p:cNvPr id="6" name="TextBox 5"/>
          <p:cNvSpPr txBox="1"/>
          <p:nvPr/>
        </p:nvSpPr>
        <p:spPr>
          <a:xfrm>
            <a:off x="478118" y="698530"/>
            <a:ext cx="3062306"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También</a:t>
            </a:r>
          </a:p>
        </p:txBody>
      </p:sp>
      <p:sp>
        <p:nvSpPr>
          <p:cNvPr id="7" name="TextBox 6"/>
          <p:cNvSpPr txBox="1"/>
          <p:nvPr/>
        </p:nvSpPr>
        <p:spPr>
          <a:xfrm>
            <a:off x="478118" y="1381342"/>
            <a:ext cx="3757519"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se empaca.</a:t>
            </a:r>
          </a:p>
        </p:txBody>
      </p:sp>
      <p:sp>
        <p:nvSpPr>
          <p:cNvPr id="8" name="TextBox 7"/>
          <p:cNvSpPr txBox="1"/>
          <p:nvPr/>
        </p:nvSpPr>
        <p:spPr>
          <a:xfrm>
            <a:off x="478118" y="2283609"/>
            <a:ext cx="7855473" cy="631115"/>
          </a:xfrm>
          <a:prstGeom prst="rect">
            <a:avLst/>
          </a:prstGeom>
          <a:noFill/>
        </p:spPr>
        <p:txBody>
          <a:bodyPr wrap="square" lIns="0" rIns="0" tIns="0" bIns="0" anchor="t">
            <a:noAutofit/>
          </a:bodyPr>
          <a:lstStyle/>
          <a:p>
            <a:pPr algn="l">
              <a:lnSpc>
                <a:spcPts val="2484"/>
              </a:lnSpc>
              <a:spcBef>
                <a:spcPts val="0"/>
              </a:spcBef>
              <a:spcAft>
                <a:spcPts val="0"/>
              </a:spcAft>
            </a:pPr>
            <a:r>
              <a:rPr sz="1500" b="0" i="0" lang="es-CO">
                <a:solidFill>
                  <a:srgbClr val="5B4A38"/>
                </a:solidFill>
                <a:latin typeface="Outfit"/>
              </a:rPr>
              <a:t>La marca sale de la pantalla: sellos, etiquetas y el delantal que reconoce a una cocinera</a:t>
            </a:r>
            <a:br/>
            <a:r>
              <a:rPr sz="1500" b="0" i="0" lang="es-CO">
                <a:solidFill>
                  <a:srgbClr val="5B4A38"/>
                </a:solidFill>
                <a:latin typeface="Outfit"/>
              </a:rPr>
              <a:t>del barrio.</a:t>
            </a:r>
          </a:p>
        </p:txBody>
      </p:sp>
      <p:sp>
        <p:nvSpPr>
          <p:cNvPr id="9" name="Rounded Rectangle 8"/>
          <p:cNvSpPr/>
          <p:nvPr/>
        </p:nvSpPr>
        <p:spPr>
          <a:xfrm>
            <a:off x="478118" y="3215715"/>
            <a:ext cx="5510306" cy="3471396"/>
          </a:xfrm>
          <a:prstGeom prst="roundRect">
            <a:avLst>
              <a:gd name="adj" fmla="val 2065"/>
            </a:avLst>
          </a:prstGeom>
          <a:solidFill>
            <a:srgbClr val="D8C39C"/>
          </a:solidFill>
          <a:ln>
            <a:noFill/>
          </a:ln>
        </p:spPr>
        <p:txBody>
          <a:bodyPr rtlCol="0" anchor="ctr"/>
          <a:lstStyle/>
          <a:p>
            <a:pPr algn="ctr"/>
          </a:p>
        </p:txBody>
      </p:sp>
      <p:sp>
        <p:nvSpPr>
          <p:cNvPr id="10" name="Rounded Rectangle 9"/>
          <p:cNvSpPr/>
          <p:nvPr/>
        </p:nvSpPr>
        <p:spPr>
          <a:xfrm>
            <a:off x="484094" y="3185832"/>
            <a:ext cx="5498353" cy="3459443"/>
          </a:xfrm>
          <a:prstGeom prst="roundRect">
            <a:avLst>
              <a:gd name="adj" fmla="val 1900"/>
            </a:avLst>
          </a:prstGeom>
          <a:solidFill>
            <a:srgbClr val="EFE0C2"/>
          </a:solidFill>
          <a:ln w="11952" cap="flat">
            <a:solidFill>
              <a:srgbClr val="D8C39C"/>
            </a:solidFill>
          </a:ln>
        </p:spPr>
        <p:txBody>
          <a:bodyPr rtlCol="0" anchor="ctr"/>
          <a:lstStyle/>
          <a:p>
            <a:pPr algn="ctr"/>
          </a:p>
        </p:txBody>
      </p:sp>
      <p:sp>
        <p:nvSpPr>
          <p:cNvPr id="11" name="TextBox 10"/>
          <p:cNvSpPr txBox="1"/>
          <p:nvPr/>
        </p:nvSpPr>
        <p:spPr>
          <a:xfrm>
            <a:off x="753035" y="3454774"/>
            <a:ext cx="809065" cy="167341"/>
          </a:xfrm>
          <a:prstGeom prst="rect">
            <a:avLst/>
          </a:prstGeom>
          <a:noFill/>
        </p:spPr>
        <p:txBody>
          <a:bodyPr wrap="none" lIns="0" rIns="0" tIns="0" bIns="0" anchor="t">
            <a:noAutofit/>
          </a:bodyPr>
          <a:lstStyle/>
          <a:p>
            <a:pPr algn="l">
              <a:lnSpc>
                <a:spcPts val="1317"/>
              </a:lnSpc>
              <a:spcBef>
                <a:spcPts val="0"/>
              </a:spcBef>
              <a:spcAft>
                <a:spcPts val="0"/>
              </a:spcAft>
            </a:pPr>
            <a:r>
              <a:rPr sz="1025" b="1" i="0" lang="es-CO" cap="all" spc="83">
                <a:solidFill>
                  <a:srgbClr val="D97224"/>
                </a:solidFill>
                <a:latin typeface="Outfit"/>
              </a:rPr>
              <a:t>Empaque</a:t>
            </a:r>
          </a:p>
        </p:txBody>
      </p:sp>
      <p:sp>
        <p:nvSpPr>
          <p:cNvPr id="12" name="TextBox 11"/>
          <p:cNvSpPr txBox="1"/>
          <p:nvPr/>
        </p:nvSpPr>
        <p:spPr>
          <a:xfrm>
            <a:off x="753035" y="3717738"/>
            <a:ext cx="2928975" cy="262965"/>
          </a:xfrm>
          <a:prstGeom prst="rect">
            <a:avLst/>
          </a:prstGeom>
          <a:noFill/>
        </p:spPr>
        <p:txBody>
          <a:bodyPr wrap="none" lIns="0" rIns="0" tIns="0" bIns="0" anchor="t">
            <a:noAutofit/>
          </a:bodyPr>
          <a:lstStyle/>
          <a:p>
            <a:pPr algn="l">
              <a:lnSpc>
                <a:spcPts val="2070"/>
              </a:lnSpc>
              <a:spcBef>
                <a:spcPts val="0"/>
              </a:spcBef>
              <a:spcAft>
                <a:spcPts val="0"/>
              </a:spcAft>
            </a:pPr>
            <a:r>
              <a:rPr sz="1600" b="1" i="0" lang="es-CO">
                <a:solidFill>
                  <a:srgbClr val="5C3A1E"/>
                </a:solidFill>
                <a:latin typeface="Playfair Display"/>
              </a:rPr>
              <a:t>Faja identificadora de marca</a:t>
            </a:r>
          </a:p>
        </p:txBody>
      </p:sp>
      <p:sp>
        <p:nvSpPr>
          <p:cNvPr id="13" name="TextBox 12"/>
          <p:cNvSpPr txBox="1"/>
          <p:nvPr/>
        </p:nvSpPr>
        <p:spPr>
          <a:xfrm>
            <a:off x="753035" y="4051524"/>
            <a:ext cx="5258099" cy="481704"/>
          </a:xfrm>
          <a:prstGeom prst="rect">
            <a:avLst/>
          </a:prstGeom>
          <a:noFill/>
        </p:spPr>
        <p:txBody>
          <a:bodyPr wrap="square" lIns="0" rIns="0" tIns="0" bIns="0" anchor="t">
            <a:noAutofit/>
          </a:bodyPr>
          <a:lstStyle/>
          <a:p>
            <a:pPr algn="l">
              <a:lnSpc>
                <a:spcPts val="1896"/>
              </a:lnSpc>
              <a:spcBef>
                <a:spcPts val="0"/>
              </a:spcBef>
              <a:spcAft>
                <a:spcPts val="0"/>
              </a:spcAft>
            </a:pPr>
            <a:r>
              <a:rPr sz="1225" b="0" i="0" lang="es-CO">
                <a:solidFill>
                  <a:srgbClr val="5B4A38"/>
                </a:solidFill>
                <a:latin typeface="Outfit"/>
              </a:rPr>
              <a:t>Tira de papel kraft adhesiva sobre el envase, con el isotipo de la olla y el</a:t>
            </a:r>
            <a:br/>
            <a:r>
              <a:rPr sz="1225" b="0" i="0" lang="es-CO">
                <a:solidFill>
                  <a:srgbClr val="5B4A38"/>
                </a:solidFill>
                <a:latin typeface="Outfit"/>
              </a:rPr>
              <a:t>mensaje manuscrito de confianza.</a:t>
            </a:r>
          </a:p>
        </p:txBody>
      </p:sp>
      <p:pic>
        <p:nvPicPr>
          <p:cNvPr id="14" name="Picture 13" descr="s27_r1.png"/>
          <p:cNvPicPr>
            <a:picLocks noChangeAspect="1"/>
          </p:cNvPicPr>
          <p:nvPr/>
        </p:nvPicPr>
        <p:blipFill>
          <a:blip r:embed="rId3"/>
          <a:stretch>
            <a:fillRect/>
          </a:stretch>
        </p:blipFill>
        <p:spPr>
          <a:xfrm>
            <a:off x="753035" y="4697506"/>
            <a:ext cx="4960471" cy="681318"/>
          </a:xfrm>
          <a:prstGeom prst="rect">
            <a:avLst/>
          </a:prstGeom>
        </p:spPr>
      </p:pic>
      <p:sp>
        <p:nvSpPr>
          <p:cNvPr id="15" name="TextBox 14"/>
          <p:cNvSpPr txBox="1"/>
          <p:nvPr/>
        </p:nvSpPr>
        <p:spPr>
          <a:xfrm>
            <a:off x="1761499" y="4892488"/>
            <a:ext cx="2943356" cy="286871"/>
          </a:xfrm>
          <a:prstGeom prst="rect">
            <a:avLst/>
          </a:prstGeom>
          <a:noFill/>
        </p:spPr>
        <p:txBody>
          <a:bodyPr wrap="none" lIns="0" rIns="0" tIns="0" bIns="0" anchor="t">
            <a:noAutofit/>
          </a:bodyPr>
          <a:lstStyle/>
          <a:p>
            <a:pPr algn="ctr">
              <a:lnSpc>
                <a:spcPts val="2258"/>
              </a:lnSpc>
              <a:spcBef>
                <a:spcPts val="0"/>
              </a:spcBef>
              <a:spcAft>
                <a:spcPts val="0"/>
              </a:spcAft>
            </a:pPr>
            <a:r>
              <a:rPr sz="1800" b="1" i="0" lang="es-CO">
                <a:solidFill>
                  <a:srgbClr val="5C3A1E"/>
                </a:solidFill>
                <a:latin typeface="Caveat"/>
              </a:rPr>
              <a:t>Recién salido de la olla de la vecina</a:t>
            </a:r>
          </a:p>
        </p:txBody>
      </p:sp>
      <p:sp>
        <p:nvSpPr>
          <p:cNvPr id="16" name="Rounded Rectangle 15"/>
          <p:cNvSpPr/>
          <p:nvPr/>
        </p:nvSpPr>
        <p:spPr>
          <a:xfrm>
            <a:off x="6203576" y="3215715"/>
            <a:ext cx="5510306" cy="3471396"/>
          </a:xfrm>
          <a:prstGeom prst="roundRect">
            <a:avLst>
              <a:gd name="adj" fmla="val 2065"/>
            </a:avLst>
          </a:prstGeom>
          <a:solidFill>
            <a:srgbClr val="D8C39C"/>
          </a:solidFill>
          <a:ln>
            <a:noFill/>
          </a:ln>
        </p:spPr>
        <p:txBody>
          <a:bodyPr rtlCol="0" anchor="ctr"/>
          <a:lstStyle/>
          <a:p>
            <a:pPr algn="ctr"/>
          </a:p>
        </p:txBody>
      </p:sp>
      <p:sp>
        <p:nvSpPr>
          <p:cNvPr id="17" name="Rounded Rectangle 16"/>
          <p:cNvSpPr/>
          <p:nvPr/>
        </p:nvSpPr>
        <p:spPr>
          <a:xfrm>
            <a:off x="6209553" y="3185832"/>
            <a:ext cx="5498353" cy="3459443"/>
          </a:xfrm>
          <a:prstGeom prst="roundRect">
            <a:avLst>
              <a:gd name="adj" fmla="val 1900"/>
            </a:avLst>
          </a:prstGeom>
          <a:solidFill>
            <a:srgbClr val="EFE0C2"/>
          </a:solidFill>
          <a:ln w="11952" cap="flat">
            <a:solidFill>
              <a:srgbClr val="D8C39C"/>
            </a:solidFill>
          </a:ln>
        </p:spPr>
        <p:txBody>
          <a:bodyPr rtlCol="0" anchor="ctr"/>
          <a:lstStyle/>
          <a:p>
            <a:pPr algn="ctr"/>
          </a:p>
        </p:txBody>
      </p:sp>
      <p:sp>
        <p:nvSpPr>
          <p:cNvPr id="18" name="TextBox 17"/>
          <p:cNvSpPr txBox="1"/>
          <p:nvPr/>
        </p:nvSpPr>
        <p:spPr>
          <a:xfrm>
            <a:off x="6478494" y="3454774"/>
            <a:ext cx="809065" cy="167341"/>
          </a:xfrm>
          <a:prstGeom prst="rect">
            <a:avLst/>
          </a:prstGeom>
          <a:noFill/>
        </p:spPr>
        <p:txBody>
          <a:bodyPr wrap="none" lIns="0" rIns="0" tIns="0" bIns="0" anchor="t">
            <a:noAutofit/>
          </a:bodyPr>
          <a:lstStyle/>
          <a:p>
            <a:pPr algn="l">
              <a:lnSpc>
                <a:spcPts val="1317"/>
              </a:lnSpc>
              <a:spcBef>
                <a:spcPts val="0"/>
              </a:spcBef>
              <a:spcAft>
                <a:spcPts val="0"/>
              </a:spcAft>
            </a:pPr>
            <a:r>
              <a:rPr sz="1025" b="1" i="0" lang="es-CO" cap="all" spc="83">
                <a:solidFill>
                  <a:srgbClr val="D97224"/>
                </a:solidFill>
                <a:latin typeface="Outfit"/>
              </a:rPr>
              <a:t>Empaque</a:t>
            </a:r>
          </a:p>
        </p:txBody>
      </p:sp>
      <p:sp>
        <p:nvSpPr>
          <p:cNvPr id="19" name="TextBox 18"/>
          <p:cNvSpPr txBox="1"/>
          <p:nvPr/>
        </p:nvSpPr>
        <p:spPr>
          <a:xfrm>
            <a:off x="6478494" y="3717738"/>
            <a:ext cx="3213922" cy="262965"/>
          </a:xfrm>
          <a:prstGeom prst="rect">
            <a:avLst/>
          </a:prstGeom>
          <a:noFill/>
        </p:spPr>
        <p:txBody>
          <a:bodyPr wrap="none" lIns="0" rIns="0" tIns="0" bIns="0" anchor="t">
            <a:noAutofit/>
          </a:bodyPr>
          <a:lstStyle/>
          <a:p>
            <a:pPr algn="l">
              <a:lnSpc>
                <a:spcPts val="2070"/>
              </a:lnSpc>
              <a:spcBef>
                <a:spcPts val="0"/>
              </a:spcBef>
              <a:spcAft>
                <a:spcPts val="0"/>
              </a:spcAft>
            </a:pPr>
            <a:r>
              <a:rPr sz="1600" b="1" i="0" lang="es-CO">
                <a:solidFill>
                  <a:srgbClr val="5C3A1E"/>
                </a:solidFill>
                <a:latin typeface="Playfair Display"/>
              </a:rPr>
              <a:t>Etiqueta informativa propuesta</a:t>
            </a:r>
          </a:p>
        </p:txBody>
      </p:sp>
      <p:sp>
        <p:nvSpPr>
          <p:cNvPr id="20" name="TextBox 19"/>
          <p:cNvSpPr txBox="1"/>
          <p:nvPr/>
        </p:nvSpPr>
        <p:spPr>
          <a:xfrm>
            <a:off x="6478494" y="4051524"/>
            <a:ext cx="5258099" cy="722555"/>
          </a:xfrm>
          <a:prstGeom prst="rect">
            <a:avLst/>
          </a:prstGeom>
          <a:noFill/>
        </p:spPr>
        <p:txBody>
          <a:bodyPr wrap="square" lIns="0" rIns="0" tIns="0" bIns="0" anchor="t">
            <a:noAutofit/>
          </a:bodyPr>
          <a:lstStyle/>
          <a:p>
            <a:pPr algn="l">
              <a:lnSpc>
                <a:spcPts val="1896"/>
              </a:lnSpc>
              <a:spcBef>
                <a:spcPts val="0"/>
              </a:spcBef>
              <a:spcAft>
                <a:spcPts val="0"/>
              </a:spcAft>
            </a:pPr>
            <a:r>
              <a:rPr sz="1225" b="0" i="0" lang="es-CO">
                <a:solidFill>
                  <a:srgbClr val="5B4A38"/>
                </a:solidFill>
                <a:latin typeface="Outfit"/>
              </a:rPr>
              <a:t>Propuesta visual en fondo crema: nombre de la cocinera, nombre del</a:t>
            </a:r>
            <a:br/>
            <a:r>
              <a:rPr sz="1225" b="0" i="0" lang="es-CO">
                <a:solidFill>
                  <a:srgbClr val="5B4A38"/>
                </a:solidFill>
                <a:latin typeface="Outfit"/>
              </a:rPr>
              <a:t>plato y datos útiles. Confirma la información de alérgenos y los</a:t>
            </a:r>
            <a:br/>
            <a:r>
              <a:rPr sz="1225" b="0" i="0" lang="es-CO">
                <a:solidFill>
                  <a:srgbClr val="5B4A38"/>
                </a:solidFill>
                <a:latin typeface="Outfit"/>
              </a:rPr>
              <a:t>requisitos aplicables antes de usarla en empaques reales.</a:t>
            </a:r>
          </a:p>
        </p:txBody>
      </p:sp>
      <p:sp>
        <p:nvSpPr>
          <p:cNvPr id="21" name="Rounded Rectangle 20"/>
          <p:cNvSpPr/>
          <p:nvPr/>
        </p:nvSpPr>
        <p:spPr>
          <a:xfrm>
            <a:off x="6502400" y="5037604"/>
            <a:ext cx="4912659" cy="1386541"/>
          </a:xfrm>
          <a:prstGeom prst="roundRect">
            <a:avLst>
              <a:gd name="adj" fmla="val 6896"/>
            </a:avLst>
          </a:prstGeom>
          <a:solidFill>
            <a:srgbClr val="5C3A1E"/>
          </a:solidFill>
          <a:ln>
            <a:noFill/>
          </a:ln>
        </p:spPr>
        <p:txBody>
          <a:bodyPr rtlCol="0" anchor="ctr"/>
          <a:lstStyle/>
          <a:p>
            <a:pPr algn="ctr"/>
          </a:p>
        </p:txBody>
      </p:sp>
      <p:sp>
        <p:nvSpPr>
          <p:cNvPr id="22" name="Rounded Rectangle 21"/>
          <p:cNvSpPr/>
          <p:nvPr/>
        </p:nvSpPr>
        <p:spPr>
          <a:xfrm>
            <a:off x="6538259" y="5001746"/>
            <a:ext cx="4840941" cy="1314824"/>
          </a:xfrm>
          <a:prstGeom prst="roundRect">
            <a:avLst>
              <a:gd name="adj" fmla="val 4545"/>
            </a:avLst>
          </a:prstGeom>
          <a:solidFill>
            <a:srgbClr val="EFE0C2"/>
          </a:solidFill>
          <a:ln w="119529" cap="flat">
            <a:solidFill>
              <a:srgbClr val="8B5E34"/>
            </a:solidFill>
          </a:ln>
        </p:spPr>
        <p:txBody>
          <a:bodyPr rtlCol="0" anchor="ctr"/>
          <a:lstStyle/>
          <a:p>
            <a:pPr algn="ctr"/>
          </a:p>
        </p:txBody>
      </p:sp>
      <p:sp>
        <p:nvSpPr>
          <p:cNvPr id="23" name="TextBox 22"/>
          <p:cNvSpPr txBox="1"/>
          <p:nvPr/>
        </p:nvSpPr>
        <p:spPr>
          <a:xfrm>
            <a:off x="6908800" y="5372287"/>
            <a:ext cx="1143486" cy="334682"/>
          </a:xfrm>
          <a:prstGeom prst="rect">
            <a:avLst/>
          </a:prstGeom>
          <a:noFill/>
        </p:spPr>
        <p:txBody>
          <a:bodyPr wrap="none" lIns="0" rIns="0" tIns="0" bIns="0" anchor="t">
            <a:noAutofit/>
          </a:bodyPr>
          <a:lstStyle/>
          <a:p>
            <a:pPr algn="l">
              <a:lnSpc>
                <a:spcPts val="2635"/>
              </a:lnSpc>
              <a:spcBef>
                <a:spcPts val="0"/>
              </a:spcBef>
              <a:spcAft>
                <a:spcPts val="0"/>
              </a:spcAft>
            </a:pPr>
            <a:r>
              <a:rPr sz="2075" b="0" i="0" lang="es-CO">
                <a:solidFill>
                  <a:srgbClr val="5C3A1E"/>
                </a:solidFill>
                <a:latin typeface="Caveat"/>
              </a:rPr>
              <a:t>Doña Elena</a:t>
            </a:r>
          </a:p>
        </p:txBody>
      </p:sp>
      <p:sp>
        <p:nvSpPr>
          <p:cNvPr id="24" name="TextBox 23"/>
          <p:cNvSpPr txBox="1"/>
          <p:nvPr/>
        </p:nvSpPr>
        <p:spPr>
          <a:xfrm>
            <a:off x="6908800" y="5778687"/>
            <a:ext cx="2592668" cy="155388"/>
          </a:xfrm>
          <a:prstGeom prst="rect">
            <a:avLst/>
          </a:prstGeom>
          <a:noFill/>
        </p:spPr>
        <p:txBody>
          <a:bodyPr wrap="none" lIns="0" rIns="0" tIns="0" bIns="0" anchor="t">
            <a:noAutofit/>
          </a:bodyPr>
          <a:lstStyle/>
          <a:p>
            <a:pPr algn="l">
              <a:lnSpc>
                <a:spcPts val="1223"/>
              </a:lnSpc>
              <a:spcBef>
                <a:spcPts val="0"/>
              </a:spcBef>
              <a:spcAft>
                <a:spcPts val="0"/>
              </a:spcAft>
            </a:pPr>
            <a:r>
              <a:rPr sz="950" b="0" i="0" lang="es-CO" spc="47">
                <a:solidFill>
                  <a:srgbClr val="5B4A38"/>
                </a:solidFill>
                <a:latin typeface="Outfit"/>
              </a:rPr>
              <a:t>Guiso Tradicional en Cazuela · 11:40 a.m.</a:t>
            </a:r>
          </a:p>
        </p:txBody>
      </p:sp>
      <p:sp>
        <p:nvSpPr>
          <p:cNvPr id="25" name="TextBox 24"/>
          <p:cNvSpPr txBox="1"/>
          <p:nvPr/>
        </p:nvSpPr>
        <p:spPr>
          <a:xfrm>
            <a:off x="9305551" y="5778687"/>
            <a:ext cx="1594429" cy="155388"/>
          </a:xfrm>
          <a:prstGeom prst="rect">
            <a:avLst/>
          </a:prstGeom>
          <a:noFill/>
        </p:spPr>
        <p:txBody>
          <a:bodyPr wrap="none" lIns="0" rIns="0" tIns="0" bIns="0" anchor="t">
            <a:noAutofit/>
          </a:bodyPr>
          <a:lstStyle/>
          <a:p>
            <a:pPr algn="l">
              <a:lnSpc>
                <a:spcPts val="1223"/>
              </a:lnSpc>
              <a:spcBef>
                <a:spcPts val="0"/>
              </a:spcBef>
              <a:spcAft>
                <a:spcPts val="0"/>
              </a:spcAft>
            </a:pPr>
            <a:r>
              <a:rPr sz="950" b="0" i="0" lang="es-CO" spc="47">
                <a:solidFill>
                  <a:srgbClr val="E5484D"/>
                </a:solidFill>
                <a:latin typeface="Outfit"/>
              </a:rPr>
              <a:t>Contiene: gluten, lácteos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67272"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13</a:t>
            </a:r>
          </a:p>
        </p:txBody>
      </p:sp>
      <p:sp>
        <p:nvSpPr>
          <p:cNvPr id="5" name="TextBox 4"/>
          <p:cNvSpPr txBox="1"/>
          <p:nvPr/>
        </p:nvSpPr>
        <p:spPr>
          <a:xfrm>
            <a:off x="1218248" y="365760"/>
            <a:ext cx="2013985"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Producción Física</a:t>
            </a:r>
          </a:p>
        </p:txBody>
      </p:sp>
      <p:sp>
        <p:nvSpPr>
          <p:cNvPr id="6" name="Rounded Rectangle 5"/>
          <p:cNvSpPr/>
          <p:nvPr/>
        </p:nvSpPr>
        <p:spPr>
          <a:xfrm>
            <a:off x="487680" y="975360"/>
            <a:ext cx="5498592" cy="3027045"/>
          </a:xfrm>
          <a:prstGeom prst="roundRect">
            <a:avLst>
              <a:gd name="adj" fmla="val 2416"/>
            </a:avLst>
          </a:prstGeom>
          <a:solidFill>
            <a:srgbClr val="D8C39C"/>
          </a:solidFill>
          <a:ln>
            <a:noFill/>
          </a:ln>
        </p:spPr>
        <p:txBody>
          <a:bodyPr rtlCol="0" anchor="ctr"/>
          <a:lstStyle/>
          <a:p>
            <a:pPr algn="ctr"/>
          </a:p>
        </p:txBody>
      </p:sp>
      <p:sp>
        <p:nvSpPr>
          <p:cNvPr id="7" name="Rounded Rectangle 6"/>
          <p:cNvSpPr/>
          <p:nvPr/>
        </p:nvSpPr>
        <p:spPr>
          <a:xfrm>
            <a:off x="493776" y="944880"/>
            <a:ext cx="5486400" cy="3014853"/>
          </a:xfrm>
          <a:prstGeom prst="roundRect">
            <a:avLst>
              <a:gd name="adj" fmla="val 2224"/>
            </a:avLst>
          </a:prstGeom>
          <a:solidFill>
            <a:srgbClr val="EFE0C2"/>
          </a:solidFill>
          <a:ln w="12192" cap="flat">
            <a:solidFill>
              <a:srgbClr val="D8C39C"/>
            </a:solidFill>
          </a:ln>
        </p:spPr>
        <p:txBody>
          <a:bodyPr rtlCol="0" anchor="ctr"/>
          <a:lstStyle/>
          <a:p>
            <a:pPr algn="ctr"/>
          </a:p>
        </p:txBody>
      </p:sp>
      <p:pic>
        <p:nvPicPr>
          <p:cNvPr id="8" name="Picture 7" descr="s28_r1.png"/>
          <p:cNvPicPr>
            <a:picLocks noChangeAspect="1"/>
          </p:cNvPicPr>
          <p:nvPr/>
        </p:nvPicPr>
        <p:blipFill>
          <a:blip r:embed="rId3"/>
          <a:stretch>
            <a:fillRect/>
          </a:stretch>
        </p:blipFill>
        <p:spPr>
          <a:xfrm>
            <a:off x="2621280" y="1219200"/>
            <a:ext cx="1231392" cy="1463040"/>
          </a:xfrm>
          <a:prstGeom prst="rect">
            <a:avLst/>
          </a:prstGeom>
        </p:spPr>
      </p:pic>
      <p:sp>
        <p:nvSpPr>
          <p:cNvPr id="9" name="TextBox 8"/>
          <p:cNvSpPr txBox="1"/>
          <p:nvPr/>
        </p:nvSpPr>
        <p:spPr>
          <a:xfrm>
            <a:off x="2098072" y="2852928"/>
            <a:ext cx="2277808" cy="268224"/>
          </a:xfrm>
          <a:prstGeom prst="rect">
            <a:avLst/>
          </a:prstGeom>
          <a:noFill/>
        </p:spPr>
        <p:txBody>
          <a:bodyPr wrap="none" lIns="0" rIns="0" tIns="0" bIns="0" anchor="t">
            <a:noAutofit/>
          </a:bodyPr>
          <a:lstStyle/>
          <a:p>
            <a:pPr algn="ctr">
              <a:lnSpc>
                <a:spcPts val="2111"/>
              </a:lnSpc>
              <a:spcBef>
                <a:spcPts val="0"/>
              </a:spcBef>
              <a:spcAft>
                <a:spcPts val="0"/>
              </a:spcAft>
            </a:pPr>
            <a:r>
              <a:rPr sz="1625" b="1" i="0" lang="es-CO">
                <a:solidFill>
                  <a:srgbClr val="5C3A1E"/>
                </a:solidFill>
                <a:latin typeface="Playfair Display"/>
              </a:rPr>
              <a:t>Propuesta de delantal</a:t>
            </a:r>
          </a:p>
        </p:txBody>
      </p:sp>
      <p:sp>
        <p:nvSpPr>
          <p:cNvPr id="10" name="TextBox 9"/>
          <p:cNvSpPr txBox="1"/>
          <p:nvPr/>
        </p:nvSpPr>
        <p:spPr>
          <a:xfrm>
            <a:off x="619963" y="3193390"/>
            <a:ext cx="5234026" cy="491338"/>
          </a:xfrm>
          <a:prstGeom prst="rect">
            <a:avLst/>
          </a:prstGeom>
          <a:noFill/>
        </p:spPr>
        <p:txBody>
          <a:bodyPr wrap="square" lIns="0" rIns="0" tIns="0" bIns="0" anchor="t">
            <a:noAutofit/>
          </a:bodyPr>
          <a:lstStyle/>
          <a:p>
            <a:pPr algn="ctr">
              <a:lnSpc>
                <a:spcPts val="1934"/>
              </a:lnSpc>
              <a:spcBef>
                <a:spcPts val="0"/>
              </a:spcBef>
              <a:spcAft>
                <a:spcPts val="0"/>
              </a:spcAft>
            </a:pPr>
            <a:r>
              <a:rPr sz="1250" b="0" i="0" lang="es-CO">
                <a:solidFill>
                  <a:srgbClr val="5B4A38"/>
                </a:solidFill>
                <a:latin typeface="Outfit"/>
              </a:rPr>
              <a:t>Hueso o lona cruda, isotipo bordado en hilo Naranja Olla, 10cm en el</a:t>
            </a:r>
            <a:br/>
            <a:r>
              <a:rPr sz="1250" b="0" i="0" lang="es-CO">
                <a:solidFill>
                  <a:srgbClr val="5B4A38"/>
                </a:solidFill>
                <a:latin typeface="Outfit"/>
              </a:rPr>
              <a:t>pecho.</a:t>
            </a:r>
          </a:p>
        </p:txBody>
      </p:sp>
      <p:sp>
        <p:nvSpPr>
          <p:cNvPr id="11" name="Rounded Rectangle 10"/>
          <p:cNvSpPr/>
          <p:nvPr/>
        </p:nvSpPr>
        <p:spPr>
          <a:xfrm>
            <a:off x="6205728" y="975360"/>
            <a:ext cx="5498592" cy="3027045"/>
          </a:xfrm>
          <a:prstGeom prst="roundRect">
            <a:avLst>
              <a:gd name="adj" fmla="val 2416"/>
            </a:avLst>
          </a:prstGeom>
          <a:solidFill>
            <a:srgbClr val="D8C39C"/>
          </a:solidFill>
          <a:ln>
            <a:noFill/>
          </a:ln>
        </p:spPr>
        <p:txBody>
          <a:bodyPr rtlCol="0" anchor="ctr"/>
          <a:lstStyle/>
          <a:p>
            <a:pPr algn="ctr"/>
          </a:p>
        </p:txBody>
      </p:sp>
      <p:sp>
        <p:nvSpPr>
          <p:cNvPr id="12" name="Rounded Rectangle 11"/>
          <p:cNvSpPr/>
          <p:nvPr/>
        </p:nvSpPr>
        <p:spPr>
          <a:xfrm>
            <a:off x="6211824" y="944880"/>
            <a:ext cx="5486400" cy="3014853"/>
          </a:xfrm>
          <a:prstGeom prst="roundRect">
            <a:avLst>
              <a:gd name="adj" fmla="val 2224"/>
            </a:avLst>
          </a:prstGeom>
          <a:solidFill>
            <a:srgbClr val="EFE0C2"/>
          </a:solidFill>
          <a:ln w="12192" cap="flat">
            <a:solidFill>
              <a:srgbClr val="D8C39C"/>
            </a:solidFill>
          </a:ln>
        </p:spPr>
        <p:txBody>
          <a:bodyPr rtlCol="0" anchor="ctr"/>
          <a:lstStyle/>
          <a:p>
            <a:pPr algn="ctr"/>
          </a:p>
        </p:txBody>
      </p:sp>
      <p:sp>
        <p:nvSpPr>
          <p:cNvPr id="13" name="TextBox 12"/>
          <p:cNvSpPr txBox="1"/>
          <p:nvPr/>
        </p:nvSpPr>
        <p:spPr>
          <a:xfrm>
            <a:off x="6486144" y="1219200"/>
            <a:ext cx="1814284"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Puerta / ventanilla</a:t>
            </a:r>
          </a:p>
        </p:txBody>
      </p:sp>
      <p:sp>
        <p:nvSpPr>
          <p:cNvPr id="14" name="TextBox 13"/>
          <p:cNvSpPr txBox="1"/>
          <p:nvPr/>
        </p:nvSpPr>
        <p:spPr>
          <a:xfrm>
            <a:off x="6486144" y="1487424"/>
            <a:ext cx="2497207"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Identificador propuesto</a:t>
            </a:r>
          </a:p>
        </p:txBody>
      </p:sp>
      <p:sp>
        <p:nvSpPr>
          <p:cNvPr id="15" name="TextBox 14"/>
          <p:cNvSpPr txBox="1"/>
          <p:nvPr/>
        </p:nvSpPr>
        <p:spPr>
          <a:xfrm>
            <a:off x="6486144" y="1827886"/>
            <a:ext cx="5234026"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Adhesivo o imán junto a la puerta: </a:t>
            </a:r>
            <a:r>
              <a:rPr sz="1250" b="0" i="1" lang="es-CO">
                <a:solidFill>
                  <a:srgbClr val="5B4A38"/>
                </a:solidFill>
                <a:latin typeface="Outfit"/>
              </a:rPr>
              <a:t>"Aquí cocina un vecino de</a:t>
            </a:r>
            <a:br/>
            <a:r>
              <a:rPr sz="1250" b="0" i="1" lang="es-CO">
                <a:solidFill>
                  <a:srgbClr val="5B4A38"/>
                </a:solidFill>
                <a:latin typeface="Outfit"/>
              </a:rPr>
              <a:t>OllaCercana"</a:t>
            </a:r>
            <a:r>
              <a:rPr sz="1250" b="0" i="0" lang="es-CO">
                <a:solidFill>
                  <a:srgbClr val="5B4A38"/>
                </a:solidFill>
                <a:latin typeface="Outfit"/>
              </a:rPr>
              <a:t> — refuerza la cercanía barrial en el mundo físico.</a:t>
            </a:r>
          </a:p>
        </p:txBody>
      </p:sp>
      <p:sp>
        <p:nvSpPr>
          <p:cNvPr id="16" name="Rounded Rectangle 15"/>
          <p:cNvSpPr/>
          <p:nvPr/>
        </p:nvSpPr>
        <p:spPr>
          <a:xfrm>
            <a:off x="6492240" y="2569845"/>
            <a:ext cx="680466" cy="292608"/>
          </a:xfrm>
          <a:prstGeom prst="roundRect">
            <a:avLst>
              <a:gd name="adj" fmla="val 50000"/>
            </a:avLst>
          </a:prstGeom>
          <a:solidFill>
            <a:srgbClr val="FF6600">
              <a:alpha val="12000"/>
            </a:srgbClr>
          </a:solidFill>
          <a:ln w="12192" cap="flat">
            <a:solidFill>
              <a:srgbClr val="FF6600">
                <a:alpha val="35000"/>
              </a:srgbClr>
            </a:solidFill>
          </a:ln>
        </p:spPr>
        <p:txBody>
          <a:bodyPr rtlCol="0" anchor="ctr"/>
          <a:lstStyle/>
          <a:p>
            <a:pPr algn="ctr"/>
          </a:p>
        </p:txBody>
      </p:sp>
      <p:sp>
        <p:nvSpPr>
          <p:cNvPr id="17" name="TextBox 16"/>
          <p:cNvSpPr txBox="1"/>
          <p:nvPr/>
        </p:nvSpPr>
        <p:spPr>
          <a:xfrm>
            <a:off x="6620256" y="2636901"/>
            <a:ext cx="521970"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48">
                <a:solidFill>
                  <a:srgbClr val="D97224"/>
                </a:solidFill>
                <a:latin typeface="Outfit"/>
              </a:rPr>
              <a:t>Kraft</a:t>
            </a:r>
          </a:p>
        </p:txBody>
      </p:sp>
      <p:sp>
        <p:nvSpPr>
          <p:cNvPr id="18" name="Rounded Rectangle 17"/>
          <p:cNvSpPr/>
          <p:nvPr/>
        </p:nvSpPr>
        <p:spPr>
          <a:xfrm>
            <a:off x="7331202" y="2569845"/>
            <a:ext cx="825056" cy="292608"/>
          </a:xfrm>
          <a:prstGeom prst="roundRect">
            <a:avLst>
              <a:gd name="adj" fmla="val 50000"/>
            </a:avLst>
          </a:prstGeom>
          <a:solidFill>
            <a:srgbClr val="4A8C00">
              <a:alpha val="12000"/>
            </a:srgbClr>
          </a:solidFill>
          <a:ln w="12192" cap="flat">
            <a:solidFill>
              <a:srgbClr val="4A8C00">
                <a:alpha val="35000"/>
              </a:srgbClr>
            </a:solidFill>
          </a:ln>
        </p:spPr>
        <p:txBody>
          <a:bodyPr rtlCol="0" anchor="ctr"/>
          <a:lstStyle/>
          <a:p>
            <a:pPr algn="ctr"/>
          </a:p>
        </p:txBody>
      </p:sp>
      <p:sp>
        <p:nvSpPr>
          <p:cNvPr id="19" name="TextBox 18"/>
          <p:cNvSpPr txBox="1"/>
          <p:nvPr/>
        </p:nvSpPr>
        <p:spPr>
          <a:xfrm>
            <a:off x="7459218" y="2636901"/>
            <a:ext cx="666560" cy="158496"/>
          </a:xfrm>
          <a:prstGeom prst="rect">
            <a:avLst/>
          </a:prstGeom>
          <a:noFill/>
        </p:spPr>
        <p:txBody>
          <a:bodyPr wrap="none" lIns="0" rIns="0" tIns="0" bIns="0" anchor="t">
            <a:noAutofit/>
          </a:bodyPr>
          <a:lstStyle/>
          <a:p>
            <a:pPr algn="l">
              <a:lnSpc>
                <a:spcPts val="1248"/>
              </a:lnSpc>
              <a:spcBef>
                <a:spcPts val="0"/>
              </a:spcBef>
              <a:spcAft>
                <a:spcPts val="0"/>
              </a:spcAft>
            </a:pPr>
            <a:r>
              <a:rPr sz="950" b="1" i="0" lang="es-CO" cap="all" spc="48">
                <a:solidFill>
                  <a:srgbClr val="4A9C55"/>
                </a:solidFill>
                <a:latin typeface="Outfit"/>
              </a:rPr>
              <a:t>Vecinal</a:t>
            </a:r>
          </a:p>
        </p:txBody>
      </p:sp>
      <p:cxnSp>
        <p:nvCxnSpPr>
          <p:cNvPr id="20" name="Connector 19"/>
          <p:cNvCxnSpPr/>
          <p:nvPr/>
        </p:nvCxnSpPr>
        <p:spPr>
          <a:xfrm>
            <a:off x="487680" y="6327648"/>
            <a:ext cx="11216640" cy="0"/>
          </a:xfrm>
          <a:prstGeom prst="line">
            <a:avLst/>
          </a:prstGeom>
          <a:ln w="24384" cap="flat">
            <a:solidFill>
              <a:srgbClr val="D8C39C"/>
            </a:solidFill>
          </a:ln>
        </p:spPr>
      </p:cxnSp>
      <p:sp>
        <p:nvSpPr>
          <p:cNvPr id="21" name="TextBox 20"/>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22" name="TextBox 21"/>
          <p:cNvSpPr txBox="1"/>
          <p:nvPr/>
        </p:nvSpPr>
        <p:spPr>
          <a:xfrm>
            <a:off x="11277219" y="6486144"/>
            <a:ext cx="524637"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13 / 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20414" y="378372"/>
            <a:ext cx="273269" cy="31531"/>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798786" y="315310"/>
            <a:ext cx="235826" cy="157655"/>
          </a:xfrm>
          <a:prstGeom prst="rect">
            <a:avLst/>
          </a:prstGeom>
          <a:noFill/>
        </p:spPr>
        <p:txBody>
          <a:bodyPr wrap="none" lIns="0" rIns="0" tIns="0" bIns="0" anchor="t">
            <a:noAutofit/>
          </a:bodyPr>
          <a:lstStyle/>
          <a:p>
            <a:pPr algn="l">
              <a:lnSpc>
                <a:spcPts val="1241"/>
              </a:lnSpc>
              <a:spcBef>
                <a:spcPts val="0"/>
              </a:spcBef>
              <a:spcAft>
                <a:spcPts val="0"/>
              </a:spcAft>
            </a:pPr>
            <a:r>
              <a:rPr sz="1000" b="1" i="0" lang="es-CO" cap="all" spc="99">
                <a:solidFill>
                  <a:srgbClr val="D97224"/>
                </a:solidFill>
                <a:latin typeface="Outfit"/>
              </a:rPr>
              <a:t>14</a:t>
            </a:r>
          </a:p>
        </p:txBody>
      </p:sp>
      <p:sp>
        <p:nvSpPr>
          <p:cNvPr id="5" name="TextBox 4"/>
          <p:cNvSpPr txBox="1"/>
          <p:nvPr/>
        </p:nvSpPr>
        <p:spPr>
          <a:xfrm>
            <a:off x="1055633" y="315310"/>
            <a:ext cx="1043595" cy="157655"/>
          </a:xfrm>
          <a:prstGeom prst="rect">
            <a:avLst/>
          </a:prstGeom>
          <a:noFill/>
        </p:spPr>
        <p:txBody>
          <a:bodyPr wrap="none" lIns="0" rIns="0" tIns="0" bIns="0" anchor="t">
            <a:noAutofit/>
          </a:bodyPr>
          <a:lstStyle/>
          <a:p>
            <a:pPr algn="l">
              <a:lnSpc>
                <a:spcPts val="1241"/>
              </a:lnSpc>
              <a:spcBef>
                <a:spcPts val="0"/>
              </a:spcBef>
              <a:spcAft>
                <a:spcPts val="0"/>
              </a:spcAft>
            </a:pPr>
            <a:r>
              <a:rPr sz="1000" b="1" i="0" lang="es-CO" cap="all" spc="99">
                <a:solidFill>
                  <a:srgbClr val="5B4A38"/>
                </a:solidFill>
                <a:latin typeface="Outfit"/>
              </a:rPr>
              <a:t>/ Personaje</a:t>
            </a:r>
          </a:p>
        </p:txBody>
      </p:sp>
      <p:sp>
        <p:nvSpPr>
          <p:cNvPr id="6" name="TextBox 5"/>
          <p:cNvSpPr txBox="1"/>
          <p:nvPr/>
        </p:nvSpPr>
        <p:spPr>
          <a:xfrm>
            <a:off x="420414" y="1504503"/>
            <a:ext cx="3304206" cy="682752"/>
          </a:xfrm>
          <a:prstGeom prst="rect">
            <a:avLst/>
          </a:prstGeom>
          <a:noFill/>
        </p:spPr>
        <p:txBody>
          <a:bodyPr wrap="none" lIns="0" rIns="0" tIns="0" bIns="0" anchor="t">
            <a:noAutofit/>
          </a:bodyPr>
          <a:lstStyle/>
          <a:p>
            <a:pPr algn="l">
              <a:lnSpc>
                <a:spcPts val="5375"/>
              </a:lnSpc>
              <a:spcBef>
                <a:spcPts val="0"/>
              </a:spcBef>
              <a:spcAft>
                <a:spcPts val="0"/>
              </a:spcAft>
            </a:pPr>
            <a:r>
              <a:rPr sz="5375" b="1" i="0" lang="es-CO">
                <a:solidFill>
                  <a:srgbClr val="2B2117"/>
                </a:solidFill>
                <a:latin typeface="Playfair Display"/>
              </a:rPr>
              <a:t>La abuela</a:t>
            </a:r>
          </a:p>
        </p:txBody>
      </p:sp>
      <p:sp>
        <p:nvSpPr>
          <p:cNvPr id="7" name="TextBox 6"/>
          <p:cNvSpPr txBox="1"/>
          <p:nvPr/>
        </p:nvSpPr>
        <p:spPr>
          <a:xfrm>
            <a:off x="420414" y="2187183"/>
            <a:ext cx="4395311" cy="682752"/>
          </a:xfrm>
          <a:prstGeom prst="rect">
            <a:avLst/>
          </a:prstGeom>
          <a:noFill/>
        </p:spPr>
        <p:txBody>
          <a:bodyPr wrap="none" lIns="0" rIns="0" tIns="0" bIns="0" anchor="t">
            <a:noAutofit/>
          </a:bodyPr>
          <a:lstStyle/>
          <a:p>
            <a:pPr algn="l">
              <a:lnSpc>
                <a:spcPts val="5375"/>
              </a:lnSpc>
              <a:spcBef>
                <a:spcPts val="0"/>
              </a:spcBef>
              <a:spcAft>
                <a:spcPts val="0"/>
              </a:spcAft>
            </a:pPr>
            <a:r>
              <a:rPr sz="5375" b="1" i="0" lang="es-CO">
                <a:solidFill>
                  <a:srgbClr val="F0822D"/>
                </a:solidFill>
                <a:latin typeface="Playfair Display"/>
              </a:rPr>
              <a:t>de la cuadra.</a:t>
            </a:r>
          </a:p>
        </p:txBody>
      </p:sp>
      <p:sp>
        <p:nvSpPr>
          <p:cNvPr id="8" name="TextBox 7"/>
          <p:cNvSpPr txBox="1"/>
          <p:nvPr/>
        </p:nvSpPr>
        <p:spPr>
          <a:xfrm>
            <a:off x="420414" y="3061992"/>
            <a:ext cx="6311357" cy="1109892"/>
          </a:xfrm>
          <a:prstGeom prst="rect">
            <a:avLst/>
          </a:prstGeom>
          <a:noFill/>
        </p:spPr>
        <p:txBody>
          <a:bodyPr wrap="square" lIns="0" rIns="0" tIns="0" bIns="0" anchor="t">
            <a:noAutofit/>
          </a:bodyPr>
          <a:lstStyle/>
          <a:p>
            <a:pPr algn="l">
              <a:lnSpc>
                <a:spcPts val="2184"/>
              </a:lnSpc>
              <a:spcBef>
                <a:spcPts val="0"/>
              </a:spcBef>
              <a:spcAft>
                <a:spcPts val="0"/>
              </a:spcAft>
            </a:pPr>
            <a:r>
              <a:rPr sz="1325" b="0" i="0" lang="es-CO">
                <a:solidFill>
                  <a:srgbClr val="5B4A38"/>
                </a:solidFill>
                <a:latin typeface="Outfit"/>
              </a:rPr>
              <a:t>La mascota de OllaCercana: una cocinera de barrio ilustrada en 3D que</a:t>
            </a:r>
            <a:br/>
            <a:r>
              <a:rPr sz="1325" b="0" i="0" lang="es-CO">
                <a:solidFill>
                  <a:srgbClr val="5B4A38"/>
                </a:solidFill>
                <a:latin typeface="Outfit"/>
              </a:rPr>
              <a:t>representa la calidez, la confianza y el espíritu comunitario de la plataforma. Es</a:t>
            </a:r>
            <a:br/>
            <a:r>
              <a:rPr sz="1325" b="0" i="0" lang="es-CO">
                <a:solidFill>
                  <a:srgbClr val="5B4A38"/>
                </a:solidFill>
                <a:latin typeface="Outfit"/>
              </a:rPr>
              <a:t>un personaje simbólico de todas las cocineras reales detrás de cada pedido, no</a:t>
            </a:r>
            <a:br/>
            <a:r>
              <a:rPr sz="1325" b="0" i="0" lang="es-CO">
                <a:solidFill>
                  <a:srgbClr val="5B4A38"/>
                </a:solidFill>
                <a:latin typeface="Outfit"/>
              </a:rPr>
              <a:t>la foto de una cocinera en particular.</a:t>
            </a:r>
          </a:p>
        </p:txBody>
      </p:sp>
      <p:sp>
        <p:nvSpPr>
          <p:cNvPr id="9" name="Oval 8"/>
          <p:cNvSpPr/>
          <p:nvPr/>
        </p:nvSpPr>
        <p:spPr>
          <a:xfrm>
            <a:off x="430924" y="4478392"/>
            <a:ext cx="651641" cy="651641"/>
          </a:xfrm>
          <a:prstGeom prst="ellipse">
            <a:avLst/>
          </a:prstGeom>
          <a:solidFill>
            <a:srgbClr val="F3E7D2"/>
          </a:solidFill>
          <a:ln w="21020" cap="flat">
            <a:solidFill>
              <a:srgbClr val="D97224"/>
            </a:solidFill>
          </a:ln>
        </p:spPr>
        <p:txBody>
          <a:bodyPr rtlCol="0" anchor="ctr"/>
          <a:lstStyle/>
          <a:p>
            <a:pPr algn="ctr"/>
          </a:p>
        </p:txBody>
      </p:sp>
      <p:pic>
        <p:nvPicPr>
          <p:cNvPr id="10" name="Picture 9" descr="s29_r1.png"/>
          <p:cNvPicPr>
            <a:picLocks noChangeAspect="1"/>
          </p:cNvPicPr>
          <p:nvPr/>
        </p:nvPicPr>
        <p:blipFill>
          <a:blip r:embed="rId3"/>
          <a:stretch>
            <a:fillRect/>
          </a:stretch>
        </p:blipFill>
        <p:spPr>
          <a:xfrm>
            <a:off x="609600" y="4656083"/>
            <a:ext cx="294290" cy="304800"/>
          </a:xfrm>
          <a:prstGeom prst="rect">
            <a:avLst/>
          </a:prstGeom>
        </p:spPr>
      </p:pic>
      <p:sp>
        <p:nvSpPr>
          <p:cNvPr id="11" name="TextBox 10"/>
          <p:cNvSpPr txBox="1"/>
          <p:nvPr/>
        </p:nvSpPr>
        <p:spPr>
          <a:xfrm>
            <a:off x="420414" y="5329730"/>
            <a:ext cx="1110073" cy="210207"/>
          </a:xfrm>
          <a:prstGeom prst="rect">
            <a:avLst/>
          </a:prstGeom>
          <a:noFill/>
        </p:spPr>
        <p:txBody>
          <a:bodyPr wrap="none" lIns="0" rIns="0" tIns="0" bIns="0" anchor="t">
            <a:noAutofit/>
          </a:bodyPr>
          <a:lstStyle/>
          <a:p>
            <a:pPr algn="l">
              <a:lnSpc>
                <a:spcPts val="1655"/>
              </a:lnSpc>
              <a:spcBef>
                <a:spcPts val="0"/>
              </a:spcBef>
              <a:spcAft>
                <a:spcPts val="0"/>
              </a:spcAft>
            </a:pPr>
            <a:r>
              <a:rPr sz="1250" b="1" i="0" lang="es-CO">
                <a:solidFill>
                  <a:srgbClr val="2B2117"/>
                </a:solidFill>
                <a:latin typeface="Playfair Display"/>
              </a:rPr>
              <a:t>Cocina casera</a:t>
            </a:r>
          </a:p>
        </p:txBody>
      </p:sp>
      <p:cxnSp>
        <p:nvCxnSpPr>
          <p:cNvPr id="12" name="Connector 11"/>
          <p:cNvCxnSpPr/>
          <p:nvPr/>
        </p:nvCxnSpPr>
        <p:spPr>
          <a:xfrm>
            <a:off x="2415573" y="4467882"/>
            <a:ext cx="0" cy="1282262"/>
          </a:xfrm>
          <a:prstGeom prst="line">
            <a:avLst/>
          </a:prstGeom>
          <a:ln w="21020" cap="flat">
            <a:solidFill>
              <a:srgbClr val="D8C39C"/>
            </a:solidFill>
            <a:prstDash val="dash"/>
          </a:ln>
        </p:spPr>
      </p:cxnSp>
      <p:sp>
        <p:nvSpPr>
          <p:cNvPr id="13" name="Oval 12"/>
          <p:cNvSpPr/>
          <p:nvPr/>
        </p:nvSpPr>
        <p:spPr>
          <a:xfrm>
            <a:off x="2646800" y="4478392"/>
            <a:ext cx="651641" cy="651641"/>
          </a:xfrm>
          <a:prstGeom prst="ellipse">
            <a:avLst/>
          </a:prstGeom>
          <a:solidFill>
            <a:srgbClr val="F3E7D2"/>
          </a:solidFill>
          <a:ln w="21020" cap="flat">
            <a:solidFill>
              <a:srgbClr val="4A9C55"/>
            </a:solidFill>
          </a:ln>
        </p:spPr>
        <p:txBody>
          <a:bodyPr rtlCol="0" anchor="ctr"/>
          <a:lstStyle/>
          <a:p>
            <a:pPr algn="ctr"/>
          </a:p>
        </p:txBody>
      </p:sp>
      <p:pic>
        <p:nvPicPr>
          <p:cNvPr id="14" name="Picture 13" descr="s29_r2.png"/>
          <p:cNvPicPr>
            <a:picLocks noChangeAspect="1"/>
          </p:cNvPicPr>
          <p:nvPr/>
        </p:nvPicPr>
        <p:blipFill>
          <a:blip r:embed="rId4"/>
          <a:stretch>
            <a:fillRect/>
          </a:stretch>
        </p:blipFill>
        <p:spPr>
          <a:xfrm>
            <a:off x="2816772" y="4656083"/>
            <a:ext cx="304800" cy="304800"/>
          </a:xfrm>
          <a:prstGeom prst="rect">
            <a:avLst/>
          </a:prstGeom>
        </p:spPr>
      </p:pic>
      <p:sp>
        <p:nvSpPr>
          <p:cNvPr id="15" name="TextBox 14"/>
          <p:cNvSpPr txBox="1"/>
          <p:nvPr/>
        </p:nvSpPr>
        <p:spPr>
          <a:xfrm>
            <a:off x="2636290" y="5329730"/>
            <a:ext cx="1312578" cy="210207"/>
          </a:xfrm>
          <a:prstGeom prst="rect">
            <a:avLst/>
          </a:prstGeom>
          <a:noFill/>
        </p:spPr>
        <p:txBody>
          <a:bodyPr wrap="none" lIns="0" rIns="0" tIns="0" bIns="0" anchor="t">
            <a:noAutofit/>
          </a:bodyPr>
          <a:lstStyle/>
          <a:p>
            <a:pPr algn="l">
              <a:lnSpc>
                <a:spcPts val="1655"/>
              </a:lnSpc>
              <a:spcBef>
                <a:spcPts val="0"/>
              </a:spcBef>
              <a:spcAft>
                <a:spcPts val="0"/>
              </a:spcAft>
            </a:pPr>
            <a:r>
              <a:rPr sz="1250" b="1" i="0" lang="es-CO">
                <a:solidFill>
                  <a:srgbClr val="2B2117"/>
                </a:solidFill>
                <a:latin typeface="Playfair Display"/>
              </a:rPr>
              <a:t>Cercanía vecinal</a:t>
            </a:r>
          </a:p>
        </p:txBody>
      </p:sp>
      <p:cxnSp>
        <p:nvCxnSpPr>
          <p:cNvPr id="16" name="Connector 15"/>
          <p:cNvCxnSpPr/>
          <p:nvPr/>
        </p:nvCxnSpPr>
        <p:spPr>
          <a:xfrm>
            <a:off x="4400222" y="4467882"/>
            <a:ext cx="0" cy="1282262"/>
          </a:xfrm>
          <a:prstGeom prst="line">
            <a:avLst/>
          </a:prstGeom>
          <a:ln w="21020" cap="flat">
            <a:solidFill>
              <a:srgbClr val="D8C39C"/>
            </a:solidFill>
            <a:prstDash val="dash"/>
          </a:ln>
        </p:spPr>
      </p:cxnSp>
      <p:sp>
        <p:nvSpPr>
          <p:cNvPr id="17" name="Oval 16"/>
          <p:cNvSpPr/>
          <p:nvPr/>
        </p:nvSpPr>
        <p:spPr>
          <a:xfrm>
            <a:off x="4631449" y="4478392"/>
            <a:ext cx="651641" cy="651641"/>
          </a:xfrm>
          <a:prstGeom prst="ellipse">
            <a:avLst/>
          </a:prstGeom>
          <a:solidFill>
            <a:srgbClr val="F3E7D2"/>
          </a:solidFill>
          <a:ln w="21020" cap="flat">
            <a:solidFill>
              <a:srgbClr val="C99A1E"/>
            </a:solidFill>
          </a:ln>
        </p:spPr>
        <p:txBody>
          <a:bodyPr rtlCol="0" anchor="ctr"/>
          <a:lstStyle/>
          <a:p>
            <a:pPr algn="ctr"/>
          </a:p>
        </p:txBody>
      </p:sp>
      <p:pic>
        <p:nvPicPr>
          <p:cNvPr id="18" name="Picture 17" descr="s29_r3.png"/>
          <p:cNvPicPr>
            <a:picLocks noChangeAspect="1"/>
          </p:cNvPicPr>
          <p:nvPr/>
        </p:nvPicPr>
        <p:blipFill>
          <a:blip r:embed="rId5"/>
          <a:stretch>
            <a:fillRect/>
          </a:stretch>
        </p:blipFill>
        <p:spPr>
          <a:xfrm>
            <a:off x="4803228" y="4656083"/>
            <a:ext cx="304800" cy="304800"/>
          </a:xfrm>
          <a:prstGeom prst="rect">
            <a:avLst/>
          </a:prstGeom>
        </p:spPr>
      </p:pic>
      <p:sp>
        <p:nvSpPr>
          <p:cNvPr id="19" name="TextBox 18"/>
          <p:cNvSpPr txBox="1"/>
          <p:nvPr/>
        </p:nvSpPr>
        <p:spPr>
          <a:xfrm>
            <a:off x="4620939" y="5329730"/>
            <a:ext cx="1635807" cy="420414"/>
          </a:xfrm>
          <a:prstGeom prst="rect">
            <a:avLst/>
          </a:prstGeom>
          <a:noFill/>
        </p:spPr>
        <p:txBody>
          <a:bodyPr wrap="square" lIns="0" rIns="0" tIns="0" bIns="0" anchor="t">
            <a:noAutofit/>
          </a:bodyPr>
          <a:lstStyle/>
          <a:p>
            <a:pPr algn="l">
              <a:lnSpc>
                <a:spcPts val="1655"/>
              </a:lnSpc>
              <a:spcBef>
                <a:spcPts val="0"/>
              </a:spcBef>
              <a:spcAft>
                <a:spcPts val="0"/>
              </a:spcAft>
            </a:pPr>
            <a:r>
              <a:rPr sz="1250" b="1" i="0" lang="es-CO">
                <a:solidFill>
                  <a:srgbClr val="2B2117"/>
                </a:solidFill>
                <a:latin typeface="Playfair Display"/>
              </a:rPr>
              <a:t>Comunidad y</a:t>
            </a:r>
            <a:br/>
            <a:r>
              <a:rPr sz="1250" b="1" i="0" lang="es-CO">
                <a:solidFill>
                  <a:srgbClr val="2B2117"/>
                </a:solidFill>
                <a:latin typeface="Playfair Display"/>
              </a:rPr>
              <a:t>confianza</a:t>
            </a:r>
          </a:p>
        </p:txBody>
      </p:sp>
      <p:pic>
        <p:nvPicPr>
          <p:cNvPr id="20" name="Picture 19" descr="s29_r4.png"/>
          <p:cNvPicPr>
            <a:picLocks noChangeAspect="1"/>
          </p:cNvPicPr>
          <p:nvPr/>
        </p:nvPicPr>
        <p:blipFill>
          <a:blip r:embed="rId6"/>
          <a:stretch>
            <a:fillRect/>
          </a:stretch>
        </p:blipFill>
        <p:spPr>
          <a:xfrm>
            <a:off x="6989379" y="851338"/>
            <a:ext cx="4687614" cy="5065986"/>
          </a:xfrm>
          <a:prstGeom prst="rect">
            <a:avLst/>
          </a:prstGeom>
        </p:spPr>
      </p:pic>
      <p:pic>
        <p:nvPicPr>
          <p:cNvPr id="21" name="Picture 20" descr="La abuela de OllaCercana, con gorro de cocinera, sosteniendo una olla humeante"/>
          <p:cNvPicPr>
            <a:picLocks noChangeAspect="1"/>
          </p:cNvPicPr>
          <p:nvPr/>
        </p:nvPicPr>
        <p:blipFill>
          <a:blip r:embed="rId7"/>
          <a:stretch>
            <a:fillRect/>
          </a:stretch>
        </p:blipFill>
        <p:spPr>
          <a:xfrm>
            <a:off x="7023538" y="620110"/>
            <a:ext cx="4624552" cy="5662120"/>
          </a:xfrm>
          <a:prstGeom prst="rect">
            <a:avLst/>
          </a:prstGeom>
          <a:effectLst>
            <a:outerShdw blurRad="189186" dist="147144" dir="5400000" algn="ctr" rotWithShape="0">
              <a:srgbClr val="3C2814">
                <a:alpha val="30000"/>
              </a:srgbClr>
            </a:outerShdw>
          </a:effectLst>
        </p:spPr>
      </p:pic>
      <p:sp>
        <p:nvSpPr>
          <p:cNvPr id="22" name="TextBox 21"/>
          <p:cNvSpPr txBox="1"/>
          <p:nvPr/>
        </p:nvSpPr>
        <p:spPr>
          <a:xfrm>
            <a:off x="8460335" y="6345292"/>
            <a:ext cx="1926054" cy="294290"/>
          </a:xfrm>
          <a:prstGeom prst="rect">
            <a:avLst/>
          </a:prstGeom>
          <a:noFill/>
        </p:spPr>
        <p:txBody>
          <a:bodyPr wrap="none" lIns="0" rIns="0" tIns="0" bIns="0" anchor="t">
            <a:noAutofit/>
          </a:bodyPr>
          <a:lstStyle/>
          <a:p>
            <a:pPr algn="l">
              <a:lnSpc>
                <a:spcPts val="2317"/>
              </a:lnSpc>
              <a:spcBef>
                <a:spcPts val="0"/>
              </a:spcBef>
              <a:spcAft>
                <a:spcPts val="0"/>
              </a:spcAft>
            </a:pPr>
            <a:r>
              <a:rPr sz="1825" b="0" i="0" lang="es-CO">
                <a:solidFill>
                  <a:srgbClr val="5C3A1E"/>
                </a:solidFill>
                <a:latin typeface="Caveat"/>
              </a:rPr>
              <a:t>La abuela de la cuadra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363940" y="327546"/>
            <a:ext cx="236561" cy="2729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691487" y="272955"/>
            <a:ext cx="204148" cy="136478"/>
          </a:xfrm>
          <a:prstGeom prst="rect">
            <a:avLst/>
          </a:prstGeom>
          <a:noFill/>
        </p:spPr>
        <p:txBody>
          <a:bodyPr wrap="none" lIns="0" rIns="0" tIns="0" bIns="0" anchor="t">
            <a:noAutofit/>
          </a:bodyPr>
          <a:lstStyle/>
          <a:p>
            <a:pPr algn="l">
              <a:lnSpc>
                <a:spcPts val="1074"/>
              </a:lnSpc>
              <a:spcBef>
                <a:spcPts val="0"/>
              </a:spcBef>
              <a:spcAft>
                <a:spcPts val="0"/>
              </a:spcAft>
            </a:pPr>
            <a:r>
              <a:rPr sz="850" b="1" i="0" lang="es-CO" cap="all" spc="86">
                <a:solidFill>
                  <a:srgbClr val="D97224"/>
                </a:solidFill>
                <a:latin typeface="Outfit"/>
              </a:rPr>
              <a:t>14</a:t>
            </a:r>
          </a:p>
        </p:txBody>
      </p:sp>
      <p:sp>
        <p:nvSpPr>
          <p:cNvPr id="5" name="TextBox 4"/>
          <p:cNvSpPr txBox="1"/>
          <p:nvPr/>
        </p:nvSpPr>
        <p:spPr>
          <a:xfrm>
            <a:off x="913831" y="272955"/>
            <a:ext cx="903411" cy="136478"/>
          </a:xfrm>
          <a:prstGeom prst="rect">
            <a:avLst/>
          </a:prstGeom>
          <a:noFill/>
        </p:spPr>
        <p:txBody>
          <a:bodyPr wrap="none" lIns="0" rIns="0" tIns="0" bIns="0" anchor="t">
            <a:noAutofit/>
          </a:bodyPr>
          <a:lstStyle/>
          <a:p>
            <a:pPr algn="l">
              <a:lnSpc>
                <a:spcPts val="1074"/>
              </a:lnSpc>
              <a:spcBef>
                <a:spcPts val="0"/>
              </a:spcBef>
              <a:spcAft>
                <a:spcPts val="0"/>
              </a:spcAft>
            </a:pPr>
            <a:r>
              <a:rPr sz="850" b="1" i="0" lang="es-CO" cap="all" spc="86">
                <a:solidFill>
                  <a:srgbClr val="5B4A38"/>
                </a:solidFill>
                <a:latin typeface="Outfit"/>
              </a:rPr>
              <a:t>/ Personaje</a:t>
            </a:r>
          </a:p>
        </p:txBody>
      </p:sp>
      <p:sp>
        <p:nvSpPr>
          <p:cNvPr id="6" name="Rounded Rectangle 5"/>
          <p:cNvSpPr/>
          <p:nvPr/>
        </p:nvSpPr>
        <p:spPr>
          <a:xfrm>
            <a:off x="363940" y="764275"/>
            <a:ext cx="11464119" cy="3112258"/>
          </a:xfrm>
          <a:prstGeom prst="roundRect">
            <a:avLst>
              <a:gd name="adj" fmla="val 1754"/>
            </a:avLst>
          </a:prstGeom>
          <a:solidFill>
            <a:srgbClr val="D8C39C"/>
          </a:solidFill>
          <a:ln>
            <a:noFill/>
          </a:ln>
        </p:spPr>
        <p:txBody>
          <a:bodyPr rtlCol="0" anchor="ctr"/>
          <a:lstStyle/>
          <a:p>
            <a:pPr algn="ctr"/>
          </a:p>
        </p:txBody>
      </p:sp>
      <p:sp>
        <p:nvSpPr>
          <p:cNvPr id="7" name="Rounded Rectangle 6"/>
          <p:cNvSpPr/>
          <p:nvPr/>
        </p:nvSpPr>
        <p:spPr>
          <a:xfrm>
            <a:off x="368490" y="741528"/>
            <a:ext cx="11455021" cy="3103160"/>
          </a:xfrm>
          <a:prstGeom prst="roundRect">
            <a:avLst>
              <a:gd name="adj" fmla="val 1612"/>
            </a:avLst>
          </a:prstGeom>
          <a:solidFill>
            <a:srgbClr val="EFE0C2"/>
          </a:solidFill>
          <a:ln w="9098" cap="flat">
            <a:solidFill>
              <a:srgbClr val="D8C39C"/>
            </a:solidFill>
          </a:ln>
        </p:spPr>
        <p:txBody>
          <a:bodyPr rtlCol="0" anchor="ctr"/>
          <a:lstStyle/>
          <a:p>
            <a:pPr algn="ctr"/>
          </a:p>
        </p:txBody>
      </p:sp>
      <p:sp>
        <p:nvSpPr>
          <p:cNvPr id="8" name="TextBox 7"/>
          <p:cNvSpPr txBox="1"/>
          <p:nvPr/>
        </p:nvSpPr>
        <p:spPr>
          <a:xfrm>
            <a:off x="573206" y="946245"/>
            <a:ext cx="773515" cy="127379"/>
          </a:xfrm>
          <a:prstGeom prst="rect">
            <a:avLst/>
          </a:prstGeom>
          <a:noFill/>
        </p:spPr>
        <p:txBody>
          <a:bodyPr wrap="none" lIns="0" rIns="0" tIns="0" bIns="0" anchor="t">
            <a:noAutofit/>
          </a:bodyPr>
          <a:lstStyle/>
          <a:p>
            <a:pPr algn="l">
              <a:lnSpc>
                <a:spcPts val="1002"/>
              </a:lnSpc>
              <a:spcBef>
                <a:spcPts val="0"/>
              </a:spcBef>
              <a:spcAft>
                <a:spcPts val="0"/>
              </a:spcAft>
            </a:pPr>
            <a:r>
              <a:rPr sz="800" b="1" i="0" lang="es-CO" cap="all" spc="63">
                <a:solidFill>
                  <a:srgbClr val="D97224"/>
                </a:solidFill>
                <a:latin typeface="Outfit"/>
              </a:rPr>
              <a:t>Su historia</a:t>
            </a:r>
          </a:p>
        </p:txBody>
      </p:sp>
      <p:cxnSp>
        <p:nvCxnSpPr>
          <p:cNvPr id="9" name="Connector 8"/>
          <p:cNvCxnSpPr/>
          <p:nvPr/>
        </p:nvCxnSpPr>
        <p:spPr>
          <a:xfrm>
            <a:off x="573206" y="2061949"/>
            <a:ext cx="11045588" cy="0"/>
          </a:xfrm>
          <a:prstGeom prst="line">
            <a:avLst/>
          </a:prstGeom>
          <a:ln w="9098" cap="flat">
            <a:solidFill>
              <a:srgbClr val="D8C39C"/>
            </a:solidFill>
            <a:prstDash val="dash"/>
          </a:ln>
        </p:spPr>
      </p:cxnSp>
      <p:sp>
        <p:nvSpPr>
          <p:cNvPr id="10" name="TextBox 9"/>
          <p:cNvSpPr txBox="1"/>
          <p:nvPr/>
        </p:nvSpPr>
        <p:spPr>
          <a:xfrm>
            <a:off x="573206" y="1211921"/>
            <a:ext cx="1483895" cy="260217"/>
          </a:xfrm>
          <a:prstGeom prst="rect">
            <a:avLst/>
          </a:prstGeom>
          <a:noFill/>
        </p:spPr>
        <p:txBody>
          <a:bodyPr wrap="none" lIns="0" rIns="0" tIns="0" bIns="0" anchor="t">
            <a:noAutofit/>
          </a:bodyPr>
          <a:lstStyle/>
          <a:p>
            <a:pPr algn="l">
              <a:lnSpc>
                <a:spcPts val="2048"/>
              </a:lnSpc>
              <a:spcBef>
                <a:spcPts val="0"/>
              </a:spcBef>
              <a:spcAft>
                <a:spcPts val="0"/>
              </a:spcAft>
            </a:pPr>
            <a:r>
              <a:rPr sz="1875" b="1" i="0" lang="es-CO">
                <a:solidFill>
                  <a:srgbClr val="D97224"/>
                </a:solidFill>
                <a:latin typeface="Caveat"/>
              </a:rPr>
              <a:t>El olor del pasillo</a:t>
            </a:r>
          </a:p>
        </p:txBody>
      </p:sp>
      <p:sp>
        <p:nvSpPr>
          <p:cNvPr id="11" name="TextBox 10"/>
          <p:cNvSpPr txBox="1"/>
          <p:nvPr/>
        </p:nvSpPr>
        <p:spPr>
          <a:xfrm>
            <a:off x="2119952" y="1217494"/>
            <a:ext cx="10068772" cy="692624"/>
          </a:xfrm>
          <a:prstGeom prst="rect">
            <a:avLst/>
          </a:prstGeom>
          <a:noFill/>
        </p:spPr>
        <p:txBody>
          <a:bodyPr wrap="square" lIns="0" rIns="0" tIns="0" bIns="0" anchor="t">
            <a:noAutofit/>
          </a:bodyPr>
          <a:lstStyle/>
          <a:p>
            <a:pPr algn="l">
              <a:lnSpc>
                <a:spcPts val="1817"/>
              </a:lnSpc>
              <a:spcBef>
                <a:spcPts val="0"/>
              </a:spcBef>
              <a:spcAft>
                <a:spcPts val="0"/>
              </a:spcAft>
            </a:pPr>
            <a:r>
              <a:rPr sz="1050" b="0" i="0" lang="es-CO">
                <a:solidFill>
                  <a:srgbClr val="5B4A38"/>
                </a:solidFill>
                <a:latin typeface="Outfit"/>
              </a:rPr>
              <a:t>Cada tarde, antes de que el sol bajara sobre el conjunto, la olla de la abuela ya estaba al fuego. Primero fue un plato de sopa para la vecina del segundo piso que</a:t>
            </a:r>
            <a:br/>
            <a:r>
              <a:rPr sz="1050" b="0" i="0" lang="es-CO">
                <a:solidFill>
                  <a:srgbClr val="5B4A38"/>
                </a:solidFill>
                <a:latin typeface="Outfit"/>
              </a:rPr>
              <a:t>llegaba tarde del trabajo; luego otro para el celador; después, un recipiente para el niño que se quedaba solo al salir del colegio. El aroma del caldo recorría los</a:t>
            </a:r>
            <a:br/>
            <a:r>
              <a:rPr sz="1050" b="0" i="0" lang="es-CO">
                <a:solidFill>
                  <a:srgbClr val="5B4A38"/>
                </a:solidFill>
                <a:latin typeface="Outfit"/>
              </a:rPr>
              <a:t>pasillos y, poco a poco, cada puerta se abría un poquito.</a:t>
            </a:r>
          </a:p>
        </p:txBody>
      </p:sp>
      <p:cxnSp>
        <p:nvCxnSpPr>
          <p:cNvPr id="12" name="Connector 11"/>
          <p:cNvCxnSpPr/>
          <p:nvPr/>
        </p:nvCxnSpPr>
        <p:spPr>
          <a:xfrm>
            <a:off x="573206" y="2823949"/>
            <a:ext cx="11045588" cy="0"/>
          </a:xfrm>
          <a:prstGeom prst="line">
            <a:avLst/>
          </a:prstGeom>
          <a:ln w="9098" cap="flat">
            <a:solidFill>
              <a:srgbClr val="D8C39C"/>
            </a:solidFill>
            <a:prstDash val="dash"/>
          </a:ln>
        </p:spPr>
      </p:cxnSp>
      <p:sp>
        <p:nvSpPr>
          <p:cNvPr id="13" name="TextBox 12"/>
          <p:cNvSpPr txBox="1"/>
          <p:nvPr/>
        </p:nvSpPr>
        <p:spPr>
          <a:xfrm>
            <a:off x="573206" y="2204796"/>
            <a:ext cx="1477797" cy="260217"/>
          </a:xfrm>
          <a:prstGeom prst="rect">
            <a:avLst/>
          </a:prstGeom>
          <a:noFill/>
        </p:spPr>
        <p:txBody>
          <a:bodyPr wrap="none" lIns="0" rIns="0" tIns="0" bIns="0" anchor="t">
            <a:noAutofit/>
          </a:bodyPr>
          <a:lstStyle/>
          <a:p>
            <a:pPr algn="l">
              <a:lnSpc>
                <a:spcPts val="2048"/>
              </a:lnSpc>
              <a:spcBef>
                <a:spcPts val="0"/>
              </a:spcBef>
              <a:spcAft>
                <a:spcPts val="0"/>
              </a:spcAft>
            </a:pPr>
            <a:r>
              <a:rPr sz="1875" b="1" i="0" lang="es-CO">
                <a:solidFill>
                  <a:srgbClr val="D97224"/>
                </a:solidFill>
                <a:latin typeface="Caveat"/>
              </a:rPr>
              <a:t>La idea de la olla</a:t>
            </a:r>
          </a:p>
        </p:txBody>
      </p:sp>
      <p:sp>
        <p:nvSpPr>
          <p:cNvPr id="14" name="TextBox 13"/>
          <p:cNvSpPr txBox="1"/>
          <p:nvPr/>
        </p:nvSpPr>
        <p:spPr>
          <a:xfrm>
            <a:off x="2119952" y="2210369"/>
            <a:ext cx="10068772" cy="461749"/>
          </a:xfrm>
          <a:prstGeom prst="rect">
            <a:avLst/>
          </a:prstGeom>
          <a:noFill/>
        </p:spPr>
        <p:txBody>
          <a:bodyPr wrap="square" lIns="0" rIns="0" tIns="0" bIns="0" anchor="t">
            <a:noAutofit/>
          </a:bodyPr>
          <a:lstStyle/>
          <a:p>
            <a:pPr algn="l">
              <a:lnSpc>
                <a:spcPts val="1817"/>
              </a:lnSpc>
              <a:spcBef>
                <a:spcPts val="0"/>
              </a:spcBef>
              <a:spcAft>
                <a:spcPts val="0"/>
              </a:spcAft>
            </a:pPr>
            <a:r>
              <a:rPr sz="1050" b="0" i="0" lang="es-CO">
                <a:solidFill>
                  <a:srgbClr val="5B4A38"/>
                </a:solidFill>
                <a:latin typeface="Outfit"/>
              </a:rPr>
              <a:t>Un día alguien le dijo: «Abuela, con lo que usted cocina se alimenta toda la cuadra». Ella se rio, se acomodó el gorro y pensó que tenía razón. Así nació OllaCercana:</a:t>
            </a:r>
            <a:br/>
            <a:r>
              <a:rPr sz="1050" b="0" i="0" lang="es-CO">
                <a:solidFill>
                  <a:srgbClr val="5B4A38"/>
                </a:solidFill>
                <a:latin typeface="Outfit"/>
              </a:rPr>
              <a:t>una olla compartida que le pone dirección a cada cocina cercana, para que nadie tenga que cocinar solo ni comer solo.</a:t>
            </a:r>
          </a:p>
        </p:txBody>
      </p:sp>
      <p:sp>
        <p:nvSpPr>
          <p:cNvPr id="15" name="TextBox 14"/>
          <p:cNvSpPr txBox="1"/>
          <p:nvPr/>
        </p:nvSpPr>
        <p:spPr>
          <a:xfrm>
            <a:off x="573206" y="2966796"/>
            <a:ext cx="1446663" cy="520435"/>
          </a:xfrm>
          <a:prstGeom prst="rect">
            <a:avLst/>
          </a:prstGeom>
          <a:noFill/>
        </p:spPr>
        <p:txBody>
          <a:bodyPr wrap="square" lIns="0" rIns="0" tIns="0" bIns="0" anchor="t">
            <a:noAutofit/>
          </a:bodyPr>
          <a:lstStyle/>
          <a:p>
            <a:pPr algn="l">
              <a:lnSpc>
                <a:spcPts val="2048"/>
              </a:lnSpc>
              <a:spcBef>
                <a:spcPts val="0"/>
              </a:spcBef>
              <a:spcAft>
                <a:spcPts val="0"/>
              </a:spcAft>
            </a:pPr>
            <a:r>
              <a:rPr sz="1875" b="1" i="0" lang="es-CO">
                <a:solidFill>
                  <a:srgbClr val="D97224"/>
                </a:solidFill>
                <a:latin typeface="Caveat"/>
              </a:rPr>
              <a:t>Hoy, en cada</a:t>
            </a:r>
            <a:br/>
            <a:r>
              <a:rPr sz="1875" b="1" i="0" lang="es-CO">
                <a:solidFill>
                  <a:srgbClr val="D97224"/>
                </a:solidFill>
                <a:latin typeface="Caveat"/>
              </a:rPr>
              <a:t>pedido</a:t>
            </a:r>
          </a:p>
        </p:txBody>
      </p:sp>
      <p:sp>
        <p:nvSpPr>
          <p:cNvPr id="16" name="TextBox 15"/>
          <p:cNvSpPr txBox="1"/>
          <p:nvPr/>
        </p:nvSpPr>
        <p:spPr>
          <a:xfrm>
            <a:off x="2119952" y="2972369"/>
            <a:ext cx="10068772" cy="461749"/>
          </a:xfrm>
          <a:prstGeom prst="rect">
            <a:avLst/>
          </a:prstGeom>
          <a:noFill/>
        </p:spPr>
        <p:txBody>
          <a:bodyPr wrap="square" lIns="0" rIns="0" tIns="0" bIns="0" anchor="t">
            <a:noAutofit/>
          </a:bodyPr>
          <a:lstStyle/>
          <a:p>
            <a:pPr algn="l">
              <a:lnSpc>
                <a:spcPts val="1817"/>
              </a:lnSpc>
              <a:spcBef>
                <a:spcPts val="0"/>
              </a:spcBef>
              <a:spcAft>
                <a:spcPts val="0"/>
              </a:spcAft>
            </a:pPr>
            <a:r>
              <a:rPr sz="1050" b="0" i="0" lang="es-CO">
                <a:solidFill>
                  <a:srgbClr val="5B4A38"/>
                </a:solidFill>
                <a:latin typeface="Outfit"/>
              </a:rPr>
              <a:t>La abuela ya no cocina sola. Detrás de cada plato hay una vecina con su sazón, sus recetas y su olla, y ella aparece para recordarnos por qué esto funciona: lo que</a:t>
            </a:r>
            <a:br/>
            <a:r>
              <a:rPr sz="1050" b="0" i="0" lang="es-CO">
                <a:solidFill>
                  <a:srgbClr val="5B4A38"/>
                </a:solidFill>
                <a:latin typeface="Outfit"/>
              </a:rPr>
              <a:t>se cocina cerca se prepara con cariño y se recibe con confianza.</a:t>
            </a:r>
          </a:p>
        </p:txBody>
      </p:sp>
      <p:sp>
        <p:nvSpPr>
          <p:cNvPr id="17" name="Rounded Rectangle 16"/>
          <p:cNvSpPr/>
          <p:nvPr/>
        </p:nvSpPr>
        <p:spPr>
          <a:xfrm>
            <a:off x="363940" y="4040306"/>
            <a:ext cx="5650173" cy="1239956"/>
          </a:xfrm>
          <a:prstGeom prst="roundRect">
            <a:avLst>
              <a:gd name="adj" fmla="val 4402"/>
            </a:avLst>
          </a:prstGeom>
          <a:solidFill>
            <a:srgbClr val="D8C39C"/>
          </a:solidFill>
          <a:ln>
            <a:noFill/>
          </a:ln>
        </p:spPr>
        <p:txBody>
          <a:bodyPr rtlCol="0" anchor="ctr"/>
          <a:lstStyle/>
          <a:p>
            <a:pPr algn="ctr"/>
          </a:p>
        </p:txBody>
      </p:sp>
      <p:sp>
        <p:nvSpPr>
          <p:cNvPr id="18" name="Rounded Rectangle 17"/>
          <p:cNvSpPr/>
          <p:nvPr/>
        </p:nvSpPr>
        <p:spPr>
          <a:xfrm>
            <a:off x="368490" y="4017560"/>
            <a:ext cx="5641075" cy="1230857"/>
          </a:xfrm>
          <a:prstGeom prst="roundRect">
            <a:avLst>
              <a:gd name="adj" fmla="val 4065"/>
            </a:avLst>
          </a:prstGeom>
          <a:solidFill>
            <a:srgbClr val="EFE0C2"/>
          </a:solidFill>
          <a:ln w="9098" cap="flat">
            <a:solidFill>
              <a:srgbClr val="D8C39C"/>
            </a:solidFill>
          </a:ln>
        </p:spPr>
        <p:txBody>
          <a:bodyPr rtlCol="0" anchor="ctr"/>
          <a:lstStyle/>
          <a:p>
            <a:pPr algn="ctr"/>
          </a:p>
        </p:txBody>
      </p:sp>
      <p:sp>
        <p:nvSpPr>
          <p:cNvPr id="19" name="TextBox 18"/>
          <p:cNvSpPr txBox="1"/>
          <p:nvPr/>
        </p:nvSpPr>
        <p:spPr>
          <a:xfrm>
            <a:off x="573206" y="4222276"/>
            <a:ext cx="462602" cy="127379"/>
          </a:xfrm>
          <a:prstGeom prst="rect">
            <a:avLst/>
          </a:prstGeom>
          <a:noFill/>
        </p:spPr>
        <p:txBody>
          <a:bodyPr wrap="none" lIns="0" rIns="0" tIns="0" bIns="0" anchor="t">
            <a:noAutofit/>
          </a:bodyPr>
          <a:lstStyle/>
          <a:p>
            <a:pPr algn="l">
              <a:lnSpc>
                <a:spcPts val="1002"/>
              </a:lnSpc>
              <a:spcBef>
                <a:spcPts val="0"/>
              </a:spcBef>
              <a:spcAft>
                <a:spcPts val="0"/>
              </a:spcAft>
            </a:pPr>
            <a:r>
              <a:rPr sz="800" b="1" i="0" lang="es-CO" cap="all" spc="63">
                <a:solidFill>
                  <a:srgbClr val="D97224"/>
                </a:solidFill>
                <a:latin typeface="Outfit"/>
              </a:rPr>
              <a:t>Estilo</a:t>
            </a:r>
          </a:p>
        </p:txBody>
      </p:sp>
      <p:sp>
        <p:nvSpPr>
          <p:cNvPr id="20" name="TextBox 19"/>
          <p:cNvSpPr txBox="1"/>
          <p:nvPr/>
        </p:nvSpPr>
        <p:spPr>
          <a:xfrm>
            <a:off x="573206" y="4422443"/>
            <a:ext cx="968309" cy="200167"/>
          </a:xfrm>
          <a:prstGeom prst="rect">
            <a:avLst/>
          </a:prstGeom>
          <a:noFill/>
        </p:spPr>
        <p:txBody>
          <a:bodyPr wrap="none" lIns="0" rIns="0" tIns="0" bIns="0" anchor="t">
            <a:noAutofit/>
          </a:bodyPr>
          <a:lstStyle/>
          <a:p>
            <a:pPr algn="l">
              <a:lnSpc>
                <a:spcPts val="1576"/>
              </a:lnSpc>
              <a:spcBef>
                <a:spcPts val="0"/>
              </a:spcBef>
              <a:spcAft>
                <a:spcPts val="0"/>
              </a:spcAft>
            </a:pPr>
            <a:r>
              <a:rPr sz="1225" b="1" i="0" lang="es-CO">
                <a:solidFill>
                  <a:srgbClr val="5C3A1E"/>
                </a:solidFill>
                <a:latin typeface="Playfair Display"/>
              </a:rPr>
              <a:t>3D ilustrado</a:t>
            </a:r>
          </a:p>
        </p:txBody>
      </p:sp>
      <p:sp>
        <p:nvSpPr>
          <p:cNvPr id="21" name="TextBox 20"/>
          <p:cNvSpPr txBox="1"/>
          <p:nvPr/>
        </p:nvSpPr>
        <p:spPr>
          <a:xfrm>
            <a:off x="573206" y="4676519"/>
            <a:ext cx="5545540" cy="366670"/>
          </a:xfrm>
          <a:prstGeom prst="rect">
            <a:avLst/>
          </a:prstGeom>
          <a:noFill/>
        </p:spPr>
        <p:txBody>
          <a:bodyPr wrap="square" lIns="0" rIns="0" tIns="0" bIns="0" anchor="t">
            <a:noAutofit/>
          </a:bodyPr>
          <a:lstStyle/>
          <a:p>
            <a:pPr algn="l">
              <a:lnSpc>
                <a:spcPts val="1443"/>
              </a:lnSpc>
              <a:spcBef>
                <a:spcPts val="0"/>
              </a:spcBef>
              <a:spcAft>
                <a:spcPts val="0"/>
              </a:spcAft>
            </a:pPr>
            <a:r>
              <a:rPr sz="925" b="0" i="0" lang="es-CO">
                <a:solidFill>
                  <a:srgbClr val="5B4A38"/>
                </a:solidFill>
                <a:latin typeface="Outfit"/>
              </a:rPr>
              <a:t>Ilustración 3D cálida y expresiva, con proporciones amables. Mantén rasgos y vestuario consistentes</a:t>
            </a:r>
            <a:br/>
            <a:r>
              <a:rPr sz="925" b="0" i="0" lang="es-CO">
                <a:solidFill>
                  <a:srgbClr val="5B4A38"/>
                </a:solidFill>
                <a:latin typeface="Outfit"/>
              </a:rPr>
              <a:t>en todas sus apariciones.</a:t>
            </a:r>
          </a:p>
        </p:txBody>
      </p:sp>
      <p:sp>
        <p:nvSpPr>
          <p:cNvPr id="22" name="Rounded Rectangle 21"/>
          <p:cNvSpPr/>
          <p:nvPr/>
        </p:nvSpPr>
        <p:spPr>
          <a:xfrm>
            <a:off x="6177887" y="4040306"/>
            <a:ext cx="5650173" cy="1239956"/>
          </a:xfrm>
          <a:prstGeom prst="roundRect">
            <a:avLst>
              <a:gd name="adj" fmla="val 4402"/>
            </a:avLst>
          </a:prstGeom>
          <a:solidFill>
            <a:srgbClr val="D8C39C"/>
          </a:solidFill>
          <a:ln>
            <a:noFill/>
          </a:ln>
        </p:spPr>
        <p:txBody>
          <a:bodyPr rtlCol="0" anchor="ctr"/>
          <a:lstStyle/>
          <a:p>
            <a:pPr algn="ctr"/>
          </a:p>
        </p:txBody>
      </p:sp>
      <p:sp>
        <p:nvSpPr>
          <p:cNvPr id="23" name="Rounded Rectangle 22"/>
          <p:cNvSpPr/>
          <p:nvPr/>
        </p:nvSpPr>
        <p:spPr>
          <a:xfrm>
            <a:off x="6182436" y="4017560"/>
            <a:ext cx="5641075" cy="1230857"/>
          </a:xfrm>
          <a:prstGeom prst="roundRect">
            <a:avLst>
              <a:gd name="adj" fmla="val 4065"/>
            </a:avLst>
          </a:prstGeom>
          <a:solidFill>
            <a:srgbClr val="EFE0C2"/>
          </a:solidFill>
          <a:ln w="9098" cap="flat">
            <a:solidFill>
              <a:srgbClr val="D8C39C"/>
            </a:solidFill>
          </a:ln>
        </p:spPr>
        <p:txBody>
          <a:bodyPr rtlCol="0" anchor="ctr"/>
          <a:lstStyle/>
          <a:p>
            <a:pPr algn="ctr"/>
          </a:p>
        </p:txBody>
      </p:sp>
      <p:sp>
        <p:nvSpPr>
          <p:cNvPr id="24" name="TextBox 23"/>
          <p:cNvSpPr txBox="1"/>
          <p:nvPr/>
        </p:nvSpPr>
        <p:spPr>
          <a:xfrm>
            <a:off x="6387152" y="4222276"/>
            <a:ext cx="882925" cy="127379"/>
          </a:xfrm>
          <a:prstGeom prst="rect">
            <a:avLst/>
          </a:prstGeom>
          <a:noFill/>
        </p:spPr>
        <p:txBody>
          <a:bodyPr wrap="none" lIns="0" rIns="0" tIns="0" bIns="0" anchor="t">
            <a:noAutofit/>
          </a:bodyPr>
          <a:lstStyle/>
          <a:p>
            <a:pPr algn="l">
              <a:lnSpc>
                <a:spcPts val="1002"/>
              </a:lnSpc>
              <a:spcBef>
                <a:spcPts val="0"/>
              </a:spcBef>
              <a:spcAft>
                <a:spcPts val="0"/>
              </a:spcAft>
            </a:pPr>
            <a:r>
              <a:rPr sz="800" b="1" i="0" lang="es-CO" cap="all" spc="63">
                <a:solidFill>
                  <a:srgbClr val="D97224"/>
                </a:solidFill>
                <a:latin typeface="Outfit"/>
              </a:rPr>
              <a:t>Rasgos fijos</a:t>
            </a:r>
          </a:p>
        </p:txBody>
      </p:sp>
      <p:sp>
        <p:nvSpPr>
          <p:cNvPr id="25" name="TextBox 24"/>
          <p:cNvSpPr txBox="1"/>
          <p:nvPr/>
        </p:nvSpPr>
        <p:spPr>
          <a:xfrm>
            <a:off x="6387152" y="4422443"/>
            <a:ext cx="1424002" cy="200167"/>
          </a:xfrm>
          <a:prstGeom prst="rect">
            <a:avLst/>
          </a:prstGeom>
          <a:noFill/>
        </p:spPr>
        <p:txBody>
          <a:bodyPr wrap="none" lIns="0" rIns="0" tIns="0" bIns="0" anchor="t">
            <a:noAutofit/>
          </a:bodyPr>
          <a:lstStyle/>
          <a:p>
            <a:pPr algn="l">
              <a:lnSpc>
                <a:spcPts val="1576"/>
              </a:lnSpc>
              <a:spcBef>
                <a:spcPts val="0"/>
              </a:spcBef>
              <a:spcAft>
                <a:spcPts val="0"/>
              </a:spcAft>
            </a:pPr>
            <a:r>
              <a:rPr sz="1225" b="1" i="0" lang="es-CO">
                <a:solidFill>
                  <a:srgbClr val="5C3A1E"/>
                </a:solidFill>
                <a:latin typeface="Playfair Display"/>
              </a:rPr>
              <a:t>Cómo se reconoce</a:t>
            </a:r>
          </a:p>
        </p:txBody>
      </p:sp>
      <p:sp>
        <p:nvSpPr>
          <p:cNvPr id="26" name="TextBox 25"/>
          <p:cNvSpPr txBox="1"/>
          <p:nvPr/>
        </p:nvSpPr>
        <p:spPr>
          <a:xfrm>
            <a:off x="6387152" y="4676519"/>
            <a:ext cx="5545540" cy="366670"/>
          </a:xfrm>
          <a:prstGeom prst="rect">
            <a:avLst/>
          </a:prstGeom>
          <a:noFill/>
        </p:spPr>
        <p:txBody>
          <a:bodyPr wrap="square" lIns="0" rIns="0" tIns="0" bIns="0" anchor="t">
            <a:noAutofit/>
          </a:bodyPr>
          <a:lstStyle/>
          <a:p>
            <a:pPr algn="l">
              <a:lnSpc>
                <a:spcPts val="1443"/>
              </a:lnSpc>
              <a:spcBef>
                <a:spcPts val="0"/>
              </a:spcBef>
              <a:spcAft>
                <a:spcPts val="0"/>
              </a:spcAft>
            </a:pPr>
            <a:r>
              <a:rPr sz="925" b="0" i="0" lang="es-CO">
                <a:solidFill>
                  <a:srgbClr val="5B4A38"/>
                </a:solidFill>
                <a:latin typeface="Outfit"/>
              </a:rPr>
              <a:t>Gorro de cocinera, gafas redondas, cárdigan tejido color vino sobre camisa a cuadros rojo y blanco</a:t>
            </a:r>
            <a:br/>
            <a:r>
              <a:rPr sz="925" b="0" i="0" lang="es-CO">
                <a:solidFill>
                  <a:srgbClr val="5B4A38"/>
                </a:solidFill>
                <a:latin typeface="Outfit"/>
              </a:rPr>
              <a:t>con corbata azul a rayas, aretes de perla y sonrisa amplia, sosteniendo la olla con ambas manos.</a:t>
            </a:r>
          </a:p>
        </p:txBody>
      </p:sp>
      <p:sp>
        <p:nvSpPr>
          <p:cNvPr id="27" name="Rounded Rectangle 26"/>
          <p:cNvSpPr/>
          <p:nvPr/>
        </p:nvSpPr>
        <p:spPr>
          <a:xfrm>
            <a:off x="363940" y="5444035"/>
            <a:ext cx="5650173" cy="1239956"/>
          </a:xfrm>
          <a:prstGeom prst="roundRect">
            <a:avLst>
              <a:gd name="adj" fmla="val 4402"/>
            </a:avLst>
          </a:prstGeom>
          <a:solidFill>
            <a:srgbClr val="D8C39C"/>
          </a:solidFill>
          <a:ln>
            <a:noFill/>
          </a:ln>
        </p:spPr>
        <p:txBody>
          <a:bodyPr rtlCol="0" anchor="ctr"/>
          <a:lstStyle/>
          <a:p>
            <a:pPr algn="ctr"/>
          </a:p>
        </p:txBody>
      </p:sp>
      <p:sp>
        <p:nvSpPr>
          <p:cNvPr id="28" name="Rounded Rectangle 27"/>
          <p:cNvSpPr/>
          <p:nvPr/>
        </p:nvSpPr>
        <p:spPr>
          <a:xfrm>
            <a:off x="368490" y="5421289"/>
            <a:ext cx="5641075" cy="1230857"/>
          </a:xfrm>
          <a:prstGeom prst="roundRect">
            <a:avLst>
              <a:gd name="adj" fmla="val 4065"/>
            </a:avLst>
          </a:prstGeom>
          <a:solidFill>
            <a:srgbClr val="EFE0C2"/>
          </a:solidFill>
          <a:ln w="9098" cap="flat">
            <a:solidFill>
              <a:srgbClr val="D8C39C"/>
            </a:solidFill>
          </a:ln>
        </p:spPr>
        <p:txBody>
          <a:bodyPr rtlCol="0" anchor="ctr"/>
          <a:lstStyle/>
          <a:p>
            <a:pPr algn="ctr"/>
          </a:p>
        </p:txBody>
      </p:sp>
      <p:sp>
        <p:nvSpPr>
          <p:cNvPr id="29" name="TextBox 28"/>
          <p:cNvSpPr txBox="1"/>
          <p:nvPr/>
        </p:nvSpPr>
        <p:spPr>
          <a:xfrm>
            <a:off x="573206" y="5626005"/>
            <a:ext cx="305937" cy="127379"/>
          </a:xfrm>
          <a:prstGeom prst="rect">
            <a:avLst/>
          </a:prstGeom>
          <a:noFill/>
        </p:spPr>
        <p:txBody>
          <a:bodyPr wrap="none" lIns="0" rIns="0" tIns="0" bIns="0" anchor="t">
            <a:noAutofit/>
          </a:bodyPr>
          <a:lstStyle/>
          <a:p>
            <a:pPr algn="l">
              <a:lnSpc>
                <a:spcPts val="1002"/>
              </a:lnSpc>
              <a:spcBef>
                <a:spcPts val="0"/>
              </a:spcBef>
              <a:spcAft>
                <a:spcPts val="0"/>
              </a:spcAft>
            </a:pPr>
            <a:r>
              <a:rPr sz="800" b="1" i="0" lang="es-CO" cap="all" spc="63">
                <a:solidFill>
                  <a:srgbClr val="D97224"/>
                </a:solidFill>
                <a:latin typeface="Outfit"/>
              </a:rPr>
              <a:t>Uso</a:t>
            </a:r>
          </a:p>
        </p:txBody>
      </p:sp>
      <p:sp>
        <p:nvSpPr>
          <p:cNvPr id="30" name="TextBox 29"/>
          <p:cNvSpPr txBox="1"/>
          <p:nvPr/>
        </p:nvSpPr>
        <p:spPr>
          <a:xfrm>
            <a:off x="573206" y="5826172"/>
            <a:ext cx="1139233" cy="200167"/>
          </a:xfrm>
          <a:prstGeom prst="rect">
            <a:avLst/>
          </a:prstGeom>
          <a:noFill/>
        </p:spPr>
        <p:txBody>
          <a:bodyPr wrap="none" lIns="0" rIns="0" tIns="0" bIns="0" anchor="t">
            <a:noAutofit/>
          </a:bodyPr>
          <a:lstStyle/>
          <a:p>
            <a:pPr algn="l">
              <a:lnSpc>
                <a:spcPts val="1576"/>
              </a:lnSpc>
              <a:spcBef>
                <a:spcPts val="0"/>
              </a:spcBef>
              <a:spcAft>
                <a:spcPts val="0"/>
              </a:spcAft>
            </a:pPr>
            <a:r>
              <a:rPr sz="1225" b="1" i="0" lang="es-CO">
                <a:solidFill>
                  <a:srgbClr val="5C3A1E"/>
                </a:solidFill>
                <a:latin typeface="Playfair Display"/>
              </a:rPr>
              <a:t>Cuándo usarla</a:t>
            </a:r>
          </a:p>
        </p:txBody>
      </p:sp>
      <p:sp>
        <p:nvSpPr>
          <p:cNvPr id="31" name="TextBox 30"/>
          <p:cNvSpPr txBox="1"/>
          <p:nvPr/>
        </p:nvSpPr>
        <p:spPr>
          <a:xfrm>
            <a:off x="573206" y="6080248"/>
            <a:ext cx="5545540" cy="366670"/>
          </a:xfrm>
          <a:prstGeom prst="rect">
            <a:avLst/>
          </a:prstGeom>
          <a:noFill/>
        </p:spPr>
        <p:txBody>
          <a:bodyPr wrap="square" lIns="0" rIns="0" tIns="0" bIns="0" anchor="t">
            <a:noAutofit/>
          </a:bodyPr>
          <a:lstStyle/>
          <a:p>
            <a:pPr algn="l">
              <a:lnSpc>
                <a:spcPts val="1443"/>
              </a:lnSpc>
              <a:spcBef>
                <a:spcPts val="0"/>
              </a:spcBef>
              <a:spcAft>
                <a:spcPts val="0"/>
              </a:spcAft>
            </a:pPr>
            <a:r>
              <a:rPr sz="925" b="0" i="0" lang="es-CO">
                <a:solidFill>
                  <a:srgbClr val="5B4A38"/>
                </a:solidFill>
                <a:latin typeface="Outfit"/>
              </a:rPr>
              <a:t>Puede aparecer en portada, onboarding y como avatar del botón de ayuda. No la uses como foto de</a:t>
            </a:r>
            <a:br/>
            <a:r>
              <a:rPr sz="925" b="0" i="0" lang="es-CO">
                <a:solidFill>
                  <a:srgbClr val="5B4A38"/>
                </a:solidFill>
                <a:latin typeface="Outfit"/>
              </a:rPr>
              <a:t>perfil de una cocinera ni como sustituto de las fotos reales de comida.</a:t>
            </a:r>
          </a:p>
        </p:txBody>
      </p:sp>
      <p:sp>
        <p:nvSpPr>
          <p:cNvPr id="32" name="Rounded Rectangle 31"/>
          <p:cNvSpPr/>
          <p:nvPr/>
        </p:nvSpPr>
        <p:spPr>
          <a:xfrm>
            <a:off x="6177887" y="5444035"/>
            <a:ext cx="5650173" cy="1239956"/>
          </a:xfrm>
          <a:prstGeom prst="roundRect">
            <a:avLst>
              <a:gd name="adj" fmla="val 4402"/>
            </a:avLst>
          </a:prstGeom>
          <a:solidFill>
            <a:srgbClr val="D8C39C"/>
          </a:solidFill>
          <a:ln>
            <a:noFill/>
          </a:ln>
        </p:spPr>
        <p:txBody>
          <a:bodyPr rtlCol="0" anchor="ctr"/>
          <a:lstStyle/>
          <a:p>
            <a:pPr algn="ctr"/>
          </a:p>
        </p:txBody>
      </p:sp>
      <p:sp>
        <p:nvSpPr>
          <p:cNvPr id="33" name="Rounded Rectangle 32"/>
          <p:cNvSpPr/>
          <p:nvPr/>
        </p:nvSpPr>
        <p:spPr>
          <a:xfrm>
            <a:off x="6182436" y="5421289"/>
            <a:ext cx="5641075" cy="1230857"/>
          </a:xfrm>
          <a:prstGeom prst="roundRect">
            <a:avLst>
              <a:gd name="adj" fmla="val 4065"/>
            </a:avLst>
          </a:prstGeom>
          <a:solidFill>
            <a:srgbClr val="EFE0C2"/>
          </a:solidFill>
          <a:ln w="9098" cap="flat">
            <a:solidFill>
              <a:srgbClr val="D8C39C"/>
            </a:solidFill>
          </a:ln>
        </p:spPr>
        <p:txBody>
          <a:bodyPr rtlCol="0" anchor="ctr"/>
          <a:lstStyle/>
          <a:p>
            <a:pPr algn="ctr"/>
          </a:p>
        </p:txBody>
      </p:sp>
      <p:sp>
        <p:nvSpPr>
          <p:cNvPr id="34" name="TextBox 33"/>
          <p:cNvSpPr txBox="1"/>
          <p:nvPr/>
        </p:nvSpPr>
        <p:spPr>
          <a:xfrm>
            <a:off x="6387152" y="5626005"/>
            <a:ext cx="1495780" cy="127379"/>
          </a:xfrm>
          <a:prstGeom prst="rect">
            <a:avLst/>
          </a:prstGeom>
          <a:noFill/>
        </p:spPr>
        <p:txBody>
          <a:bodyPr wrap="none" lIns="0" rIns="0" tIns="0" bIns="0" anchor="t">
            <a:noAutofit/>
          </a:bodyPr>
          <a:lstStyle/>
          <a:p>
            <a:pPr algn="l">
              <a:lnSpc>
                <a:spcPts val="1002"/>
              </a:lnSpc>
              <a:spcBef>
                <a:spcPts val="0"/>
              </a:spcBef>
              <a:spcAft>
                <a:spcPts val="0"/>
              </a:spcAft>
            </a:pPr>
            <a:r>
              <a:rPr sz="800" b="1" i="0" lang="es-CO" cap="all" spc="63">
                <a:solidFill>
                  <a:srgbClr val="D97224"/>
                </a:solidFill>
                <a:latin typeface="Outfit"/>
              </a:rPr>
              <a:t>Personalidad y poses</a:t>
            </a:r>
          </a:p>
        </p:txBody>
      </p:sp>
      <p:sp>
        <p:nvSpPr>
          <p:cNvPr id="35" name="TextBox 34"/>
          <p:cNvSpPr txBox="1"/>
          <p:nvPr/>
        </p:nvSpPr>
        <p:spPr>
          <a:xfrm>
            <a:off x="6387152" y="5826172"/>
            <a:ext cx="4066834" cy="200167"/>
          </a:xfrm>
          <a:prstGeom prst="rect">
            <a:avLst/>
          </a:prstGeom>
          <a:noFill/>
        </p:spPr>
        <p:txBody>
          <a:bodyPr wrap="none" lIns="0" rIns="0" tIns="0" bIns="0" anchor="t">
            <a:noAutofit/>
          </a:bodyPr>
          <a:lstStyle/>
          <a:p>
            <a:pPr algn="l">
              <a:lnSpc>
                <a:spcPts val="1576"/>
              </a:lnSpc>
              <a:spcBef>
                <a:spcPts val="0"/>
              </a:spcBef>
              <a:spcAft>
                <a:spcPts val="0"/>
              </a:spcAft>
            </a:pPr>
            <a:r>
              <a:rPr sz="1225" b="1" i="0" lang="es-CO">
                <a:solidFill>
                  <a:srgbClr val="5C3A1E"/>
                </a:solidFill>
                <a:latin typeface="Playfair Display"/>
              </a:rPr>
              <a:t>Amigable · Cercana · Siempre activa · En tu conjunto</a:t>
            </a:r>
          </a:p>
        </p:txBody>
      </p:sp>
      <p:sp>
        <p:nvSpPr>
          <p:cNvPr id="36" name="TextBox 35"/>
          <p:cNvSpPr txBox="1"/>
          <p:nvPr/>
        </p:nvSpPr>
        <p:spPr>
          <a:xfrm>
            <a:off x="6387152" y="6080248"/>
            <a:ext cx="5545540" cy="366670"/>
          </a:xfrm>
          <a:prstGeom prst="rect">
            <a:avLst/>
          </a:prstGeom>
          <a:noFill/>
        </p:spPr>
        <p:txBody>
          <a:bodyPr wrap="square" lIns="0" rIns="0" tIns="0" bIns="0" anchor="t">
            <a:noAutofit/>
          </a:bodyPr>
          <a:lstStyle/>
          <a:p>
            <a:pPr algn="l">
              <a:lnSpc>
                <a:spcPts val="1443"/>
              </a:lnSpc>
              <a:spcBef>
                <a:spcPts val="0"/>
              </a:spcBef>
              <a:spcAft>
                <a:spcPts val="0"/>
              </a:spcAft>
            </a:pPr>
            <a:r>
              <a:rPr sz="925" b="0" i="0" lang="es-CO">
                <a:solidFill>
                  <a:srgbClr val="5B4A38"/>
                </a:solidFill>
                <a:latin typeface="Outfit"/>
              </a:rPr>
              <a:t>La hoja oficial incluye 4 poses (con mochila de entrega en la última) y 4 expresiones de rostro para</a:t>
            </a:r>
            <a:br/>
            <a:r>
              <a:rPr sz="925" b="0" i="0" lang="es-CO">
                <a:solidFill>
                  <a:srgbClr val="5B4A38"/>
                </a:solidFill>
                <a:latin typeface="Outfit"/>
              </a:rPr>
              <a:t>animaciones y stickers.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06400" y="365760"/>
            <a:ext cx="264160" cy="30480"/>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772160" y="304800"/>
            <a:ext cx="227965" cy="152400"/>
          </a:xfrm>
          <a:prstGeom prst="rect">
            <a:avLst/>
          </a:prstGeom>
          <a:noFill/>
        </p:spPr>
        <p:txBody>
          <a:bodyPr wrap="none" lIns="0" rIns="0" tIns="0" bIns="0" anchor="t">
            <a:noAutofit/>
          </a:bodyPr>
          <a:lstStyle/>
          <a:p>
            <a:pPr algn="l">
              <a:lnSpc>
                <a:spcPts val="1200"/>
              </a:lnSpc>
              <a:spcBef>
                <a:spcPts val="0"/>
              </a:spcBef>
              <a:spcAft>
                <a:spcPts val="0"/>
              </a:spcAft>
            </a:pPr>
            <a:r>
              <a:rPr sz="950" b="1" i="0" lang="es-CO" cap="all" spc="96">
                <a:solidFill>
                  <a:srgbClr val="D97224"/>
                </a:solidFill>
                <a:latin typeface="Outfit"/>
              </a:rPr>
              <a:t>14</a:t>
            </a:r>
          </a:p>
        </p:txBody>
      </p:sp>
      <p:sp>
        <p:nvSpPr>
          <p:cNvPr id="5" name="TextBox 4"/>
          <p:cNvSpPr txBox="1"/>
          <p:nvPr/>
        </p:nvSpPr>
        <p:spPr>
          <a:xfrm>
            <a:off x="1020445" y="304800"/>
            <a:ext cx="1008809" cy="152400"/>
          </a:xfrm>
          <a:prstGeom prst="rect">
            <a:avLst/>
          </a:prstGeom>
          <a:noFill/>
        </p:spPr>
        <p:txBody>
          <a:bodyPr wrap="none" lIns="0" rIns="0" tIns="0" bIns="0" anchor="t">
            <a:noAutofit/>
          </a:bodyPr>
          <a:lstStyle/>
          <a:p>
            <a:pPr algn="l">
              <a:lnSpc>
                <a:spcPts val="1200"/>
              </a:lnSpc>
              <a:spcBef>
                <a:spcPts val="0"/>
              </a:spcBef>
              <a:spcAft>
                <a:spcPts val="0"/>
              </a:spcAft>
            </a:pPr>
            <a:r>
              <a:rPr sz="950" b="1" i="0" lang="es-CO" cap="all" spc="96">
                <a:solidFill>
                  <a:srgbClr val="5B4A38"/>
                </a:solidFill>
                <a:latin typeface="Outfit"/>
              </a:rPr>
              <a:t>/ Personaje</a:t>
            </a:r>
          </a:p>
        </p:txBody>
      </p:sp>
      <p:sp>
        <p:nvSpPr>
          <p:cNvPr id="6" name="TextBox 5"/>
          <p:cNvSpPr txBox="1"/>
          <p:nvPr/>
        </p:nvSpPr>
        <p:spPr>
          <a:xfrm>
            <a:off x="5081429" y="599440"/>
            <a:ext cx="2029142" cy="213360"/>
          </a:xfrm>
          <a:prstGeom prst="rect">
            <a:avLst/>
          </a:prstGeom>
          <a:noFill/>
        </p:spPr>
        <p:txBody>
          <a:bodyPr wrap="none" lIns="0" rIns="0" tIns="0" bIns="0" anchor="t">
            <a:noAutofit/>
          </a:bodyPr>
          <a:lstStyle/>
          <a:p>
            <a:pPr algn="ctr">
              <a:lnSpc>
                <a:spcPts val="1680"/>
              </a:lnSpc>
              <a:spcBef>
                <a:spcPts val="0"/>
              </a:spcBef>
              <a:spcAft>
                <a:spcPts val="0"/>
              </a:spcAft>
            </a:pPr>
            <a:r>
              <a:rPr sz="1275" b="1" i="0" lang="es-CO">
                <a:solidFill>
                  <a:srgbClr val="5C3A1E"/>
                </a:solidFill>
                <a:latin typeface="Playfair Display"/>
              </a:rPr>
              <a:t>Hoja oficial de personaje</a:t>
            </a:r>
          </a:p>
        </p:txBody>
      </p:sp>
      <p:sp>
        <p:nvSpPr>
          <p:cNvPr id="7" name="Rounded Rectangle 6"/>
          <p:cNvSpPr/>
          <p:nvPr/>
        </p:nvSpPr>
        <p:spPr>
          <a:xfrm>
            <a:off x="3474720" y="1036320"/>
            <a:ext cx="5242560" cy="5242560"/>
          </a:xfrm>
          <a:prstGeom prst="roundRect">
            <a:avLst>
              <a:gd name="adj" fmla="val 1550"/>
            </a:avLst>
          </a:prstGeom>
          <a:solidFill>
            <a:srgbClr val="5C3A1E"/>
          </a:solidFill>
          <a:ln>
            <a:noFill/>
          </a:ln>
        </p:spPr>
        <p:txBody>
          <a:bodyPr rtlCol="0" anchor="ctr"/>
          <a:lstStyle/>
          <a:p>
            <a:pPr algn="ctr"/>
          </a:p>
        </p:txBody>
      </p:sp>
      <p:sp>
        <p:nvSpPr>
          <p:cNvPr id="8" name="Rounded Rectangle 7"/>
          <p:cNvSpPr/>
          <p:nvPr/>
        </p:nvSpPr>
        <p:spPr>
          <a:xfrm>
            <a:off x="3505200" y="1005840"/>
            <a:ext cx="5181600" cy="5181600"/>
          </a:xfrm>
          <a:prstGeom prst="roundRect">
            <a:avLst>
              <a:gd name="adj" fmla="val 980"/>
            </a:avLst>
          </a:prstGeom>
          <a:solidFill>
            <a:srgbClr val="111111"/>
          </a:solidFill>
          <a:ln w="101600" cap="flat">
            <a:solidFill>
              <a:srgbClr val="8B5E34"/>
            </a:solidFill>
          </a:ln>
        </p:spPr>
        <p:txBody>
          <a:bodyPr rtlCol="0" anchor="ctr"/>
          <a:lstStyle/>
          <a:p>
            <a:pPr algn="ctr"/>
          </a:p>
        </p:txBody>
      </p:sp>
      <p:pic>
        <p:nvPicPr>
          <p:cNvPr id="9" name="Picture 8" descr="Hoja oficial de la mascota: poses, expresiones y paleta"/>
          <p:cNvPicPr>
            <a:picLocks noChangeAspect="1"/>
          </p:cNvPicPr>
          <p:nvPr/>
        </p:nvPicPr>
        <p:blipFill>
          <a:blip r:embed="rId3"/>
          <a:stretch>
            <a:fillRect/>
          </a:stretch>
        </p:blipFill>
        <p:spPr>
          <a:xfrm>
            <a:off x="3556000" y="1056640"/>
            <a:ext cx="5080000" cy="5080000"/>
          </a:xfrm>
          <a:prstGeom prst="rect">
            <a:avLst/>
          </a:prstGeom>
        </p:spPr>
      </p:pic>
      <p:cxnSp>
        <p:nvCxnSpPr>
          <p:cNvPr id="10" name="Connector 9"/>
          <p:cNvCxnSpPr/>
          <p:nvPr/>
        </p:nvCxnSpPr>
        <p:spPr>
          <a:xfrm>
            <a:off x="406400" y="6421120"/>
            <a:ext cx="11379200" cy="0"/>
          </a:xfrm>
          <a:prstGeom prst="line">
            <a:avLst/>
          </a:prstGeom>
          <a:ln w="20320" cap="flat">
            <a:solidFill>
              <a:srgbClr val="D8C39C"/>
            </a:solidFill>
          </a:ln>
        </p:spPr>
      </p:cxnSp>
      <p:sp>
        <p:nvSpPr>
          <p:cNvPr id="11" name="TextBox 10"/>
          <p:cNvSpPr txBox="1"/>
          <p:nvPr/>
        </p:nvSpPr>
        <p:spPr>
          <a:xfrm>
            <a:off x="406400" y="6553200"/>
            <a:ext cx="2636663" cy="142240"/>
          </a:xfrm>
          <a:prstGeom prst="rect">
            <a:avLst/>
          </a:prstGeom>
          <a:noFill/>
        </p:spPr>
        <p:txBody>
          <a:bodyPr wrap="none" lIns="0" rIns="0" tIns="0" bIns="0" anchor="t">
            <a:noAutofit/>
          </a:bodyPr>
          <a:lstStyle/>
          <a:p>
            <a:pPr algn="l">
              <a:lnSpc>
                <a:spcPts val="1120"/>
              </a:lnSpc>
              <a:spcBef>
                <a:spcPts val="0"/>
              </a:spcBef>
              <a:spcAft>
                <a:spcPts val="0"/>
              </a:spcAft>
            </a:pPr>
            <a:r>
              <a:rPr sz="850" b="0" i="0" lang="es-CO" cap="all" spc="84">
                <a:solidFill>
                  <a:srgbClr val="8A7860"/>
                </a:solidFill>
                <a:latin typeface="Outfit"/>
              </a:rPr>
              <a:t>OllaCercana / Manual de Identidad</a:t>
            </a:r>
          </a:p>
        </p:txBody>
      </p:sp>
      <p:sp>
        <p:nvSpPr>
          <p:cNvPr id="12" name="TextBox 11"/>
          <p:cNvSpPr txBox="1"/>
          <p:nvPr/>
        </p:nvSpPr>
        <p:spPr>
          <a:xfrm>
            <a:off x="11425079" y="6553200"/>
            <a:ext cx="441801" cy="142240"/>
          </a:xfrm>
          <a:prstGeom prst="rect">
            <a:avLst/>
          </a:prstGeom>
          <a:noFill/>
        </p:spPr>
        <p:txBody>
          <a:bodyPr wrap="none" lIns="0" rIns="0" tIns="0" bIns="0" anchor="t">
            <a:noAutofit/>
          </a:bodyPr>
          <a:lstStyle/>
          <a:p>
            <a:pPr algn="l">
              <a:lnSpc>
                <a:spcPts val="1120"/>
              </a:lnSpc>
              <a:spcBef>
                <a:spcPts val="0"/>
              </a:spcBef>
              <a:spcAft>
                <a:spcPts val="0"/>
              </a:spcAft>
            </a:pPr>
            <a:r>
              <a:rPr sz="850" b="1" i="0" lang="es-CO" cap="all" spc="84">
                <a:solidFill>
                  <a:srgbClr val="5C3A1E"/>
                </a:solidFill>
                <a:latin typeface="Playfair Display"/>
              </a:rPr>
              <a:t>14 / 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67081"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15</a:t>
            </a:r>
          </a:p>
        </p:txBody>
      </p:sp>
      <p:sp>
        <p:nvSpPr>
          <p:cNvPr id="5" name="TextBox 4"/>
          <p:cNvSpPr txBox="1"/>
          <p:nvPr/>
        </p:nvSpPr>
        <p:spPr>
          <a:xfrm>
            <a:off x="1218057" y="365760"/>
            <a:ext cx="234423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Referentes de diseño</a:t>
            </a:r>
          </a:p>
        </p:txBody>
      </p:sp>
      <p:sp>
        <p:nvSpPr>
          <p:cNvPr id="6" name="TextBox 5"/>
          <p:cNvSpPr txBox="1"/>
          <p:nvPr/>
        </p:nvSpPr>
        <p:spPr>
          <a:xfrm>
            <a:off x="487680" y="713232"/>
            <a:ext cx="4711313"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2B2117"/>
                </a:solidFill>
                <a:latin typeface="Playfair Display"/>
              </a:rPr>
              <a:t>Qué miramos</a:t>
            </a:r>
          </a:p>
        </p:txBody>
      </p:sp>
      <p:sp>
        <p:nvSpPr>
          <p:cNvPr id="7" name="TextBox 6"/>
          <p:cNvSpPr txBox="1"/>
          <p:nvPr/>
        </p:nvSpPr>
        <p:spPr>
          <a:xfrm>
            <a:off x="487680" y="1395984"/>
            <a:ext cx="6008218" cy="682752"/>
          </a:xfrm>
          <a:prstGeom prst="rect">
            <a:avLst/>
          </a:prstGeom>
          <a:noFill/>
        </p:spPr>
        <p:txBody>
          <a:bodyPr wrap="none" lIns="0" rIns="0" tIns="0" bIns="0" anchor="t">
            <a:noAutofit/>
          </a:bodyPr>
          <a:lstStyle/>
          <a:p>
            <a:pPr algn="l">
              <a:lnSpc>
                <a:spcPts val="5376"/>
              </a:lnSpc>
              <a:spcBef>
                <a:spcPts val="0"/>
              </a:spcBef>
              <a:spcAft>
                <a:spcPts val="0"/>
              </a:spcAft>
            </a:pPr>
            <a:r>
              <a:rPr sz="5375" b="1" i="0" lang="es-CO">
                <a:solidFill>
                  <a:srgbClr val="F0822D"/>
                </a:solidFill>
                <a:latin typeface="Playfair Display"/>
              </a:rPr>
              <a:t>para inspirarnos.</a:t>
            </a:r>
          </a:p>
        </p:txBody>
      </p:sp>
      <p:sp>
        <p:nvSpPr>
          <p:cNvPr id="8" name="TextBox 7"/>
          <p:cNvSpPr txBox="1"/>
          <p:nvPr/>
        </p:nvSpPr>
        <p:spPr>
          <a:xfrm>
            <a:off x="487680" y="2301850"/>
            <a:ext cx="8012582" cy="965606"/>
          </a:xfrm>
          <a:prstGeom prst="rect">
            <a:avLst/>
          </a:prstGeom>
          <a:noFill/>
        </p:spPr>
        <p:txBody>
          <a:bodyPr wrap="square" lIns="0" rIns="0" tIns="0" bIns="0" anchor="t">
            <a:noAutofit/>
          </a:bodyPr>
          <a:lstStyle/>
          <a:p>
            <a:pPr algn="l">
              <a:lnSpc>
                <a:spcPts val="2534"/>
              </a:lnSpc>
              <a:spcBef>
                <a:spcPts val="0"/>
              </a:spcBef>
              <a:spcAft>
                <a:spcPts val="0"/>
              </a:spcAft>
            </a:pPr>
            <a:r>
              <a:rPr sz="1525" b="0" i="0" lang="es-CO">
                <a:solidFill>
                  <a:srgbClr val="5B4A38"/>
                </a:solidFill>
                <a:latin typeface="Outfit"/>
              </a:rPr>
              <a:t>Rappi es el referente principal de interfaz en Colombia: los usuarios ya conocen su</a:t>
            </a:r>
            <a:br/>
            <a:r>
              <a:rPr sz="1525" b="0" i="0" lang="es-CO">
                <a:solidFill>
                  <a:srgbClr val="5B4A38"/>
                </a:solidFill>
                <a:latin typeface="Outfit"/>
              </a:rPr>
              <a:t>forma de buscar, filtrar y pedir. Tomamos esos patrones de uso y los traducimos al</a:t>
            </a:r>
            <a:br/>
            <a:r>
              <a:rPr sz="1525" b="0" i="0" lang="es-CO">
                <a:solidFill>
                  <a:srgbClr val="5B4A38"/>
                </a:solidFill>
                <a:latin typeface="Outfit"/>
              </a:rPr>
              <a:t>universo de OllaCercana.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67081"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15</a:t>
            </a:r>
          </a:p>
        </p:txBody>
      </p:sp>
      <p:sp>
        <p:nvSpPr>
          <p:cNvPr id="5" name="TextBox 4"/>
          <p:cNvSpPr txBox="1"/>
          <p:nvPr/>
        </p:nvSpPr>
        <p:spPr>
          <a:xfrm>
            <a:off x="1218057" y="365760"/>
            <a:ext cx="234423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Referentes de diseño</a:t>
            </a:r>
          </a:p>
        </p:txBody>
      </p:sp>
      <p:sp>
        <p:nvSpPr>
          <p:cNvPr id="6" name="Rounded Rectangle 5"/>
          <p:cNvSpPr/>
          <p:nvPr/>
        </p:nvSpPr>
        <p:spPr>
          <a:xfrm>
            <a:off x="487680" y="1024128"/>
            <a:ext cx="3592449" cy="5290756"/>
          </a:xfrm>
          <a:prstGeom prst="roundRect">
            <a:avLst>
              <a:gd name="adj" fmla="val 2036"/>
            </a:avLst>
          </a:prstGeom>
          <a:solidFill>
            <a:srgbClr val="D8C39C"/>
          </a:solidFill>
          <a:ln>
            <a:noFill/>
          </a:ln>
        </p:spPr>
        <p:txBody>
          <a:bodyPr rtlCol="0" anchor="ctr"/>
          <a:lstStyle/>
          <a:p>
            <a:pPr algn="ctr"/>
          </a:p>
        </p:txBody>
      </p:sp>
      <p:sp>
        <p:nvSpPr>
          <p:cNvPr id="7" name="Rounded Rectangle 6"/>
          <p:cNvSpPr/>
          <p:nvPr/>
        </p:nvSpPr>
        <p:spPr>
          <a:xfrm>
            <a:off x="493776" y="993648"/>
            <a:ext cx="3580257" cy="5278564"/>
          </a:xfrm>
          <a:prstGeom prst="roundRect">
            <a:avLst>
              <a:gd name="adj" fmla="val 1872"/>
            </a:avLst>
          </a:prstGeom>
          <a:solidFill>
            <a:srgbClr val="EFE0C2"/>
          </a:solidFill>
          <a:ln w="12192" cap="flat">
            <a:solidFill>
              <a:srgbClr val="D8C39C"/>
            </a:solidFill>
          </a:ln>
        </p:spPr>
        <p:txBody>
          <a:bodyPr rtlCol="0" anchor="ctr"/>
          <a:lstStyle/>
          <a:p>
            <a:pPr algn="ctr"/>
          </a:p>
        </p:txBody>
      </p:sp>
      <p:cxnSp>
        <p:nvCxnSpPr>
          <p:cNvPr id="8" name="Connector 7"/>
          <p:cNvCxnSpPr/>
          <p:nvPr/>
        </p:nvCxnSpPr>
        <p:spPr>
          <a:xfrm>
            <a:off x="499872" y="2682812"/>
            <a:ext cx="3568065" cy="0"/>
          </a:xfrm>
          <a:prstGeom prst="line">
            <a:avLst/>
          </a:prstGeom>
          <a:ln w="12192" cap="flat">
            <a:solidFill>
              <a:srgbClr val="D8C39C"/>
            </a:solidFill>
          </a:ln>
        </p:spPr>
      </p:cxnSp>
      <p:pic>
        <p:nvPicPr>
          <p:cNvPr id="9" name="Picture 8" descr="Rappi — listado por cercanía"/>
          <p:cNvPicPr>
            <a:picLocks noChangeAspect="1"/>
          </p:cNvPicPr>
          <p:nvPr/>
        </p:nvPicPr>
        <p:blipFill>
          <a:blip r:embed="rId3"/>
          <a:stretch>
            <a:fillRect/>
          </a:stretch>
        </p:blipFill>
        <p:spPr>
          <a:xfrm>
            <a:off x="499872" y="999744"/>
            <a:ext cx="3568065" cy="1676972"/>
          </a:xfrm>
          <a:prstGeom prst="rect">
            <a:avLst/>
          </a:prstGeom>
        </p:spPr>
      </p:pic>
      <p:sp>
        <p:nvSpPr>
          <p:cNvPr id="10" name="TextBox 9"/>
          <p:cNvSpPr txBox="1"/>
          <p:nvPr/>
        </p:nvSpPr>
        <p:spPr>
          <a:xfrm>
            <a:off x="719328" y="2883980"/>
            <a:ext cx="1703222"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Referente 1 · Inicio</a:t>
            </a:r>
          </a:p>
        </p:txBody>
      </p:sp>
      <p:sp>
        <p:nvSpPr>
          <p:cNvPr id="11" name="TextBox 10"/>
          <p:cNvSpPr txBox="1"/>
          <p:nvPr/>
        </p:nvSpPr>
        <p:spPr>
          <a:xfrm>
            <a:off x="719328" y="3152204"/>
            <a:ext cx="3004947"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Rappi — listado por cercanía</a:t>
            </a:r>
          </a:p>
        </p:txBody>
      </p:sp>
      <p:sp>
        <p:nvSpPr>
          <p:cNvPr id="12" name="TextBox 11"/>
          <p:cNvSpPr txBox="1"/>
          <p:nvPr/>
        </p:nvSpPr>
        <p:spPr>
          <a:xfrm>
            <a:off x="719328" y="3492665"/>
            <a:ext cx="3316902" cy="1228344"/>
          </a:xfrm>
          <a:prstGeom prst="rect">
            <a:avLst/>
          </a:prstGeom>
          <a:noFill/>
        </p:spPr>
        <p:txBody>
          <a:bodyPr wrap="square" lIns="0" rIns="0" tIns="0" bIns="0" anchor="t">
            <a:noAutofit/>
          </a:bodyPr>
          <a:lstStyle/>
          <a:p>
            <a:pPr algn="l">
              <a:lnSpc>
                <a:spcPts val="1934"/>
              </a:lnSpc>
              <a:spcBef>
                <a:spcPts val="0"/>
              </a:spcBef>
              <a:spcAft>
                <a:spcPts val="0"/>
              </a:spcAft>
            </a:pPr>
            <a:r>
              <a:rPr sz="1250" b="1" i="0" lang="es-CO">
                <a:solidFill>
                  <a:srgbClr val="5B4A38"/>
                </a:solidFill>
                <a:latin typeface="Outfit"/>
              </a:rPr>
              <a:t>Qué tomamos:</a:t>
            </a:r>
            <a:r>
              <a:rPr sz="1250" b="0" i="0" lang="es-CO">
                <a:solidFill>
                  <a:srgbClr val="5B4A38"/>
                </a:solidFill>
                <a:latin typeface="Outfit"/>
              </a:rPr>
              <a:t> Barra de ubicación y</a:t>
            </a:r>
            <a:br/>
            <a:r>
              <a:rPr sz="1250" b="0" i="0" lang="es-CO">
                <a:solidFill>
                  <a:srgbClr val="5B4A38"/>
                </a:solidFill>
                <a:latin typeface="Outfit"/>
              </a:rPr>
              <a:t>búsqueda arriba, filtros rápidos (Promos,</a:t>
            </a:r>
            <a:br/>
            <a:r>
              <a:rPr sz="1250" b="0" i="0" lang="es-CO">
                <a:solidFill>
                  <a:srgbClr val="5B4A38"/>
                </a:solidFill>
                <a:latin typeface="Outfit"/>
              </a:rPr>
              <a:t>+4.5, 35 min, Nuevos) y tarjetas con foto</a:t>
            </a:r>
            <a:br/>
            <a:r>
              <a:rPr sz="1250" b="0" i="0" lang="es-CO">
                <a:solidFill>
                  <a:srgbClr val="5B4A38"/>
                </a:solidFill>
                <a:latin typeface="Outfit"/>
              </a:rPr>
              <a:t>grande, tiempo de entrega, costo de envío y</a:t>
            </a:r>
            <a:br/>
            <a:r>
              <a:rPr sz="1250" b="0" i="0" lang="es-CO">
                <a:solidFill>
                  <a:srgbClr val="5B4A38"/>
                </a:solidFill>
                <a:latin typeface="Outfit"/>
              </a:rPr>
              <a:t>calificación en una insignia.</a:t>
            </a:r>
          </a:p>
        </p:txBody>
      </p:sp>
      <p:sp>
        <p:nvSpPr>
          <p:cNvPr id="13" name="TextBox 12"/>
          <p:cNvSpPr txBox="1"/>
          <p:nvPr/>
        </p:nvSpPr>
        <p:spPr>
          <a:xfrm>
            <a:off x="719328" y="4817974"/>
            <a:ext cx="3316902" cy="1228344"/>
          </a:xfrm>
          <a:prstGeom prst="rect">
            <a:avLst/>
          </a:prstGeom>
          <a:noFill/>
        </p:spPr>
        <p:txBody>
          <a:bodyPr wrap="square" lIns="0" rIns="0" tIns="0" bIns="0" anchor="t">
            <a:noAutofit/>
          </a:bodyPr>
          <a:lstStyle/>
          <a:p>
            <a:pPr algn="l">
              <a:lnSpc>
                <a:spcPts val="1934"/>
              </a:lnSpc>
              <a:spcBef>
                <a:spcPts val="0"/>
              </a:spcBef>
              <a:spcAft>
                <a:spcPts val="0"/>
              </a:spcAft>
            </a:pPr>
            <a:r>
              <a:rPr sz="1250" b="1" i="0" lang="es-CO">
                <a:solidFill>
                  <a:srgbClr val="5B4A38"/>
                </a:solidFill>
                <a:latin typeface="Outfit"/>
              </a:rPr>
              <a:t>Cómo lo adaptamos:</a:t>
            </a:r>
            <a:r>
              <a:rPr sz="1250" b="0" i="0" lang="es-CO">
                <a:solidFill>
                  <a:srgbClr val="5B4A38"/>
                </a:solidFill>
                <a:latin typeface="Outfit"/>
              </a:rPr>
              <a:t> Mismo orden de</a:t>
            </a:r>
            <a:br/>
            <a:r>
              <a:rPr sz="1250" b="0" i="0" lang="es-CO">
                <a:solidFill>
                  <a:srgbClr val="5B4A38"/>
                </a:solidFill>
                <a:latin typeface="Outfit"/>
              </a:rPr>
              <a:t>lectura, pero el criterio principal es la</a:t>
            </a:r>
            <a:br/>
            <a:r>
              <a:rPr sz="1250" b="0" i="0" lang="es-CO">
                <a:solidFill>
                  <a:srgbClr val="5B4A38"/>
                </a:solidFill>
                <a:latin typeface="Outfit"/>
              </a:rPr>
              <a:t>distancia: la tarjeta muestra la cocina del</a:t>
            </a:r>
            <a:br/>
            <a:r>
              <a:rPr sz="1250" b="0" i="0" lang="es-CO">
                <a:solidFill>
                  <a:srgbClr val="5B4A38"/>
                </a:solidFill>
                <a:latin typeface="Outfit"/>
              </a:rPr>
              <a:t>vecino, cuántos metros está y su calificación,</a:t>
            </a:r>
            <a:br/>
            <a:r>
              <a:rPr sz="1250" b="0" i="0" lang="es-CO">
                <a:solidFill>
                  <a:srgbClr val="5B4A38"/>
                </a:solidFill>
                <a:latin typeface="Outfit"/>
              </a:rPr>
              <a:t>sobre fondo crema y borde madera.</a:t>
            </a:r>
          </a:p>
        </p:txBody>
      </p:sp>
      <p:sp>
        <p:nvSpPr>
          <p:cNvPr id="14" name="Rounded Rectangle 13"/>
          <p:cNvSpPr/>
          <p:nvPr/>
        </p:nvSpPr>
        <p:spPr>
          <a:xfrm>
            <a:off x="4299585" y="1024128"/>
            <a:ext cx="3592640" cy="5290756"/>
          </a:xfrm>
          <a:prstGeom prst="roundRect">
            <a:avLst>
              <a:gd name="adj" fmla="val 2036"/>
            </a:avLst>
          </a:prstGeom>
          <a:solidFill>
            <a:srgbClr val="D8C39C"/>
          </a:solidFill>
          <a:ln>
            <a:noFill/>
          </a:ln>
        </p:spPr>
        <p:txBody>
          <a:bodyPr rtlCol="0" anchor="ctr"/>
          <a:lstStyle/>
          <a:p>
            <a:pPr algn="ctr"/>
          </a:p>
        </p:txBody>
      </p:sp>
      <p:sp>
        <p:nvSpPr>
          <p:cNvPr id="15" name="Rounded Rectangle 14"/>
          <p:cNvSpPr/>
          <p:nvPr/>
        </p:nvSpPr>
        <p:spPr>
          <a:xfrm>
            <a:off x="4305681" y="993648"/>
            <a:ext cx="3580448" cy="5278564"/>
          </a:xfrm>
          <a:prstGeom prst="roundRect">
            <a:avLst>
              <a:gd name="adj" fmla="val 1872"/>
            </a:avLst>
          </a:prstGeom>
          <a:solidFill>
            <a:srgbClr val="EFE0C2"/>
          </a:solidFill>
          <a:ln w="12192" cap="flat">
            <a:solidFill>
              <a:srgbClr val="D8C39C"/>
            </a:solidFill>
          </a:ln>
        </p:spPr>
        <p:txBody>
          <a:bodyPr rtlCol="0" anchor="ctr"/>
          <a:lstStyle/>
          <a:p>
            <a:pPr algn="ctr"/>
          </a:p>
        </p:txBody>
      </p:sp>
      <p:cxnSp>
        <p:nvCxnSpPr>
          <p:cNvPr id="16" name="Connector 15"/>
          <p:cNvCxnSpPr/>
          <p:nvPr/>
        </p:nvCxnSpPr>
        <p:spPr>
          <a:xfrm>
            <a:off x="4311777" y="2694813"/>
            <a:ext cx="3568255" cy="0"/>
          </a:xfrm>
          <a:prstGeom prst="line">
            <a:avLst/>
          </a:prstGeom>
          <a:ln w="12192" cap="flat">
            <a:solidFill>
              <a:srgbClr val="D8C39C"/>
            </a:solidFill>
          </a:ln>
        </p:spPr>
      </p:cxnSp>
      <p:pic>
        <p:nvPicPr>
          <p:cNvPr id="17" name="Picture 16" descr="Rappi — menú lateral"/>
          <p:cNvPicPr>
            <a:picLocks noChangeAspect="1"/>
          </p:cNvPicPr>
          <p:nvPr/>
        </p:nvPicPr>
        <p:blipFill>
          <a:blip r:embed="rId4"/>
          <a:stretch>
            <a:fillRect/>
          </a:stretch>
        </p:blipFill>
        <p:spPr>
          <a:xfrm>
            <a:off x="4311777" y="999744"/>
            <a:ext cx="3568256" cy="1688973"/>
          </a:xfrm>
          <a:prstGeom prst="rect">
            <a:avLst/>
          </a:prstGeom>
        </p:spPr>
      </p:pic>
      <p:sp>
        <p:nvSpPr>
          <p:cNvPr id="18" name="TextBox 17"/>
          <p:cNvSpPr txBox="1"/>
          <p:nvPr/>
        </p:nvSpPr>
        <p:spPr>
          <a:xfrm>
            <a:off x="4531233" y="2895981"/>
            <a:ext cx="2300649"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Referente 2 · Navegación</a:t>
            </a:r>
          </a:p>
        </p:txBody>
      </p:sp>
      <p:sp>
        <p:nvSpPr>
          <p:cNvPr id="19" name="TextBox 18"/>
          <p:cNvSpPr txBox="1"/>
          <p:nvPr/>
        </p:nvSpPr>
        <p:spPr>
          <a:xfrm>
            <a:off x="4531233" y="3164205"/>
            <a:ext cx="2257482"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Rappi — menú lateral</a:t>
            </a:r>
          </a:p>
        </p:txBody>
      </p:sp>
      <p:sp>
        <p:nvSpPr>
          <p:cNvPr id="20" name="TextBox 19"/>
          <p:cNvSpPr txBox="1"/>
          <p:nvPr/>
        </p:nvSpPr>
        <p:spPr>
          <a:xfrm>
            <a:off x="4531233" y="3504667"/>
            <a:ext cx="3317104" cy="982675"/>
          </a:xfrm>
          <a:prstGeom prst="rect">
            <a:avLst/>
          </a:prstGeom>
          <a:noFill/>
        </p:spPr>
        <p:txBody>
          <a:bodyPr wrap="square" lIns="0" rIns="0" tIns="0" bIns="0" anchor="t">
            <a:noAutofit/>
          </a:bodyPr>
          <a:lstStyle/>
          <a:p>
            <a:pPr algn="l">
              <a:lnSpc>
                <a:spcPts val="1934"/>
              </a:lnSpc>
              <a:spcBef>
                <a:spcPts val="0"/>
              </a:spcBef>
              <a:spcAft>
                <a:spcPts val="0"/>
              </a:spcAft>
            </a:pPr>
            <a:r>
              <a:rPr sz="1250" b="1" i="0" lang="es-CO">
                <a:solidFill>
                  <a:srgbClr val="5B4A38"/>
                </a:solidFill>
                <a:latin typeface="Outfit"/>
              </a:rPr>
              <a:t>Qué tomamos:</a:t>
            </a:r>
            <a:r>
              <a:rPr sz="1250" b="0" i="0" lang="es-CO">
                <a:solidFill>
                  <a:srgbClr val="5B4A38"/>
                </a:solidFill>
                <a:latin typeface="Outfit"/>
              </a:rPr>
              <a:t> Menú lateral con secciones</a:t>
            </a:r>
            <a:br/>
            <a:r>
              <a:rPr sz="1250" b="0" i="0" lang="es-CO">
                <a:solidFill>
                  <a:srgbClr val="5B4A38"/>
                </a:solidFill>
                <a:latin typeface="Outfit"/>
              </a:rPr>
              <a:t>claras, botones Ingreso y Registro bien</a:t>
            </a:r>
            <a:br/>
            <a:r>
              <a:rPr sz="1250" b="0" i="0" lang="es-CO">
                <a:solidFill>
                  <a:srgbClr val="5B4A38"/>
                </a:solidFill>
                <a:latin typeface="Outfit"/>
              </a:rPr>
              <a:t>visibles y un acceso directo para que un</a:t>
            </a:r>
            <a:br/>
            <a:r>
              <a:rPr sz="1250" b="0" i="0" lang="es-CO">
                <a:solidFill>
                  <a:srgbClr val="5B4A38"/>
                </a:solidFill>
                <a:latin typeface="Outfit"/>
              </a:rPr>
              <a:t>restaurante se registre.</a:t>
            </a:r>
          </a:p>
        </p:txBody>
      </p:sp>
      <p:sp>
        <p:nvSpPr>
          <p:cNvPr id="21" name="TextBox 20"/>
          <p:cNvSpPr txBox="1"/>
          <p:nvPr/>
        </p:nvSpPr>
        <p:spPr>
          <a:xfrm>
            <a:off x="4531233" y="4584421"/>
            <a:ext cx="3317104" cy="982675"/>
          </a:xfrm>
          <a:prstGeom prst="rect">
            <a:avLst/>
          </a:prstGeom>
          <a:noFill/>
        </p:spPr>
        <p:txBody>
          <a:bodyPr wrap="square" lIns="0" rIns="0" tIns="0" bIns="0" anchor="t">
            <a:noAutofit/>
          </a:bodyPr>
          <a:lstStyle/>
          <a:p>
            <a:pPr algn="l">
              <a:lnSpc>
                <a:spcPts val="1934"/>
              </a:lnSpc>
              <a:spcBef>
                <a:spcPts val="0"/>
              </a:spcBef>
              <a:spcAft>
                <a:spcPts val="0"/>
              </a:spcAft>
            </a:pPr>
            <a:r>
              <a:rPr sz="1250" b="1" i="0" lang="es-CO">
                <a:solidFill>
                  <a:srgbClr val="5B4A38"/>
                </a:solidFill>
                <a:latin typeface="Outfit"/>
              </a:rPr>
              <a:t>Cómo lo adaptamos:</a:t>
            </a:r>
            <a:r>
              <a:rPr sz="1250" b="0" i="0" lang="es-CO">
                <a:solidFill>
                  <a:srgbClr val="5B4A38"/>
                </a:solidFill>
                <a:latin typeface="Outfit"/>
              </a:rPr>
              <a:t> Menú corto con los</a:t>
            </a:r>
            <a:br/>
            <a:r>
              <a:rPr sz="1250" b="0" i="0" lang="es-CO">
                <a:solidFill>
                  <a:srgbClr val="5B4A38"/>
                </a:solidFill>
                <a:latin typeface="Outfit"/>
              </a:rPr>
              <a:t>mismos dos botones en naranja Olla, y la</a:t>
            </a:r>
            <a:br/>
            <a:r>
              <a:rPr sz="1250" b="0" i="0" lang="es-CO">
                <a:solidFill>
                  <a:srgbClr val="5B4A38"/>
                </a:solidFill>
                <a:latin typeface="Outfit"/>
              </a:rPr>
              <a:t>invitación «Registra tu cocina» como puerta</a:t>
            </a:r>
            <a:br/>
            <a:r>
              <a:rPr sz="1250" b="0" i="0" lang="es-CO">
                <a:solidFill>
                  <a:srgbClr val="5B4A38"/>
                </a:solidFill>
                <a:latin typeface="Outfit"/>
              </a:rPr>
              <a:t>de entrada para la cocinera del conjunto.</a:t>
            </a:r>
          </a:p>
        </p:txBody>
      </p:sp>
      <p:sp>
        <p:nvSpPr>
          <p:cNvPr id="22" name="Rounded Rectangle 21"/>
          <p:cNvSpPr/>
          <p:nvPr/>
        </p:nvSpPr>
        <p:spPr>
          <a:xfrm>
            <a:off x="8111680" y="1024128"/>
            <a:ext cx="3592449" cy="5290756"/>
          </a:xfrm>
          <a:prstGeom prst="roundRect">
            <a:avLst>
              <a:gd name="adj" fmla="val 2036"/>
            </a:avLst>
          </a:prstGeom>
          <a:solidFill>
            <a:srgbClr val="D8C39C"/>
          </a:solidFill>
          <a:ln>
            <a:noFill/>
          </a:ln>
        </p:spPr>
        <p:txBody>
          <a:bodyPr rtlCol="0" anchor="ctr"/>
          <a:lstStyle/>
          <a:p>
            <a:pPr algn="ctr"/>
          </a:p>
        </p:txBody>
      </p:sp>
      <p:sp>
        <p:nvSpPr>
          <p:cNvPr id="23" name="Rounded Rectangle 22"/>
          <p:cNvSpPr/>
          <p:nvPr/>
        </p:nvSpPr>
        <p:spPr>
          <a:xfrm>
            <a:off x="8117776" y="993648"/>
            <a:ext cx="3580257" cy="5278564"/>
          </a:xfrm>
          <a:prstGeom prst="roundRect">
            <a:avLst>
              <a:gd name="adj" fmla="val 1872"/>
            </a:avLst>
          </a:prstGeom>
          <a:solidFill>
            <a:srgbClr val="EFE0C2"/>
          </a:solidFill>
          <a:ln w="12192" cap="flat">
            <a:solidFill>
              <a:srgbClr val="D8C39C"/>
            </a:solidFill>
          </a:ln>
        </p:spPr>
        <p:txBody>
          <a:bodyPr rtlCol="0" anchor="ctr"/>
          <a:lstStyle/>
          <a:p>
            <a:pPr algn="ctr"/>
          </a:p>
        </p:txBody>
      </p:sp>
      <p:cxnSp>
        <p:nvCxnSpPr>
          <p:cNvPr id="24" name="Connector 23"/>
          <p:cNvCxnSpPr/>
          <p:nvPr/>
        </p:nvCxnSpPr>
        <p:spPr>
          <a:xfrm>
            <a:off x="8123872" y="2682812"/>
            <a:ext cx="3568066" cy="0"/>
          </a:xfrm>
          <a:prstGeom prst="line">
            <a:avLst/>
          </a:prstGeom>
          <a:ln w="12192" cap="flat">
            <a:solidFill>
              <a:srgbClr val="D8C39C"/>
            </a:solidFill>
          </a:ln>
        </p:spPr>
      </p:cxnSp>
      <p:pic>
        <p:nvPicPr>
          <p:cNvPr id="25" name="Picture 24" descr="Rappi — filtro por categorías"/>
          <p:cNvPicPr>
            <a:picLocks noChangeAspect="1"/>
          </p:cNvPicPr>
          <p:nvPr/>
        </p:nvPicPr>
        <p:blipFill>
          <a:blip r:embed="rId5"/>
          <a:stretch>
            <a:fillRect/>
          </a:stretch>
        </p:blipFill>
        <p:spPr>
          <a:xfrm>
            <a:off x="8123872" y="999744"/>
            <a:ext cx="3568065" cy="1676972"/>
          </a:xfrm>
          <a:prstGeom prst="rect">
            <a:avLst/>
          </a:prstGeom>
        </p:spPr>
      </p:pic>
      <p:sp>
        <p:nvSpPr>
          <p:cNvPr id="26" name="TextBox 25"/>
          <p:cNvSpPr txBox="1"/>
          <p:nvPr/>
        </p:nvSpPr>
        <p:spPr>
          <a:xfrm>
            <a:off x="8343328" y="2883980"/>
            <a:ext cx="1875472"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Referente 3 · Filtros</a:t>
            </a:r>
          </a:p>
        </p:txBody>
      </p:sp>
      <p:sp>
        <p:nvSpPr>
          <p:cNvPr id="27" name="TextBox 26"/>
          <p:cNvSpPr txBox="1"/>
          <p:nvPr/>
        </p:nvSpPr>
        <p:spPr>
          <a:xfrm>
            <a:off x="8343328" y="3152204"/>
            <a:ext cx="3017310"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Rappi — filtro por categorías</a:t>
            </a:r>
          </a:p>
        </p:txBody>
      </p:sp>
      <p:sp>
        <p:nvSpPr>
          <p:cNvPr id="28" name="TextBox 27"/>
          <p:cNvSpPr txBox="1"/>
          <p:nvPr/>
        </p:nvSpPr>
        <p:spPr>
          <a:xfrm>
            <a:off x="8343328" y="3492665"/>
            <a:ext cx="3316902" cy="982675"/>
          </a:xfrm>
          <a:prstGeom prst="rect">
            <a:avLst/>
          </a:prstGeom>
          <a:noFill/>
        </p:spPr>
        <p:txBody>
          <a:bodyPr wrap="square" lIns="0" rIns="0" tIns="0" bIns="0" anchor="t">
            <a:noAutofit/>
          </a:bodyPr>
          <a:lstStyle/>
          <a:p>
            <a:pPr algn="l">
              <a:lnSpc>
                <a:spcPts val="1934"/>
              </a:lnSpc>
              <a:spcBef>
                <a:spcPts val="0"/>
              </a:spcBef>
              <a:spcAft>
                <a:spcPts val="0"/>
              </a:spcAft>
            </a:pPr>
            <a:r>
              <a:rPr sz="1250" b="1" i="0" lang="es-CO">
                <a:solidFill>
                  <a:srgbClr val="5B4A38"/>
                </a:solidFill>
                <a:latin typeface="Outfit"/>
              </a:rPr>
              <a:t>Qué tomamos:</a:t>
            </a:r>
            <a:r>
              <a:rPr sz="1250" b="0" i="0" lang="es-CO">
                <a:solidFill>
                  <a:srgbClr val="5B4A38"/>
                </a:solidFill>
                <a:latin typeface="Outfit"/>
              </a:rPr>
              <a:t> Ventana de filtros con chips</a:t>
            </a:r>
            <a:br/>
            <a:r>
              <a:rPr sz="1250" b="0" i="0" lang="es-CO">
                <a:solidFill>
                  <a:srgbClr val="5B4A38"/>
                </a:solidFill>
                <a:latin typeface="Outfit"/>
              </a:rPr>
              <a:t>de categorías y dos botones de jerarquía</a:t>
            </a:r>
            <a:br/>
            <a:r>
              <a:rPr sz="1250" b="0" i="0" lang="es-CO">
                <a:solidFill>
                  <a:srgbClr val="5B4A38"/>
                </a:solidFill>
                <a:latin typeface="Outfit"/>
              </a:rPr>
              <a:t>distinta: Limpiar (contorno) y Aplicar</a:t>
            </a:r>
            <a:br/>
            <a:r>
              <a:rPr sz="1250" b="0" i="0" lang="es-CO">
                <a:solidFill>
                  <a:srgbClr val="5B4A38"/>
                </a:solidFill>
                <a:latin typeface="Outfit"/>
              </a:rPr>
              <a:t>(relleno).</a:t>
            </a:r>
          </a:p>
        </p:txBody>
      </p:sp>
      <p:sp>
        <p:nvSpPr>
          <p:cNvPr id="29" name="TextBox 28"/>
          <p:cNvSpPr txBox="1"/>
          <p:nvPr/>
        </p:nvSpPr>
        <p:spPr>
          <a:xfrm>
            <a:off x="8343328" y="4572419"/>
            <a:ext cx="3316902" cy="982675"/>
          </a:xfrm>
          <a:prstGeom prst="rect">
            <a:avLst/>
          </a:prstGeom>
          <a:noFill/>
        </p:spPr>
        <p:txBody>
          <a:bodyPr wrap="square" lIns="0" rIns="0" tIns="0" bIns="0" anchor="t">
            <a:noAutofit/>
          </a:bodyPr>
          <a:lstStyle/>
          <a:p>
            <a:pPr algn="l">
              <a:lnSpc>
                <a:spcPts val="1934"/>
              </a:lnSpc>
              <a:spcBef>
                <a:spcPts val="0"/>
              </a:spcBef>
              <a:spcAft>
                <a:spcPts val="0"/>
              </a:spcAft>
            </a:pPr>
            <a:r>
              <a:rPr sz="1250" b="1" i="0" lang="es-CO">
                <a:solidFill>
                  <a:srgbClr val="5B4A38"/>
                </a:solidFill>
                <a:latin typeface="Outfit"/>
              </a:rPr>
              <a:t>Cómo lo adaptamos:</a:t>
            </a:r>
            <a:r>
              <a:rPr sz="1250" b="0" i="0" lang="es-CO">
                <a:solidFill>
                  <a:srgbClr val="5B4A38"/>
                </a:solidFill>
                <a:latin typeface="Outfit"/>
              </a:rPr>
              <a:t> Chips de categorías</a:t>
            </a:r>
            <a:br/>
            <a:r>
              <a:rPr sz="1250" b="0" i="0" lang="es-CO">
                <a:solidFill>
                  <a:srgbClr val="5B4A38"/>
                </a:solidFill>
                <a:latin typeface="Outfit"/>
              </a:rPr>
              <a:t>caseras (sopas, almuerzos, arepas, postres)</a:t>
            </a:r>
            <a:br/>
            <a:r>
              <a:rPr sz="1250" b="0" i="0" lang="es-CO">
                <a:solidFill>
                  <a:srgbClr val="5B4A38"/>
                </a:solidFill>
                <a:latin typeface="Outfit"/>
              </a:rPr>
              <a:t>y la misma jerarquía de botones: Limpiar en</a:t>
            </a:r>
            <a:br/>
            <a:r>
              <a:rPr sz="1250" b="0" i="0" lang="es-CO">
                <a:solidFill>
                  <a:srgbClr val="5B4A38"/>
                </a:solidFill>
                <a:latin typeface="Outfit"/>
              </a:rPr>
              <a:t>contorno y Aplicar en naranja Olla.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67081"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15</a:t>
            </a:r>
          </a:p>
        </p:txBody>
      </p:sp>
      <p:sp>
        <p:nvSpPr>
          <p:cNvPr id="5" name="TextBox 4"/>
          <p:cNvSpPr txBox="1"/>
          <p:nvPr/>
        </p:nvSpPr>
        <p:spPr>
          <a:xfrm>
            <a:off x="1218057" y="365760"/>
            <a:ext cx="234423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Referentes de diseño</a:t>
            </a:r>
          </a:p>
        </p:txBody>
      </p:sp>
      <p:sp>
        <p:nvSpPr>
          <p:cNvPr id="6" name="Rounded Rectangle 5"/>
          <p:cNvSpPr/>
          <p:nvPr/>
        </p:nvSpPr>
        <p:spPr>
          <a:xfrm>
            <a:off x="487680" y="975360"/>
            <a:ext cx="11216640" cy="1661541"/>
          </a:xfrm>
          <a:prstGeom prst="roundRect">
            <a:avLst>
              <a:gd name="adj" fmla="val 4402"/>
            </a:avLst>
          </a:prstGeom>
          <a:solidFill>
            <a:srgbClr val="D8C39C"/>
          </a:solidFill>
          <a:ln>
            <a:noFill/>
          </a:ln>
        </p:spPr>
        <p:txBody>
          <a:bodyPr rtlCol="0" anchor="ctr"/>
          <a:lstStyle/>
          <a:p>
            <a:pPr algn="ctr"/>
          </a:p>
        </p:txBody>
      </p:sp>
      <p:sp>
        <p:nvSpPr>
          <p:cNvPr id="7" name="Rounded Rectangle 6"/>
          <p:cNvSpPr/>
          <p:nvPr/>
        </p:nvSpPr>
        <p:spPr>
          <a:xfrm>
            <a:off x="493776" y="944880"/>
            <a:ext cx="11204448" cy="1649349"/>
          </a:xfrm>
          <a:prstGeom prst="roundRect">
            <a:avLst>
              <a:gd name="adj" fmla="val 4065"/>
            </a:avLst>
          </a:prstGeom>
          <a:solidFill>
            <a:srgbClr val="EFE0C2"/>
          </a:solidFill>
          <a:ln w="12192" cap="flat">
            <a:solidFill>
              <a:srgbClr val="D8C39C"/>
            </a:solidFill>
          </a:ln>
        </p:spPr>
        <p:txBody>
          <a:bodyPr rtlCol="0" anchor="ctr"/>
          <a:lstStyle/>
          <a:p>
            <a:pPr algn="ctr"/>
          </a:p>
        </p:txBody>
      </p:sp>
      <p:sp>
        <p:nvSpPr>
          <p:cNvPr id="8" name="TextBox 7"/>
          <p:cNvSpPr txBox="1"/>
          <p:nvPr/>
        </p:nvSpPr>
        <p:spPr>
          <a:xfrm>
            <a:off x="768096" y="1219200"/>
            <a:ext cx="2386355" cy="170688"/>
          </a:xfrm>
          <a:prstGeom prst="rect">
            <a:avLst/>
          </a:prstGeom>
          <a:noFill/>
        </p:spPr>
        <p:txBody>
          <a:bodyPr wrap="none" lIns="0" rIns="0" tIns="0" bIns="0" anchor="t">
            <a:noAutofit/>
          </a:bodyPr>
          <a:lstStyle/>
          <a:p>
            <a:pPr algn="l">
              <a:lnSpc>
                <a:spcPts val="1344"/>
              </a:lnSpc>
              <a:spcBef>
                <a:spcPts val="0"/>
              </a:spcBef>
              <a:spcAft>
                <a:spcPts val="0"/>
              </a:spcAft>
            </a:pPr>
            <a:r>
              <a:rPr sz="1050" b="1" i="0" lang="es-CO" cap="all" spc="84">
                <a:solidFill>
                  <a:srgbClr val="D97224"/>
                </a:solidFill>
                <a:latin typeface="Outfit"/>
              </a:rPr>
              <a:t>Dónde nos diferenciamos</a:t>
            </a:r>
          </a:p>
        </p:txBody>
      </p:sp>
      <p:sp>
        <p:nvSpPr>
          <p:cNvPr id="9" name="TextBox 8"/>
          <p:cNvSpPr txBox="1"/>
          <p:nvPr/>
        </p:nvSpPr>
        <p:spPr>
          <a:xfrm>
            <a:off x="768096" y="1487424"/>
            <a:ext cx="2604706" cy="268224"/>
          </a:xfrm>
          <a:prstGeom prst="rect">
            <a:avLst/>
          </a:prstGeom>
          <a:noFill/>
        </p:spPr>
        <p:txBody>
          <a:bodyPr wrap="none" lIns="0" rIns="0" tIns="0" bIns="0" anchor="t">
            <a:noAutofit/>
          </a:bodyPr>
          <a:lstStyle/>
          <a:p>
            <a:pPr algn="l">
              <a:lnSpc>
                <a:spcPts val="2111"/>
              </a:lnSpc>
              <a:spcBef>
                <a:spcPts val="0"/>
              </a:spcBef>
              <a:spcAft>
                <a:spcPts val="0"/>
              </a:spcAft>
            </a:pPr>
            <a:r>
              <a:rPr sz="1625" b="1" i="0" lang="es-CO">
                <a:solidFill>
                  <a:srgbClr val="5C3A1E"/>
                </a:solidFill>
                <a:latin typeface="Playfair Display"/>
              </a:rPr>
              <a:t>Del restaurante al vecino</a:t>
            </a:r>
          </a:p>
        </p:txBody>
      </p:sp>
      <p:sp>
        <p:nvSpPr>
          <p:cNvPr id="10" name="TextBox 9"/>
          <p:cNvSpPr txBox="1"/>
          <p:nvPr/>
        </p:nvSpPr>
        <p:spPr>
          <a:xfrm>
            <a:off x="768096" y="1827886"/>
            <a:ext cx="11295156" cy="491338"/>
          </a:xfrm>
          <a:prstGeom prst="rect">
            <a:avLst/>
          </a:prstGeom>
          <a:noFill/>
        </p:spPr>
        <p:txBody>
          <a:bodyPr wrap="square" lIns="0" rIns="0" tIns="0" bIns="0" anchor="t">
            <a:noAutofit/>
          </a:bodyPr>
          <a:lstStyle/>
          <a:p>
            <a:pPr algn="l">
              <a:lnSpc>
                <a:spcPts val="1934"/>
              </a:lnSpc>
              <a:spcBef>
                <a:spcPts val="0"/>
              </a:spcBef>
              <a:spcAft>
                <a:spcPts val="0"/>
              </a:spcAft>
            </a:pPr>
            <a:r>
              <a:rPr sz="1250" b="0" i="0" lang="es-CO">
                <a:solidFill>
                  <a:srgbClr val="5B4A38"/>
                </a:solidFill>
                <a:latin typeface="Outfit"/>
              </a:rPr>
              <a:t>Rappi vende rapidez y volumen entre restaurantes, con fotografía comercial y colores coral y verde menta. OllaCercana vende cercanía y confianza:</a:t>
            </a:r>
            <a:br/>
            <a:r>
              <a:rPr sz="1250" b="0" i="0" lang="es-CO">
                <a:solidFill>
                  <a:srgbClr val="5B4A38"/>
                </a:solidFill>
                <a:latin typeface="Outfit"/>
              </a:rPr>
              <a:t>cocineras reales del conjunto, paleta cálida crema y madera, y una mascota, la abuela, que le da cara humana a cada pedido.</a:t>
            </a:r>
          </a:p>
        </p:txBody>
      </p:sp>
      <p:sp>
        <p:nvSpPr>
          <p:cNvPr id="11" name="TextBox 10"/>
          <p:cNvSpPr txBox="1"/>
          <p:nvPr/>
        </p:nvSpPr>
        <p:spPr>
          <a:xfrm>
            <a:off x="487680" y="2746629"/>
            <a:ext cx="6948678" cy="170688"/>
          </a:xfrm>
          <a:prstGeom prst="rect">
            <a:avLst/>
          </a:prstGeom>
          <a:noFill/>
        </p:spPr>
        <p:txBody>
          <a:bodyPr wrap="none" lIns="0" rIns="0" tIns="0" bIns="0" anchor="t">
            <a:noAutofit/>
          </a:bodyPr>
          <a:lstStyle/>
          <a:p>
            <a:pPr algn="l">
              <a:lnSpc>
                <a:spcPts val="1344"/>
              </a:lnSpc>
              <a:spcBef>
                <a:spcPts val="0"/>
              </a:spcBef>
              <a:spcAft>
                <a:spcPts val="0"/>
              </a:spcAft>
            </a:pPr>
            <a:r>
              <a:rPr sz="1050" b="0" i="0" lang="es-CO">
                <a:solidFill>
                  <a:srgbClr val="8A7860"/>
                </a:solidFill>
                <a:latin typeface="Outfit"/>
              </a:rPr>
              <a:t>Capturas de la web de Rappi Colombia (Bogotá), usadas con fines académicos como referencia de interfaz.</a:t>
            </a:r>
          </a:p>
        </p:txBody>
      </p:sp>
      <p:cxnSp>
        <p:nvCxnSpPr>
          <p:cNvPr id="12" name="Connector 11"/>
          <p:cNvCxnSpPr/>
          <p:nvPr/>
        </p:nvCxnSpPr>
        <p:spPr>
          <a:xfrm>
            <a:off x="487680" y="6327648"/>
            <a:ext cx="11216640" cy="0"/>
          </a:xfrm>
          <a:prstGeom prst="line">
            <a:avLst/>
          </a:prstGeom>
          <a:ln w="24384" cap="flat">
            <a:solidFill>
              <a:srgbClr val="D8C39C"/>
            </a:solidFill>
          </a:ln>
        </p:spPr>
      </p:cxnSp>
      <p:sp>
        <p:nvSpPr>
          <p:cNvPr id="13" name="TextBox 12"/>
          <p:cNvSpPr txBox="1"/>
          <p:nvPr/>
        </p:nvSpPr>
        <p:spPr>
          <a:xfrm>
            <a:off x="487680" y="6486144"/>
            <a:ext cx="3163995"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 de Identidad</a:t>
            </a:r>
          </a:p>
        </p:txBody>
      </p:sp>
      <p:sp>
        <p:nvSpPr>
          <p:cNvPr id="14" name="TextBox 13"/>
          <p:cNvSpPr txBox="1"/>
          <p:nvPr/>
        </p:nvSpPr>
        <p:spPr>
          <a:xfrm>
            <a:off x="11282744" y="6486144"/>
            <a:ext cx="519112"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15 / 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3E7"/>
        </a:solidFill>
        <a:effectLst/>
      </p:bgPr>
    </p:bg>
    <p:spTree>
      <p:nvGrpSpPr>
        <p:cNvPr id="1" name=""/>
        <p:cNvGrpSpPr/>
        <p:nvPr/>
      </p:nvGrpSpPr>
      <p:grpSpPr/>
      <p:pic>
        <p:nvPicPr>
          <p:cNvPr id="2" name="Fondo" descr="Fondo ilustrado del manual"/>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487680" y="438912"/>
            <a:ext cx="316992" cy="36576"/>
          </a:xfrm>
          <a:prstGeom prst="roundRect">
            <a:avLst>
              <a:gd name="adj" fmla="val 50000"/>
            </a:avLst>
          </a:prstGeom>
          <a:solidFill>
            <a:srgbClr val="F0822D"/>
          </a:solidFill>
          <a:ln>
            <a:noFill/>
          </a:ln>
        </p:spPr>
        <p:txBody>
          <a:bodyPr rtlCol="0" anchor="ctr"/>
          <a:lstStyle/>
          <a:p>
            <a:pPr algn="ctr"/>
          </a:p>
        </p:txBody>
      </p:sp>
      <p:sp>
        <p:nvSpPr>
          <p:cNvPr id="4" name="TextBox 3"/>
          <p:cNvSpPr txBox="1"/>
          <p:nvPr/>
        </p:nvSpPr>
        <p:spPr>
          <a:xfrm>
            <a:off x="926592" y="365760"/>
            <a:ext cx="268605"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D97224"/>
                </a:solidFill>
                <a:latin typeface="Outfit"/>
              </a:rPr>
              <a:t>16</a:t>
            </a:r>
          </a:p>
        </p:txBody>
      </p:sp>
      <p:sp>
        <p:nvSpPr>
          <p:cNvPr id="5" name="TextBox 4"/>
          <p:cNvSpPr txBox="1"/>
          <p:nvPr/>
        </p:nvSpPr>
        <p:spPr>
          <a:xfrm>
            <a:off x="1219581" y="365760"/>
            <a:ext cx="1948396" cy="182880"/>
          </a:xfrm>
          <a:prstGeom prst="rect">
            <a:avLst/>
          </a:prstGeom>
          <a:noFill/>
        </p:spPr>
        <p:txBody>
          <a:bodyPr wrap="none" lIns="0" rIns="0" tIns="0" bIns="0" anchor="t">
            <a:noAutofit/>
          </a:bodyPr>
          <a:lstStyle/>
          <a:p>
            <a:pPr algn="l">
              <a:lnSpc>
                <a:spcPts val="1439"/>
              </a:lnSpc>
              <a:spcBef>
                <a:spcPts val="0"/>
              </a:spcBef>
              <a:spcAft>
                <a:spcPts val="0"/>
              </a:spcAft>
            </a:pPr>
            <a:r>
              <a:rPr sz="1150" b="1" i="0" lang="es-CO" cap="all" spc="115">
                <a:solidFill>
                  <a:srgbClr val="5B4A38"/>
                </a:solidFill>
                <a:latin typeface="Outfit"/>
              </a:rPr>
              <a:t>/ Cierre - Filosofía</a:t>
            </a:r>
          </a:p>
        </p:txBody>
      </p:sp>
      <p:sp>
        <p:nvSpPr>
          <p:cNvPr id="6" name="TextBox 5"/>
          <p:cNvSpPr txBox="1"/>
          <p:nvPr/>
        </p:nvSpPr>
        <p:spPr>
          <a:xfrm>
            <a:off x="4098569" y="713232"/>
            <a:ext cx="3994861" cy="682752"/>
          </a:xfrm>
          <a:prstGeom prst="rect">
            <a:avLst/>
          </a:prstGeom>
          <a:noFill/>
        </p:spPr>
        <p:txBody>
          <a:bodyPr wrap="none" lIns="0" rIns="0" tIns="0" bIns="0" anchor="t">
            <a:noAutofit/>
          </a:bodyPr>
          <a:lstStyle/>
          <a:p>
            <a:pPr algn="ctr">
              <a:lnSpc>
                <a:spcPts val="5376"/>
              </a:lnSpc>
              <a:spcBef>
                <a:spcPts val="0"/>
              </a:spcBef>
              <a:spcAft>
                <a:spcPts val="0"/>
              </a:spcAft>
            </a:pPr>
            <a:r>
              <a:rPr sz="5375" b="1" i="0" lang="es-CO">
                <a:solidFill>
                  <a:srgbClr val="2B2117"/>
                </a:solidFill>
                <a:latin typeface="Playfair Display"/>
              </a:rPr>
              <a:t>Lo cercano.</a:t>
            </a:r>
          </a:p>
        </p:txBody>
      </p:sp>
      <p:sp>
        <p:nvSpPr>
          <p:cNvPr id="7" name="TextBox 6"/>
          <p:cNvSpPr txBox="1"/>
          <p:nvPr/>
        </p:nvSpPr>
        <p:spPr>
          <a:xfrm>
            <a:off x="4564609" y="1395984"/>
            <a:ext cx="3062783" cy="682752"/>
          </a:xfrm>
          <a:prstGeom prst="rect">
            <a:avLst/>
          </a:prstGeom>
          <a:noFill/>
        </p:spPr>
        <p:txBody>
          <a:bodyPr wrap="none" lIns="0" rIns="0" tIns="0" bIns="0" anchor="t">
            <a:noAutofit/>
          </a:bodyPr>
          <a:lstStyle/>
          <a:p>
            <a:pPr algn="ctr">
              <a:lnSpc>
                <a:spcPts val="5376"/>
              </a:lnSpc>
              <a:spcBef>
                <a:spcPts val="0"/>
              </a:spcBef>
              <a:spcAft>
                <a:spcPts val="0"/>
              </a:spcAft>
            </a:pPr>
            <a:r>
              <a:rPr sz="5375" b="1" i="0" lang="es-CO">
                <a:solidFill>
                  <a:srgbClr val="2B2117"/>
                </a:solidFill>
                <a:latin typeface="Playfair Display"/>
              </a:rPr>
              <a:t>También</a:t>
            </a:r>
          </a:p>
        </p:txBody>
      </p:sp>
      <p:sp>
        <p:nvSpPr>
          <p:cNvPr id="8" name="TextBox 7"/>
          <p:cNvSpPr txBox="1"/>
          <p:nvPr/>
        </p:nvSpPr>
        <p:spPr>
          <a:xfrm>
            <a:off x="4480798" y="2078736"/>
            <a:ext cx="3230213" cy="682752"/>
          </a:xfrm>
          <a:prstGeom prst="rect">
            <a:avLst/>
          </a:prstGeom>
          <a:noFill/>
        </p:spPr>
        <p:txBody>
          <a:bodyPr wrap="none" lIns="0" rIns="0" tIns="0" bIns="0" anchor="t">
            <a:noAutofit/>
          </a:bodyPr>
          <a:lstStyle/>
          <a:p>
            <a:pPr algn="ctr">
              <a:lnSpc>
                <a:spcPts val="5376"/>
              </a:lnSpc>
              <a:spcBef>
                <a:spcPts val="0"/>
              </a:spcBef>
              <a:spcAft>
                <a:spcPts val="0"/>
              </a:spcAft>
            </a:pPr>
            <a:r>
              <a:rPr sz="5375" b="1" i="0" lang="es-CO">
                <a:solidFill>
                  <a:srgbClr val="F0822D"/>
                </a:solidFill>
                <a:latin typeface="Playfair Display"/>
              </a:rPr>
              <a:t>alimenta.</a:t>
            </a:r>
          </a:p>
        </p:txBody>
      </p:sp>
      <p:cxnSp>
        <p:nvCxnSpPr>
          <p:cNvPr id="9" name="Connector 8"/>
          <p:cNvCxnSpPr/>
          <p:nvPr/>
        </p:nvCxnSpPr>
        <p:spPr>
          <a:xfrm>
            <a:off x="3438144" y="3035808"/>
            <a:ext cx="0" cy="890016"/>
          </a:xfrm>
          <a:prstGeom prst="line">
            <a:avLst/>
          </a:prstGeom>
          <a:ln w="48768" cap="flat">
            <a:solidFill>
              <a:srgbClr val="F0822D"/>
            </a:solidFill>
          </a:ln>
        </p:spPr>
      </p:cxnSp>
      <p:sp>
        <p:nvSpPr>
          <p:cNvPr id="10" name="TextBox 9"/>
          <p:cNvSpPr txBox="1"/>
          <p:nvPr/>
        </p:nvSpPr>
        <p:spPr>
          <a:xfrm>
            <a:off x="3503981" y="3035808"/>
            <a:ext cx="5427878" cy="633984"/>
          </a:xfrm>
          <a:prstGeom prst="rect">
            <a:avLst/>
          </a:prstGeom>
          <a:noFill/>
        </p:spPr>
        <p:txBody>
          <a:bodyPr wrap="square" lIns="0" rIns="0" tIns="0" bIns="0" anchor="t">
            <a:noAutofit/>
          </a:bodyPr>
          <a:lstStyle/>
          <a:p>
            <a:pPr algn="ctr">
              <a:lnSpc>
                <a:spcPts val="2496"/>
              </a:lnSpc>
              <a:spcBef>
                <a:spcPts val="0"/>
              </a:spcBef>
              <a:spcAft>
                <a:spcPts val="0"/>
              </a:spcAft>
            </a:pPr>
            <a:r>
              <a:rPr sz="1825" b="0" i="1" lang="es-CO">
                <a:solidFill>
                  <a:srgbClr val="2B2117"/>
                </a:solidFill>
                <a:latin typeface="Playfair Display"/>
              </a:rPr>
              <a:t>"La confianza de comer lo que el vecino preparó a la</a:t>
            </a:r>
            <a:br/>
            <a:r>
              <a:rPr sz="1825" b="0" i="1" lang="es-CO">
                <a:solidFill>
                  <a:srgbClr val="2B2117"/>
                </a:solidFill>
                <a:latin typeface="Playfair Display"/>
              </a:rPr>
              <a:t>vuelta de la esquina."</a:t>
            </a:r>
          </a:p>
        </p:txBody>
      </p:sp>
      <p:sp>
        <p:nvSpPr>
          <p:cNvPr id="11" name="TextBox 10"/>
          <p:cNvSpPr txBox="1"/>
          <p:nvPr/>
        </p:nvSpPr>
        <p:spPr>
          <a:xfrm>
            <a:off x="5263639" y="3767328"/>
            <a:ext cx="1908372" cy="158496"/>
          </a:xfrm>
          <a:prstGeom prst="rect">
            <a:avLst/>
          </a:prstGeom>
          <a:noFill/>
        </p:spPr>
        <p:txBody>
          <a:bodyPr wrap="none" lIns="0" rIns="0" tIns="0" bIns="0" anchor="t">
            <a:noAutofit/>
          </a:bodyPr>
          <a:lstStyle/>
          <a:p>
            <a:pPr algn="ctr">
              <a:lnSpc>
                <a:spcPts val="1248"/>
              </a:lnSpc>
              <a:spcBef>
                <a:spcPts val="0"/>
              </a:spcBef>
              <a:spcAft>
                <a:spcPts val="0"/>
              </a:spcAft>
            </a:pPr>
            <a:r>
              <a:rPr sz="950" b="0" i="0" lang="es-CO" cap="all" spc="96">
                <a:solidFill>
                  <a:srgbClr val="8A7860"/>
                </a:solidFill>
                <a:latin typeface="Outfit"/>
              </a:rPr>
              <a:t>Filosofía de identidad</a:t>
            </a:r>
          </a:p>
        </p:txBody>
      </p:sp>
      <p:sp>
        <p:nvSpPr>
          <p:cNvPr id="12" name="TextBox 11"/>
          <p:cNvSpPr txBox="1"/>
          <p:nvPr/>
        </p:nvSpPr>
        <p:spPr>
          <a:xfrm>
            <a:off x="5267858" y="4218432"/>
            <a:ext cx="1656283" cy="182880"/>
          </a:xfrm>
          <a:prstGeom prst="rect">
            <a:avLst/>
          </a:prstGeom>
          <a:noFill/>
        </p:spPr>
        <p:txBody>
          <a:bodyPr wrap="none" lIns="0" rIns="0" tIns="0" bIns="0" anchor="t">
            <a:noAutofit/>
          </a:bodyPr>
          <a:lstStyle/>
          <a:p>
            <a:pPr algn="ctr">
              <a:lnSpc>
                <a:spcPts val="1439"/>
              </a:lnSpc>
              <a:spcBef>
                <a:spcPts val="0"/>
              </a:spcBef>
              <a:spcAft>
                <a:spcPts val="0"/>
              </a:spcAft>
            </a:pPr>
            <a:r>
              <a:rPr sz="1150" b="1" i="0" lang="es-CO">
                <a:solidFill>
                  <a:srgbClr val="2B2117"/>
                </a:solidFill>
                <a:latin typeface="Outfit"/>
              </a:rPr>
              <a:t>OLLACERCANA · </a:t>
            </a:r>
            <a:r>
              <a:rPr sz="1150" b="1" i="0" lang="es-CO">
                <a:solidFill>
                  <a:srgbClr val="4A9C55"/>
                </a:solidFill>
                <a:latin typeface="Outfit"/>
              </a:rPr>
              <a:t>2026</a:t>
            </a:r>
          </a:p>
        </p:txBody>
      </p:sp>
      <p:cxnSp>
        <p:nvCxnSpPr>
          <p:cNvPr id="13" name="Connector 12"/>
          <p:cNvCxnSpPr/>
          <p:nvPr/>
        </p:nvCxnSpPr>
        <p:spPr>
          <a:xfrm>
            <a:off x="487680" y="5998464"/>
            <a:ext cx="11216640" cy="0"/>
          </a:xfrm>
          <a:prstGeom prst="line">
            <a:avLst/>
          </a:prstGeom>
          <a:ln w="24384" cap="flat">
            <a:solidFill>
              <a:srgbClr val="D8C39C"/>
            </a:solidFill>
          </a:ln>
        </p:spPr>
      </p:cxnSp>
      <p:sp>
        <p:nvSpPr>
          <p:cNvPr id="14" name="TextBox 13"/>
          <p:cNvSpPr txBox="1"/>
          <p:nvPr/>
        </p:nvSpPr>
        <p:spPr>
          <a:xfrm>
            <a:off x="487680" y="6156960"/>
            <a:ext cx="1982972" cy="170688"/>
          </a:xfrm>
          <a:prstGeom prst="rect">
            <a:avLst/>
          </a:prstGeom>
          <a:noFill/>
        </p:spPr>
        <p:txBody>
          <a:bodyPr wrap="none" lIns="0" rIns="0" tIns="0" bIns="0" anchor="t">
            <a:noAutofit/>
          </a:bodyPr>
          <a:lstStyle/>
          <a:p>
            <a:pPr algn="l">
              <a:lnSpc>
                <a:spcPts val="1344"/>
              </a:lnSpc>
              <a:spcBef>
                <a:spcPts val="0"/>
              </a:spcBef>
              <a:spcAft>
                <a:spcPts val="0"/>
              </a:spcAft>
            </a:pPr>
            <a:r>
              <a:rPr sz="1000" b="0" i="0" lang="es-CO" cap="all" spc="101">
                <a:solidFill>
                  <a:srgbClr val="8A7860"/>
                </a:solidFill>
                <a:latin typeface="Outfit"/>
              </a:rPr>
              <a:t>OllaCercana / Manual</a:t>
            </a:r>
          </a:p>
        </p:txBody>
      </p:sp>
      <p:sp>
        <p:nvSpPr>
          <p:cNvPr id="15" name="TextBox 14"/>
          <p:cNvSpPr txBox="1"/>
          <p:nvPr/>
        </p:nvSpPr>
        <p:spPr>
          <a:xfrm>
            <a:off x="11266170" y="6156960"/>
            <a:ext cx="535686" cy="170688"/>
          </a:xfrm>
          <a:prstGeom prst="rect">
            <a:avLst/>
          </a:prstGeom>
          <a:noFill/>
        </p:spPr>
        <p:txBody>
          <a:bodyPr wrap="none" lIns="0" rIns="0" tIns="0" bIns="0" anchor="t">
            <a:noAutofit/>
          </a:bodyPr>
          <a:lstStyle/>
          <a:p>
            <a:pPr algn="l">
              <a:lnSpc>
                <a:spcPts val="1344"/>
              </a:lnSpc>
              <a:spcBef>
                <a:spcPts val="0"/>
              </a:spcBef>
              <a:spcAft>
                <a:spcPts val="0"/>
              </a:spcAft>
            </a:pPr>
            <a:r>
              <a:rPr sz="1000" b="1" i="0" lang="es-CO" cap="all" spc="101">
                <a:solidFill>
                  <a:srgbClr val="5C3A1E"/>
                </a:solidFill>
                <a:latin typeface="Playfair Display"/>
              </a:rPr>
              <a:t>16 / 16</a:t>
            </a:r>
          </a:p>
        </p:txBody>
      </p:sp>
      <p:sp>
        <p:nvSpPr>
          <p:cNvPr id="16" name="TextBox 15"/>
          <p:cNvSpPr txBox="1"/>
          <p:nvPr/>
        </p:nvSpPr>
        <p:spPr>
          <a:xfrm>
            <a:off x="2801045" y="6498336"/>
            <a:ext cx="6589719" cy="158496"/>
          </a:xfrm>
          <a:prstGeom prst="rect">
            <a:avLst/>
          </a:prstGeom>
          <a:noFill/>
        </p:spPr>
        <p:txBody>
          <a:bodyPr wrap="none" lIns="0" rIns="0" tIns="0" bIns="0" anchor="t">
            <a:noAutofit/>
          </a:bodyPr>
          <a:lstStyle/>
          <a:p>
            <a:pPr algn="ctr">
              <a:lnSpc>
                <a:spcPts val="1248"/>
              </a:lnSpc>
              <a:spcBef>
                <a:spcPts val="0"/>
              </a:spcBef>
              <a:spcAft>
                <a:spcPts val="0"/>
              </a:spcAft>
            </a:pPr>
            <a:r>
              <a:rPr sz="950" b="0" i="0" lang="es-CO" cap="all" spc="134">
                <a:solidFill>
                  <a:srgbClr val="8A7860"/>
                </a:solidFill>
                <a:latin typeface="Outfit"/>
              </a:rPr>
              <a:t>OllaCercana · Manual de Identidad · v3.0 · Interfaz vigente · Octubre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OllaCercana — Manual de Identidad v3.0</dc:title>
  <dc:subject>Manual de identidad de marca</dc:subject>
  <dc:creator>OllaCercana</dc:creator>
  <cp:keywords/>
  <dc:description/>
  <cp:lastModifiedBy>OllaCercana</cp:lastModifiedBy>
  <cp:revision>1</cp:revision>
  <dcterms:created xsi:type="dcterms:W3CDTF">2013-01-27T09:14:16Z</dcterms:created>
  <dcterms:modified xsi:type="dcterms:W3CDTF">2013-01-27T09:15:58Z</dcterms:modified>
  <cp:category/>
</cp:coreProperties>
</file>